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 한석희" id="{B032B104-E387-3C84-CDF2-1DB1A004B331}">
          <p14:sldIdLst>
            <p14:sldId id="256"/>
            <p14:sldId id="257"/>
            <p14:sldId id="258"/>
            <p14:sldId id="259"/>
          </p14:sldIdLst>
        </p14:section>
        <p14:section name="구조 · 박규민" id="{71FEED07-2E18-848B-F1BF-E55D903E5329}">
          <p14:sldIdLst>
            <p14:sldId id="260"/>
            <p14:sldId id="261"/>
          </p14:sldIdLst>
        </p14:section>
        <p14:section name="데이터 · 노승민" id="{AF66E149-C09F-8F99-CFFA-AB13B3C027B6}">
          <p14:sldIdLst>
            <p14:sldId id="262"/>
            <p14:sldId id="263"/>
          </p14:sldIdLst>
        </p14:section>
        <p14:section name="AI · 이성진" id="{6237F509-FD34-140A-934A-A166D04D6E5F}">
          <p14:sldIdLst>
            <p14:sldId id="264"/>
            <p14:sldId id="265"/>
          </p14:sldIdLst>
        </p14:section>
        <p14:section name="지원사업 · 노현석" id="{BCA77F9D-B8C2-8A41-E1C4-7C2DF5B33770}">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96"/>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39886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[한석희] 안녕하세요, 홈즈시그널 팀입니다. 저희는 서울 청년 예비 창업자를 위한 서비스, 타운시그널을 만들고 있습니다.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[한석희] 2024년, 폐업 신고를 한 사업자가 처음으로 100만 명을 넘었습니다. 그만큼 어디에 가게를 여느냐가 중요합니다. 요즘 '모두의창업', '청년창업사관학교'처럼 청년 창업 지원이 정말 많아졌습니다. 그런데 지원사업을 찾는 서비스와 상권을 분석하는 서비스는 따로 놀고, 상권 분석은 위치부터 골라야 쓸 수 있습니다. 그래서 이 지원을 창업에서 가장 중요한 입지 선택과 연결해 보기로 했습니다.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[한석희] 타운시그널의 핵심은 '조회'가 아니라 '역산'입니다. 기존 서비스가 "이 식당 메뉴판 보여줘"라면, 저희는 "지갑에 3만 원 있는데, 어디 가서 먹을까?"에 답합니다. MVP는 청년 창업자도, 지원 제도도 가장 많은 서울로 잡았습니다.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[한석희] 화면도 이 흐름 그대로입니다. 조건을 입력하면 지원금을 더한 구별 예산이 나오는데, 구마다 지원 사업이 달라서 같은 사람이라도 예산이 달라집니다. 그다음 추천 동, 상세, 비교 순서로 좁혀 갑니다. 이게 어떻게 동작하는지는 박규민 팀원이 설명드리겠습니다.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[박규민] 저희 구조의 핵심은 무거운 계산은 미리 해 두고, 요청 때는 조회만 한다는 것입니다. 데이터 정제, 모델 학습, 공고 구조화처럼 오래 걸리는 일은 배치로 미리 돌려 DB에 저장해 둡니다. 상권 데이터는 분기마다 바뀌기 때문에 요청마다 다시 계산할 필요가 없습니다. 그래서 요청이 오면 모델을 돌리지 않고, 저장된 값을 읽어 간단한 계산만 합니다.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[박규민] 추천은 세 단계입니다. 먼저 25개 자치구마다 받을 수 있는 지원금을 자본금과 더해 가용 예산을 구합니다. 다음으로 그 예산으로 초기 임대비용을 감당할 수 있는 구만 남기고, 마지막으로 그 안의 행정동을 매출, 생존, 성장세를 합친 점수로 줄 세웁니다. 서버 API와 화면 다섯 개는 모두 연결해 더미 데이터로 처음부터 끝까지 동작하는 것을 확인했고, 다음 단계는 지원사업 실데이터 연결입니다. 데이터는 노승민 팀원이 설명드리겠습니다.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[노승민] 저는 추천의 재료가 되는 데이터를 맡았습니다. 매출 · 점포 · 유동인구는 서울 열린데이터광장, 개폐업은 인허가 자료, 임대료는 한국부동산원으로 출처가 모두 다릅니다. 특히 인허가 자료는 주소와 좌표뿐이라 행정동 경계와 공간 조인으로 코드를 붙였습니다. 이렇게 모든 데이터를 행정동 코드 8자리로 통일해 자치구 25개, 행정동 425개, 업종 100개, 인허가 기록 약 82만 건을 DB에 적재했습니다.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[노승민] 임대료는 자치구 단위로 씁니다. 공식 상가 임대료 조사가 서울 59개 상권뿐이라 행정동까지 내려갈 수 없기 때문입니다. 조사 상권이 없는 도봉구는 0원이 아니라 확인불가로 표시합니다. 예측 모델은 이성진 팀원이 설명드리겠습니다.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[이성진] 저는 예측 모델을 맡았습니다. 저희는 두 가지를 예측합니다. 첫째는 매출입니다. 행정동과 업종별로 점포 한 곳의 분기 매출을, 숫자 하나가 아니라 80% 범위로 보여 드립니다. 둘째는 생존입니다. 인허가 개폐업 기록으로 1년, 3년 뒤에도 영업하고 있을 확률을 계산합니다. 아직 영업 중인 가게도 버리지 않도록 생존분석 방식을 씁니다.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[이성진] 검증은 세 가지로 하겠습니다. 과거로 학습하고 가장 최근 분기로 시험하는 시간 순서 평가, 직전 분기 값을 그대로 쓰는 단순 기준과의 비교, 그리고 과거 시점에 추천한 동네가 실제로 잘됐는지 보는 백테스트입니다. 종합점수의 비율도 이 백테스트로 정합니다. 실데이터 결과는 최종 발표에서 보여 드리겠습니다. 지원사업 데이터는 노현석 팀원이 설명드리겠습니다.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[노현석] 저는 서비스의 차별점인 지원사업 데이터를 맡았습니다. 지원금 계산이 의미가 있으려면 자치구 전용 사업까지 있어야 합니다. 그래서 기업마당 API로 서울 공고를 매주 모으는 수집기를 만들었고, 구청 공고는 직접 찾아 보완할 계획입니다. 10월 조회 기준으로 서울 전용 공고는 51건, 구청 공고가 있는 자치구는 11곳이었습니다. 모은 공고는 LLM이 금액과 자격 조건을 뽑고, 사람이 검수한 것만 계산에 씁니다. 융자나 상금은 빼고 갚지 않는 현금만 인정합니다.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[노현석] 남은 기간에는 지원사업 실데이터와 LLM을 연결해 11월 통합 테스트에서 전체 흐름을 검증하고, 최종 발표에서 실데이터 결과와 완성된 서비스를 보여 드리겠습니다. 이상으로 홈즈시그널의 발표를 마치겠습니다. 감사합니다.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[노현석] 질문을 받는다. QR을 찍으면 실제 사이트가 열린다고 한 마디 덧붙인다.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EDF3F8"/>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9"/>
        </a:solidFill>
        <a:effectLst/>
      </p:bgPr>
    </p:bg>
    <p:spTree>
      <p:nvGrpSpPr>
        <p:cNvPr id="1" name=""/>
        <p:cNvGrpSpPr/>
        <p:nvPr/>
      </p:nvGrpSpPr>
      <p:grpSpPr>
        <a:xfrm>
          <a:off x="0" y="0"/>
          <a:ext cx="0" cy="0"/>
          <a:chOff x="0" y="0"/>
          <a:chExt cx="0" cy="0"/>
        </a:xfrm>
      </p:grpSpPr>
      <p:pic>
        <p:nvPicPr>
          <p:cNvPr id="2" name="Image 0" descr="C:\Users\sjsj4\AppData\Local\Temp\claude\C--Users-sjsj4-OneDrive-Desktop------AI-------------\67cc597c-f334-49c7-8021-06f22c670f0f\scratchpad\deck\assets\concept\skyline_strip.png"/>
          <p:cNvPicPr>
            <a:picLocks noChangeAspect="1"/>
          </p:cNvPicPr>
          <p:nvPr/>
        </p:nvPicPr>
        <p:blipFill>
          <a:blip r:embed="rId2"/>
          <a:stretch>
            <a:fillRect/>
          </a:stretch>
        </p:blipFill>
        <p:spPr>
          <a:xfrm>
            <a:off x="0" y="6291072"/>
            <a:ext cx="12191695" cy="5669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town-signal.vercel.app" TargetMode="External"/><Relationship Id="rId5" Type="http://schemas.openxmlformats.org/officeDocument/2006/relationships/image" Target="../media/image5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추천 동네를 가리키는 이정표"/>
          <p:cNvPicPr>
            <a:picLocks noChangeAspect="1"/>
          </p:cNvPicPr>
          <p:nvPr/>
        </p:nvPicPr>
        <p:blipFill>
          <a:blip r:embed="rId3"/>
          <a:stretch>
            <a:fillRect/>
          </a:stretch>
        </p:blipFill>
        <p:spPr>
          <a:xfrm>
            <a:off x="7635240" y="1051560"/>
            <a:ext cx="4023360" cy="4206240"/>
          </a:xfrm>
          <a:prstGeom prst="rect">
            <a:avLst/>
          </a:prstGeom>
        </p:spPr>
      </p:pic>
      <p:pic>
        <p:nvPicPr>
          <p:cNvPr id="3" name="Image 1" descr="C:\Users\sjsj4\AppData\Local\Temp\claude\C--Users-sjsj4-OneDrive-Desktop------AI-------------\67cc597c-f334-49c7-8021-06f22c670f0f\scratchpad\deck\assets\concept\skyline_cover.png"/>
          <p:cNvPicPr>
            <a:picLocks noChangeAspect="1"/>
          </p:cNvPicPr>
          <p:nvPr/>
        </p:nvPicPr>
        <p:blipFill>
          <a:blip r:embed="rId4"/>
          <a:stretch>
            <a:fillRect/>
          </a:stretch>
        </p:blipFill>
        <p:spPr>
          <a:xfrm>
            <a:off x="0" y="5120640"/>
            <a:ext cx="12191695" cy="1737360"/>
          </a:xfrm>
          <a:prstGeom prst="rect">
            <a:avLst/>
          </a:prstGeom>
        </p:spPr>
      </p:pic>
      <p:sp>
        <p:nvSpPr>
          <p:cNvPr id="4" name="Text 0"/>
          <p:cNvSpPr txBox="1"/>
          <p:nvPr/>
        </p:nvSpPr>
        <p:spPr>
          <a:xfrm>
            <a:off x="822960" y="640080"/>
            <a:ext cx="6400800" cy="365760"/>
          </a:xfrm>
          <a:prstGeom prst="rect">
            <a:avLst/>
          </a:prstGeom>
          <a:noFill/>
          <a:ln/>
        </p:spPr>
        <p:txBody>
          <a:bodyPr wrap="square" lIns="0" tIns="0" rIns="0" bIns="0" rtlCol="0" anchor="t"/>
          <a:lstStyle/>
          <a:p>
            <a:pPr marL="0" indent="0">
              <a:buNone/>
            </a:pPr>
            <a:r>
              <a:rPr lang="en-US" sz="1400" dirty="0">
                <a:solidFill>
                  <a:srgbClr val="66727C"/>
                </a:solidFill>
              </a:rPr>
              <a:t>2026-2 AI서비스프로젝트 중간 발표  ·  팀 홈즈시그널</a:t>
            </a:r>
            <a:endParaRPr lang="en-US" sz="1400" dirty="0"/>
          </a:p>
        </p:txBody>
      </p:sp>
      <p:pic>
        <p:nvPicPr>
          <p:cNvPr id="5" name="Image 2" descr="타운시그널"/>
          <p:cNvPicPr>
            <a:picLocks noChangeAspect="1"/>
          </p:cNvPicPr>
          <p:nvPr/>
        </p:nvPicPr>
        <p:blipFill>
          <a:blip r:embed="rId5"/>
          <a:stretch>
            <a:fillRect/>
          </a:stretch>
        </p:blipFill>
        <p:spPr>
          <a:xfrm>
            <a:off x="822960" y="1691640"/>
            <a:ext cx="4937760" cy="905015"/>
          </a:xfrm>
          <a:prstGeom prst="rect">
            <a:avLst/>
          </a:prstGeom>
        </p:spPr>
      </p:pic>
      <p:sp>
        <p:nvSpPr>
          <p:cNvPr id="6" name="Text 1"/>
          <p:cNvSpPr txBox="1"/>
          <p:nvPr/>
        </p:nvSpPr>
        <p:spPr>
          <a:xfrm>
            <a:off x="822960" y="2880360"/>
            <a:ext cx="6583680" cy="548640"/>
          </a:xfrm>
          <a:prstGeom prst="rect">
            <a:avLst/>
          </a:prstGeom>
          <a:noFill/>
          <a:ln/>
        </p:spPr>
        <p:txBody>
          <a:bodyPr wrap="square" lIns="0" tIns="0" rIns="0" bIns="0" rtlCol="0" anchor="t"/>
          <a:lstStyle/>
          <a:p>
            <a:pPr marL="0" indent="0">
              <a:buNone/>
            </a:pPr>
            <a:r>
              <a:rPr lang="en-US" sz="2600" b="1" dirty="0">
                <a:solidFill>
                  <a:srgbClr val="22303A"/>
                </a:solidFill>
              </a:rPr>
              <a:t>내 조건이면, 어느 동네로 가야 할까?</a:t>
            </a:r>
            <a:endParaRPr lang="en-US" sz="2600" dirty="0"/>
          </a:p>
        </p:txBody>
      </p:sp>
      <p:sp>
        <p:nvSpPr>
          <p:cNvPr id="7" name="Text 2"/>
          <p:cNvSpPr txBox="1"/>
          <p:nvPr/>
        </p:nvSpPr>
        <p:spPr>
          <a:xfrm>
            <a:off x="822960" y="3474720"/>
            <a:ext cx="6583680" cy="411480"/>
          </a:xfrm>
          <a:prstGeom prst="rect">
            <a:avLst/>
          </a:prstGeom>
          <a:noFill/>
          <a:ln/>
        </p:spPr>
        <p:txBody>
          <a:bodyPr wrap="square" lIns="0" tIns="0" rIns="0" bIns="0" rtlCol="0" anchor="t"/>
          <a:lstStyle/>
          <a:p>
            <a:pPr marL="0" indent="0">
              <a:buNone/>
            </a:pPr>
            <a:r>
              <a:rPr lang="en-US" sz="1600" dirty="0">
                <a:solidFill>
                  <a:srgbClr val="66727C"/>
                </a:solidFill>
              </a:rPr>
              <a:t>지원금으로 예산을 역산해, 창업할 행정동을 추천합니다</a:t>
            </a:r>
            <a:endParaRPr lang="en-US" sz="1600" dirty="0"/>
          </a:p>
        </p:txBody>
      </p:sp>
      <p:sp>
        <p:nvSpPr>
          <p:cNvPr id="8" name="Text 3"/>
          <p:cNvSpPr txBox="1"/>
          <p:nvPr/>
        </p:nvSpPr>
        <p:spPr>
          <a:xfrm>
            <a:off x="822960" y="4160520"/>
            <a:ext cx="1828800" cy="274320"/>
          </a:xfrm>
          <a:prstGeom prst="rect">
            <a:avLst/>
          </a:prstGeom>
          <a:noFill/>
          <a:ln/>
        </p:spPr>
        <p:txBody>
          <a:bodyPr wrap="square" lIns="0" tIns="0" rIns="0" bIns="0" rtlCol="0" anchor="t"/>
          <a:lstStyle/>
          <a:p>
            <a:pPr marL="0" indent="0">
              <a:buNone/>
            </a:pPr>
            <a:r>
              <a:rPr lang="en-US" sz="1200" b="1" dirty="0">
                <a:solidFill>
                  <a:srgbClr val="2B5C8A"/>
                </a:solidFill>
              </a:rPr>
              <a:t>발표</a:t>
            </a:r>
            <a:endParaRPr lang="en-US" sz="1200" dirty="0"/>
          </a:p>
        </p:txBody>
      </p:sp>
      <p:sp>
        <p:nvSpPr>
          <p:cNvPr id="9" name="한석희"/>
          <p:cNvSpPr/>
          <p:nvPr/>
        </p:nvSpPr>
        <p:spPr>
          <a:xfrm>
            <a:off x="822960" y="4480560"/>
            <a:ext cx="1225296"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0" name="Text 5"/>
          <p:cNvSpPr txBox="1"/>
          <p:nvPr/>
        </p:nvSpPr>
        <p:spPr>
          <a:xfrm>
            <a:off x="822960" y="4535424"/>
            <a:ext cx="1225296" cy="292608"/>
          </a:xfrm>
          <a:prstGeom prst="rect">
            <a:avLst/>
          </a:prstGeom>
          <a:noFill/>
          <a:ln/>
        </p:spPr>
        <p:txBody>
          <a:bodyPr wrap="square" lIns="0" tIns="0" rIns="0" bIns="0" rtlCol="0" anchor="t"/>
          <a:lstStyle/>
          <a:p>
            <a:pPr marL="0" indent="0" algn="ctr">
              <a:buNone/>
            </a:pPr>
            <a:r>
              <a:rPr lang="en-US" sz="1400" b="1" dirty="0">
                <a:solidFill>
                  <a:srgbClr val="22303A"/>
                </a:solidFill>
              </a:rPr>
              <a:t>한석희</a:t>
            </a:r>
            <a:endParaRPr lang="en-US" sz="1400" dirty="0"/>
          </a:p>
        </p:txBody>
      </p:sp>
      <p:sp>
        <p:nvSpPr>
          <p:cNvPr id="11" name="Text 6"/>
          <p:cNvSpPr txBox="1"/>
          <p:nvPr/>
        </p:nvSpPr>
        <p:spPr>
          <a:xfrm>
            <a:off x="822960" y="4828032"/>
            <a:ext cx="1225296" cy="256032"/>
          </a:xfrm>
          <a:prstGeom prst="rect">
            <a:avLst/>
          </a:prstGeom>
          <a:noFill/>
          <a:ln/>
        </p:spPr>
        <p:txBody>
          <a:bodyPr wrap="square" lIns="0" tIns="0" rIns="0" bIns="0" rtlCol="0" anchor="t"/>
          <a:lstStyle/>
          <a:p>
            <a:pPr marL="0" indent="0" algn="ctr">
              <a:buNone/>
            </a:pPr>
            <a:r>
              <a:rPr lang="en-US" sz="1100" dirty="0">
                <a:solidFill>
                  <a:srgbClr val="66727C"/>
                </a:solidFill>
              </a:rPr>
              <a:t>PM · 프론트</a:t>
            </a:r>
            <a:endParaRPr lang="en-US" sz="1100" dirty="0"/>
          </a:p>
        </p:txBody>
      </p:sp>
      <p:sp>
        <p:nvSpPr>
          <p:cNvPr id="12" name="박규민"/>
          <p:cNvSpPr/>
          <p:nvPr/>
        </p:nvSpPr>
        <p:spPr>
          <a:xfrm>
            <a:off x="2139696" y="4480560"/>
            <a:ext cx="1225296"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3" name="Text 8"/>
          <p:cNvSpPr txBox="1"/>
          <p:nvPr/>
        </p:nvSpPr>
        <p:spPr>
          <a:xfrm>
            <a:off x="2139696" y="4535424"/>
            <a:ext cx="1225296" cy="292608"/>
          </a:xfrm>
          <a:prstGeom prst="rect">
            <a:avLst/>
          </a:prstGeom>
          <a:noFill/>
          <a:ln/>
        </p:spPr>
        <p:txBody>
          <a:bodyPr wrap="square" lIns="0" tIns="0" rIns="0" bIns="0" rtlCol="0" anchor="t"/>
          <a:lstStyle/>
          <a:p>
            <a:pPr marL="0" indent="0" algn="ctr">
              <a:buNone/>
            </a:pPr>
            <a:r>
              <a:rPr lang="en-US" sz="1400" b="1" dirty="0">
                <a:solidFill>
                  <a:srgbClr val="22303A"/>
                </a:solidFill>
              </a:rPr>
              <a:t>박규민</a:t>
            </a:r>
            <a:endParaRPr lang="en-US" sz="1400" dirty="0"/>
          </a:p>
        </p:txBody>
      </p:sp>
      <p:sp>
        <p:nvSpPr>
          <p:cNvPr id="14" name="Text 9"/>
          <p:cNvSpPr txBox="1"/>
          <p:nvPr/>
        </p:nvSpPr>
        <p:spPr>
          <a:xfrm>
            <a:off x="2139696" y="4828032"/>
            <a:ext cx="1225296" cy="256032"/>
          </a:xfrm>
          <a:prstGeom prst="rect">
            <a:avLst/>
          </a:prstGeom>
          <a:noFill/>
          <a:ln/>
        </p:spPr>
        <p:txBody>
          <a:bodyPr wrap="square" lIns="0" tIns="0" rIns="0" bIns="0" rtlCol="0" anchor="t"/>
          <a:lstStyle/>
          <a:p>
            <a:pPr marL="0" indent="0" algn="ctr">
              <a:buNone/>
            </a:pPr>
            <a:r>
              <a:rPr lang="en-US" sz="1100" dirty="0">
                <a:solidFill>
                  <a:srgbClr val="66727C"/>
                </a:solidFill>
              </a:rPr>
              <a:t>팀장 · 백엔드</a:t>
            </a:r>
            <a:endParaRPr lang="en-US" sz="1100" dirty="0"/>
          </a:p>
        </p:txBody>
      </p:sp>
      <p:sp>
        <p:nvSpPr>
          <p:cNvPr id="15" name="노승민"/>
          <p:cNvSpPr/>
          <p:nvPr/>
        </p:nvSpPr>
        <p:spPr>
          <a:xfrm>
            <a:off x="3456432" y="4480560"/>
            <a:ext cx="1225296"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6" name="Text 11"/>
          <p:cNvSpPr txBox="1"/>
          <p:nvPr/>
        </p:nvSpPr>
        <p:spPr>
          <a:xfrm>
            <a:off x="3456432" y="4535424"/>
            <a:ext cx="1225296" cy="292608"/>
          </a:xfrm>
          <a:prstGeom prst="rect">
            <a:avLst/>
          </a:prstGeom>
          <a:noFill/>
          <a:ln/>
        </p:spPr>
        <p:txBody>
          <a:bodyPr wrap="square" lIns="0" tIns="0" rIns="0" bIns="0" rtlCol="0" anchor="t"/>
          <a:lstStyle/>
          <a:p>
            <a:pPr marL="0" indent="0" algn="ctr">
              <a:buNone/>
            </a:pPr>
            <a:r>
              <a:rPr lang="en-US" sz="1400" b="1" dirty="0">
                <a:solidFill>
                  <a:srgbClr val="22303A"/>
                </a:solidFill>
              </a:rPr>
              <a:t>노승민</a:t>
            </a:r>
            <a:endParaRPr lang="en-US" sz="1400" dirty="0"/>
          </a:p>
        </p:txBody>
      </p:sp>
      <p:sp>
        <p:nvSpPr>
          <p:cNvPr id="17" name="Text 12"/>
          <p:cNvSpPr txBox="1"/>
          <p:nvPr/>
        </p:nvSpPr>
        <p:spPr>
          <a:xfrm>
            <a:off x="3456432" y="4828032"/>
            <a:ext cx="1225296" cy="256032"/>
          </a:xfrm>
          <a:prstGeom prst="rect">
            <a:avLst/>
          </a:prstGeom>
          <a:noFill/>
          <a:ln/>
        </p:spPr>
        <p:txBody>
          <a:bodyPr wrap="square" lIns="0" tIns="0" rIns="0" bIns="0" rtlCol="0" anchor="t"/>
          <a:lstStyle/>
          <a:p>
            <a:pPr marL="0" indent="0" algn="ctr">
              <a:buNone/>
            </a:pPr>
            <a:r>
              <a:rPr lang="en-US" sz="1100" dirty="0">
                <a:solidFill>
                  <a:srgbClr val="66727C"/>
                </a:solidFill>
              </a:rPr>
              <a:t>데이터</a:t>
            </a:r>
            <a:endParaRPr lang="en-US" sz="1100" dirty="0"/>
          </a:p>
        </p:txBody>
      </p:sp>
      <p:sp>
        <p:nvSpPr>
          <p:cNvPr id="18" name="이성진"/>
          <p:cNvSpPr/>
          <p:nvPr/>
        </p:nvSpPr>
        <p:spPr>
          <a:xfrm>
            <a:off x="4773168" y="4480560"/>
            <a:ext cx="1225296"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9" name="Text 14"/>
          <p:cNvSpPr txBox="1"/>
          <p:nvPr/>
        </p:nvSpPr>
        <p:spPr>
          <a:xfrm>
            <a:off x="4773168" y="4535424"/>
            <a:ext cx="1225296" cy="292608"/>
          </a:xfrm>
          <a:prstGeom prst="rect">
            <a:avLst/>
          </a:prstGeom>
          <a:noFill/>
          <a:ln/>
        </p:spPr>
        <p:txBody>
          <a:bodyPr wrap="square" lIns="0" tIns="0" rIns="0" bIns="0" rtlCol="0" anchor="t"/>
          <a:lstStyle/>
          <a:p>
            <a:pPr marL="0" indent="0" algn="ctr">
              <a:buNone/>
            </a:pPr>
            <a:r>
              <a:rPr lang="en-US" sz="1400" b="1" dirty="0">
                <a:solidFill>
                  <a:srgbClr val="22303A"/>
                </a:solidFill>
              </a:rPr>
              <a:t>이성진</a:t>
            </a:r>
            <a:endParaRPr lang="en-US" sz="1400" dirty="0"/>
          </a:p>
        </p:txBody>
      </p:sp>
      <p:sp>
        <p:nvSpPr>
          <p:cNvPr id="20" name="Text 15"/>
          <p:cNvSpPr txBox="1"/>
          <p:nvPr/>
        </p:nvSpPr>
        <p:spPr>
          <a:xfrm>
            <a:off x="4773168" y="4828032"/>
            <a:ext cx="1225296" cy="256032"/>
          </a:xfrm>
          <a:prstGeom prst="rect">
            <a:avLst/>
          </a:prstGeom>
          <a:noFill/>
          <a:ln/>
        </p:spPr>
        <p:txBody>
          <a:bodyPr wrap="square" lIns="0" tIns="0" rIns="0" bIns="0" rtlCol="0" anchor="t"/>
          <a:lstStyle/>
          <a:p>
            <a:pPr marL="0" indent="0" algn="ctr">
              <a:buNone/>
            </a:pPr>
            <a:r>
              <a:rPr lang="en-US" sz="1100" dirty="0">
                <a:solidFill>
                  <a:srgbClr val="66727C"/>
                </a:solidFill>
              </a:rPr>
              <a:t>AI · 배포</a:t>
            </a:r>
            <a:endParaRPr lang="en-US" sz="1100" dirty="0"/>
          </a:p>
        </p:txBody>
      </p:sp>
      <p:sp>
        <p:nvSpPr>
          <p:cNvPr id="21" name="노현석"/>
          <p:cNvSpPr/>
          <p:nvPr/>
        </p:nvSpPr>
        <p:spPr>
          <a:xfrm>
            <a:off x="6089904" y="4480560"/>
            <a:ext cx="1225296"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22" name="Text 17"/>
          <p:cNvSpPr txBox="1"/>
          <p:nvPr/>
        </p:nvSpPr>
        <p:spPr>
          <a:xfrm>
            <a:off x="6089904" y="4535424"/>
            <a:ext cx="1225296" cy="292608"/>
          </a:xfrm>
          <a:prstGeom prst="rect">
            <a:avLst/>
          </a:prstGeom>
          <a:noFill/>
          <a:ln/>
        </p:spPr>
        <p:txBody>
          <a:bodyPr wrap="square" lIns="0" tIns="0" rIns="0" bIns="0" rtlCol="0" anchor="t"/>
          <a:lstStyle/>
          <a:p>
            <a:pPr marL="0" indent="0" algn="ctr">
              <a:buNone/>
            </a:pPr>
            <a:r>
              <a:rPr lang="en-US" sz="1400" b="1" dirty="0">
                <a:solidFill>
                  <a:srgbClr val="22303A"/>
                </a:solidFill>
              </a:rPr>
              <a:t>노현석</a:t>
            </a:r>
            <a:endParaRPr lang="en-US" sz="1400" dirty="0"/>
          </a:p>
        </p:txBody>
      </p:sp>
      <p:sp>
        <p:nvSpPr>
          <p:cNvPr id="23" name="Text 18"/>
          <p:cNvSpPr txBox="1"/>
          <p:nvPr/>
        </p:nvSpPr>
        <p:spPr>
          <a:xfrm>
            <a:off x="6089904" y="4828032"/>
            <a:ext cx="1225296" cy="256032"/>
          </a:xfrm>
          <a:prstGeom prst="rect">
            <a:avLst/>
          </a:prstGeom>
          <a:noFill/>
          <a:ln/>
        </p:spPr>
        <p:txBody>
          <a:bodyPr wrap="square" lIns="0" tIns="0" rIns="0" bIns="0" rtlCol="0" anchor="t"/>
          <a:lstStyle/>
          <a:p>
            <a:pPr marL="0" indent="0" algn="ctr">
              <a:buNone/>
            </a:pPr>
            <a:r>
              <a:rPr lang="en-US" sz="1100" dirty="0">
                <a:solidFill>
                  <a:srgbClr val="66727C"/>
                </a:solidFill>
              </a:rPr>
              <a:t>백엔드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선정 계기"/>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D5DEE2"/>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D5DEE2"/>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한석희</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창업 지원은 많아졌는데, </a:t>
            </a:r>
            <a:r>
              <a:rPr lang="en-US" sz="2600" b="1" dirty="0">
                <a:solidFill>
                  <a:srgbClr val="2B5C8A"/>
                </a:solidFill>
              </a:rPr>
              <a:t>입지 선택</a:t>
            </a:r>
            <a:r>
              <a:rPr lang="en-US" sz="2600" b="1" dirty="0">
                <a:solidFill>
                  <a:srgbClr val="22303A"/>
                </a:solidFill>
              </a:rPr>
              <a:t>과는 따로 놉니다</a:t>
            </a:r>
            <a:endParaRPr lang="en-US" sz="2600" dirty="0"/>
          </a:p>
        </p:txBody>
      </p:sp>
      <p:pic>
        <p:nvPicPr>
          <p:cNvPr id="10" name="Image 1" descr="서울의 작은 식당 골목"/>
          <p:cNvPicPr>
            <a:picLocks noChangeAspect="1"/>
          </p:cNvPicPr>
          <p:nvPr/>
        </p:nvPicPr>
        <p:blipFill>
          <a:blip r:embed="rId4"/>
          <a:srcRect/>
          <a:stretch/>
        </p:blipFill>
        <p:spPr>
          <a:xfrm>
            <a:off x="548640" y="1737360"/>
            <a:ext cx="4846320" cy="3703320"/>
          </a:xfrm>
          <a:prstGeom prst="rect">
            <a:avLst/>
          </a:prstGeom>
        </p:spPr>
      </p:pic>
      <p:sp>
        <p:nvSpPr>
          <p:cNvPr id="11" name="Shape 7"/>
          <p:cNvSpPr/>
          <p:nvPr/>
        </p:nvSpPr>
        <p:spPr>
          <a:xfrm>
            <a:off x="548640" y="3813048"/>
            <a:ext cx="4846320" cy="1627632"/>
          </a:xfrm>
          <a:prstGeom prst="rect">
            <a:avLst/>
          </a:prstGeom>
          <a:solidFill>
            <a:srgbClr val="16283A">
              <a:alpha val="82000"/>
            </a:srgbClr>
          </a:solidFill>
          <a:ln/>
        </p:spPr>
        <p:txBody>
          <a:bodyPr/>
          <a:lstStyle/>
          <a:p>
            <a:endParaRPr lang="ko-KR" altLang="en-US"/>
          </a:p>
        </p:txBody>
      </p:sp>
      <p:sp>
        <p:nvSpPr>
          <p:cNvPr id="12" name="Text 8"/>
          <p:cNvSpPr txBox="1"/>
          <p:nvPr/>
        </p:nvSpPr>
        <p:spPr>
          <a:xfrm>
            <a:off x="868680" y="3904488"/>
            <a:ext cx="4206240" cy="292608"/>
          </a:xfrm>
          <a:prstGeom prst="rect">
            <a:avLst/>
          </a:prstGeom>
          <a:noFill/>
          <a:ln/>
        </p:spPr>
        <p:txBody>
          <a:bodyPr wrap="square" lIns="0" tIns="0" rIns="0" bIns="0" rtlCol="0" anchor="t"/>
          <a:lstStyle/>
          <a:p>
            <a:pPr marL="0" indent="0">
              <a:buNone/>
            </a:pPr>
            <a:r>
              <a:rPr lang="en-US" sz="1400" dirty="0">
                <a:solidFill>
                  <a:srgbClr val="DCE6F0"/>
                </a:solidFill>
              </a:rPr>
              <a:t>2024년 폐업 신고 사업자</a:t>
            </a:r>
            <a:endParaRPr lang="en-US" sz="1400" dirty="0"/>
          </a:p>
        </p:txBody>
      </p:sp>
      <p:sp>
        <p:nvSpPr>
          <p:cNvPr id="13" name="Text 9"/>
          <p:cNvSpPr txBox="1"/>
          <p:nvPr/>
        </p:nvSpPr>
        <p:spPr>
          <a:xfrm>
            <a:off x="868680" y="4178808"/>
            <a:ext cx="4206240" cy="640080"/>
          </a:xfrm>
          <a:prstGeom prst="rect">
            <a:avLst/>
          </a:prstGeom>
          <a:noFill/>
          <a:ln/>
        </p:spPr>
        <p:txBody>
          <a:bodyPr wrap="square" lIns="0" tIns="0" rIns="0" bIns="0" rtlCol="0" anchor="ctr"/>
          <a:lstStyle/>
          <a:p>
            <a:pPr marL="0" indent="0">
              <a:buNone/>
            </a:pPr>
            <a:r>
              <a:rPr lang="en-US" sz="4400" b="1" dirty="0">
                <a:solidFill>
                  <a:srgbClr val="FFFFFF"/>
                </a:solidFill>
              </a:rPr>
              <a:t>100만 8,282</a:t>
            </a:r>
            <a:r>
              <a:rPr lang="en-US" sz="2200" b="1" dirty="0">
                <a:solidFill>
                  <a:srgbClr val="FFFFFF"/>
                </a:solidFill>
              </a:rPr>
              <a:t> 명</a:t>
            </a:r>
            <a:endParaRPr lang="en-US" sz="1400" dirty="0"/>
          </a:p>
        </p:txBody>
      </p:sp>
      <p:sp>
        <p:nvSpPr>
          <p:cNvPr id="14" name="Text 10"/>
          <p:cNvSpPr txBox="1"/>
          <p:nvPr/>
        </p:nvSpPr>
        <p:spPr>
          <a:xfrm>
            <a:off x="868680" y="4818888"/>
            <a:ext cx="4206240" cy="274320"/>
          </a:xfrm>
          <a:prstGeom prst="rect">
            <a:avLst/>
          </a:prstGeom>
          <a:noFill/>
          <a:ln/>
        </p:spPr>
        <p:txBody>
          <a:bodyPr wrap="square" lIns="0" tIns="0" rIns="0" bIns="0" rtlCol="0" anchor="t"/>
          <a:lstStyle/>
          <a:p>
            <a:pPr marL="0" indent="0">
              <a:buNone/>
            </a:pPr>
            <a:r>
              <a:rPr lang="en-US" sz="1400" b="1" dirty="0">
                <a:solidFill>
                  <a:srgbClr val="FFFFFF"/>
                </a:solidFill>
              </a:rPr>
              <a:t>1995년 집계 이후 처음 100만 명을 넘었습니다</a:t>
            </a:r>
            <a:endParaRPr lang="en-US" sz="1400" dirty="0"/>
          </a:p>
        </p:txBody>
      </p:sp>
      <p:sp>
        <p:nvSpPr>
          <p:cNvPr id="15" name="Text 11"/>
          <p:cNvSpPr txBox="1"/>
          <p:nvPr/>
        </p:nvSpPr>
        <p:spPr>
          <a:xfrm>
            <a:off x="868680" y="5111496"/>
            <a:ext cx="4206240" cy="237744"/>
          </a:xfrm>
          <a:prstGeom prst="rect">
            <a:avLst/>
          </a:prstGeom>
          <a:noFill/>
          <a:ln/>
        </p:spPr>
        <p:txBody>
          <a:bodyPr wrap="square" lIns="0" tIns="0" rIns="0" bIns="0" rtlCol="0" anchor="t"/>
          <a:lstStyle/>
          <a:p>
            <a:pPr marL="0" indent="0">
              <a:buNone/>
            </a:pPr>
            <a:r>
              <a:rPr lang="en-US" sz="1000" dirty="0">
                <a:solidFill>
                  <a:srgbClr val="B9C8D6"/>
                </a:solidFill>
              </a:rPr>
              <a:t>출처 국세청 · 세계일보 2025.7.6  |  사진 Theodore Nguyen (Pexels)</a:t>
            </a:r>
            <a:endParaRPr lang="en-US" sz="1000" dirty="0"/>
          </a:p>
        </p:txBody>
      </p:sp>
      <p:sp>
        <p:nvSpPr>
          <p:cNvPr id="16" name="지원사업 사이트 질문"/>
          <p:cNvSpPr/>
          <p:nvPr/>
        </p:nvSpPr>
        <p:spPr>
          <a:xfrm>
            <a:off x="5669280" y="1737360"/>
            <a:ext cx="2651760" cy="1691640"/>
          </a:xfrm>
          <a:prstGeom prst="roundRect">
            <a:avLst>
              <a:gd name="adj" fmla="val 7568"/>
            </a:avLst>
          </a:prstGeom>
          <a:solidFill>
            <a:srgbClr val="E4EDF5"/>
          </a:solidFill>
          <a:ln/>
        </p:spPr>
        <p:txBody>
          <a:bodyPr/>
          <a:lstStyle/>
          <a:p>
            <a:endParaRPr lang="ko-KR" altLang="en-US"/>
          </a:p>
        </p:txBody>
      </p:sp>
      <p:sp>
        <p:nvSpPr>
          <p:cNvPr id="17" name="Text 13"/>
          <p:cNvSpPr txBox="1"/>
          <p:nvPr/>
        </p:nvSpPr>
        <p:spPr>
          <a:xfrm>
            <a:off x="5852160" y="1737360"/>
            <a:ext cx="2377440" cy="1691640"/>
          </a:xfrm>
          <a:prstGeom prst="rect">
            <a:avLst/>
          </a:prstGeom>
          <a:noFill/>
          <a:ln/>
        </p:spPr>
        <p:txBody>
          <a:bodyPr wrap="square" lIns="0" tIns="0" rIns="0" bIns="0" rtlCol="0" anchor="ctr"/>
          <a:lstStyle/>
          <a:p>
            <a:pPr marL="0" indent="0">
              <a:buNone/>
            </a:pPr>
            <a:r>
              <a:rPr lang="en-US" sz="1700" b="1" dirty="0">
                <a:solidFill>
                  <a:srgbClr val="1F3F5E"/>
                </a:solidFill>
              </a:rPr>
              <a:t>“지원금은 얼마나</a:t>
            </a:r>
            <a:endParaRPr lang="en-US" sz="1700" dirty="0"/>
          </a:p>
          <a:p>
            <a:pPr marL="0" indent="0">
              <a:buNone/>
            </a:pPr>
            <a:r>
              <a:rPr lang="en-US" sz="1700" b="1" dirty="0">
                <a:solidFill>
                  <a:srgbClr val="1F3F5E"/>
                </a:solidFill>
              </a:rPr>
              <a:t>받을 수 있지?”</a:t>
            </a:r>
            <a:endParaRPr lang="en-US" sz="1700" dirty="0"/>
          </a:p>
        </p:txBody>
      </p:sp>
      <p:sp>
        <p:nvSpPr>
          <p:cNvPr id="18" name="Shape 14"/>
          <p:cNvSpPr/>
          <p:nvPr/>
        </p:nvSpPr>
        <p:spPr>
          <a:xfrm>
            <a:off x="8394192" y="2578608"/>
            <a:ext cx="402336" cy="0"/>
          </a:xfrm>
          <a:prstGeom prst="line">
            <a:avLst/>
          </a:prstGeom>
          <a:noFill/>
          <a:ln w="31750">
            <a:solidFill>
              <a:srgbClr val="2B5C8A"/>
            </a:solidFill>
            <a:prstDash val="solid"/>
            <a:tailEnd type="triangle"/>
          </a:ln>
        </p:spPr>
        <p:txBody>
          <a:bodyPr/>
          <a:lstStyle/>
          <a:p>
            <a:endParaRPr lang="ko-KR" altLang="en-US"/>
          </a:p>
        </p:txBody>
      </p:sp>
      <p:sp>
        <p:nvSpPr>
          <p:cNvPr id="19" name="지원사업 사이트"/>
          <p:cNvSpPr/>
          <p:nvPr/>
        </p:nvSpPr>
        <p:spPr>
          <a:xfrm>
            <a:off x="8869680" y="1737360"/>
            <a:ext cx="2770632" cy="1691640"/>
          </a:xfrm>
          <a:prstGeom prst="roundRect">
            <a:avLst>
              <a:gd name="adj" fmla="val 7568"/>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0" name="Shape 16"/>
          <p:cNvSpPr/>
          <p:nvPr/>
        </p:nvSpPr>
        <p:spPr>
          <a:xfrm>
            <a:off x="9052560" y="1965960"/>
            <a:ext cx="548640" cy="548640"/>
          </a:xfrm>
          <a:prstGeom prst="ellipse">
            <a:avLst/>
          </a:prstGeom>
          <a:solidFill>
            <a:srgbClr val="E4EDF5"/>
          </a:solidFill>
          <a:ln/>
        </p:spPr>
        <p:txBody>
          <a:bodyPr/>
          <a:lstStyle/>
          <a:p>
            <a:endParaRPr lang="ko-KR" altLang="en-US"/>
          </a:p>
        </p:txBody>
      </p:sp>
      <p:pic>
        <p:nvPicPr>
          <p:cNvPr id="21" name="Image 2" descr="preencoded.png"/>
          <p:cNvPicPr>
            <a:picLocks noChangeAspect="1"/>
          </p:cNvPicPr>
          <p:nvPr/>
        </p:nvPicPr>
        <p:blipFill>
          <a:blip r:embed="rId5"/>
          <a:stretch>
            <a:fillRect/>
          </a:stretch>
        </p:blipFill>
        <p:spPr>
          <a:xfrm>
            <a:off x="9189720" y="2103120"/>
            <a:ext cx="274320" cy="274320"/>
          </a:xfrm>
          <a:prstGeom prst="rect">
            <a:avLst/>
          </a:prstGeom>
        </p:spPr>
      </p:pic>
      <p:sp>
        <p:nvSpPr>
          <p:cNvPr id="22" name="Text 17"/>
          <p:cNvSpPr txBox="1"/>
          <p:nvPr/>
        </p:nvSpPr>
        <p:spPr>
          <a:xfrm>
            <a:off x="9692640" y="1984248"/>
            <a:ext cx="1920240" cy="502920"/>
          </a:xfrm>
          <a:prstGeom prst="rect">
            <a:avLst/>
          </a:prstGeom>
          <a:noFill/>
          <a:ln/>
        </p:spPr>
        <p:txBody>
          <a:bodyPr wrap="square" lIns="0" tIns="0" rIns="0" bIns="0" rtlCol="0" anchor="ctr"/>
          <a:lstStyle/>
          <a:p>
            <a:pPr marL="0" indent="0">
              <a:buNone/>
            </a:pPr>
            <a:r>
              <a:rPr lang="en-US" sz="1500" b="1" dirty="0">
                <a:solidFill>
                  <a:schemeClr val="tx1"/>
                </a:solidFill>
              </a:rPr>
              <a:t>지원사업 사이트</a:t>
            </a:r>
            <a:endParaRPr lang="en-US" sz="1500" dirty="0"/>
          </a:p>
        </p:txBody>
      </p:sp>
      <p:sp>
        <p:nvSpPr>
          <p:cNvPr id="23" name="Text 18"/>
          <p:cNvSpPr txBox="1"/>
          <p:nvPr/>
        </p:nvSpPr>
        <p:spPr>
          <a:xfrm>
            <a:off x="9052560" y="2651760"/>
            <a:ext cx="2468880" cy="640080"/>
          </a:xfrm>
          <a:prstGeom prst="rect">
            <a:avLst/>
          </a:prstGeom>
          <a:noFill/>
          <a:ln/>
        </p:spPr>
        <p:txBody>
          <a:bodyPr wrap="square" lIns="0" tIns="0" rIns="0" bIns="0" rtlCol="0" anchor="t"/>
          <a:lstStyle/>
          <a:p>
            <a:pPr marL="0" indent="0">
              <a:buNone/>
            </a:pPr>
            <a:r>
              <a:rPr lang="en-US" sz="1100" dirty="0">
                <a:solidFill>
                  <a:srgbClr val="66727C"/>
                </a:solidFill>
              </a:rPr>
              <a:t>모두의창업 · 청년창업사관학교 등</a:t>
            </a:r>
            <a:endParaRPr lang="en-US" sz="1100" dirty="0"/>
          </a:p>
        </p:txBody>
      </p:sp>
      <p:sp>
        <p:nvSpPr>
          <p:cNvPr id="24" name="상권 분석 서비스 질문"/>
          <p:cNvSpPr/>
          <p:nvPr/>
        </p:nvSpPr>
        <p:spPr>
          <a:xfrm>
            <a:off x="5669280" y="3749040"/>
            <a:ext cx="2651760" cy="1691640"/>
          </a:xfrm>
          <a:prstGeom prst="roundRect">
            <a:avLst>
              <a:gd name="adj" fmla="val 7568"/>
            </a:avLst>
          </a:prstGeom>
          <a:solidFill>
            <a:srgbClr val="E4EDF5"/>
          </a:solidFill>
          <a:ln/>
        </p:spPr>
        <p:txBody>
          <a:bodyPr/>
          <a:lstStyle/>
          <a:p>
            <a:endParaRPr lang="ko-KR" altLang="en-US"/>
          </a:p>
        </p:txBody>
      </p:sp>
      <p:sp>
        <p:nvSpPr>
          <p:cNvPr id="25" name="Text 20"/>
          <p:cNvSpPr txBox="1"/>
          <p:nvPr/>
        </p:nvSpPr>
        <p:spPr>
          <a:xfrm>
            <a:off x="5852160" y="3749040"/>
            <a:ext cx="2377440" cy="1691640"/>
          </a:xfrm>
          <a:prstGeom prst="rect">
            <a:avLst/>
          </a:prstGeom>
          <a:noFill/>
          <a:ln/>
        </p:spPr>
        <p:txBody>
          <a:bodyPr wrap="square" lIns="0" tIns="0" rIns="0" bIns="0" rtlCol="0" anchor="ctr"/>
          <a:lstStyle/>
          <a:p>
            <a:pPr marL="0" indent="0">
              <a:buNone/>
            </a:pPr>
            <a:r>
              <a:rPr lang="en-US" sz="1700" b="1" dirty="0">
                <a:solidFill>
                  <a:srgbClr val="1F3F5E"/>
                </a:solidFill>
              </a:rPr>
              <a:t>“어느 동네에</a:t>
            </a:r>
            <a:endParaRPr lang="en-US" sz="1700" dirty="0"/>
          </a:p>
          <a:p>
            <a:pPr marL="0" indent="0">
              <a:buNone/>
            </a:pPr>
            <a:r>
              <a:rPr lang="en-US" sz="1700" b="1" dirty="0">
                <a:solidFill>
                  <a:srgbClr val="1F3F5E"/>
                </a:solidFill>
              </a:rPr>
              <a:t>차려야 하지?”</a:t>
            </a:r>
            <a:endParaRPr lang="en-US" sz="1700" dirty="0"/>
          </a:p>
        </p:txBody>
      </p:sp>
      <p:sp>
        <p:nvSpPr>
          <p:cNvPr id="26" name="Shape 21"/>
          <p:cNvSpPr/>
          <p:nvPr/>
        </p:nvSpPr>
        <p:spPr>
          <a:xfrm>
            <a:off x="8394192" y="4590288"/>
            <a:ext cx="402336" cy="0"/>
          </a:xfrm>
          <a:prstGeom prst="line">
            <a:avLst/>
          </a:prstGeom>
          <a:noFill/>
          <a:ln w="31750">
            <a:solidFill>
              <a:srgbClr val="2B5C8A"/>
            </a:solidFill>
            <a:prstDash val="solid"/>
            <a:tailEnd type="triangle"/>
          </a:ln>
        </p:spPr>
        <p:txBody>
          <a:bodyPr/>
          <a:lstStyle/>
          <a:p>
            <a:endParaRPr lang="ko-KR" altLang="en-US"/>
          </a:p>
        </p:txBody>
      </p:sp>
      <p:sp>
        <p:nvSpPr>
          <p:cNvPr id="27" name="상권 분석 서비스"/>
          <p:cNvSpPr/>
          <p:nvPr/>
        </p:nvSpPr>
        <p:spPr>
          <a:xfrm>
            <a:off x="8869680" y="3749040"/>
            <a:ext cx="2770632" cy="1691640"/>
          </a:xfrm>
          <a:prstGeom prst="roundRect">
            <a:avLst>
              <a:gd name="adj" fmla="val 7568"/>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8" name="Shape 23"/>
          <p:cNvSpPr/>
          <p:nvPr/>
        </p:nvSpPr>
        <p:spPr>
          <a:xfrm>
            <a:off x="9052560" y="3977640"/>
            <a:ext cx="548640" cy="548640"/>
          </a:xfrm>
          <a:prstGeom prst="ellipse">
            <a:avLst/>
          </a:prstGeom>
          <a:solidFill>
            <a:srgbClr val="E4EDF5"/>
          </a:solidFill>
          <a:ln/>
        </p:spPr>
        <p:txBody>
          <a:bodyPr/>
          <a:lstStyle/>
          <a:p>
            <a:endParaRPr lang="ko-KR" altLang="en-US"/>
          </a:p>
        </p:txBody>
      </p:sp>
      <p:pic>
        <p:nvPicPr>
          <p:cNvPr id="29" name="Image 3" descr="preencoded.png"/>
          <p:cNvPicPr>
            <a:picLocks noChangeAspect="1"/>
          </p:cNvPicPr>
          <p:nvPr/>
        </p:nvPicPr>
        <p:blipFill>
          <a:blip r:embed="rId6"/>
          <a:stretch>
            <a:fillRect/>
          </a:stretch>
        </p:blipFill>
        <p:spPr>
          <a:xfrm>
            <a:off x="9189720" y="4114800"/>
            <a:ext cx="274320" cy="274320"/>
          </a:xfrm>
          <a:prstGeom prst="rect">
            <a:avLst/>
          </a:prstGeom>
        </p:spPr>
      </p:pic>
      <p:sp>
        <p:nvSpPr>
          <p:cNvPr id="30" name="Text 24"/>
          <p:cNvSpPr txBox="1"/>
          <p:nvPr/>
        </p:nvSpPr>
        <p:spPr>
          <a:xfrm>
            <a:off x="9692640" y="3995928"/>
            <a:ext cx="1920240" cy="502920"/>
          </a:xfrm>
          <a:prstGeom prst="rect">
            <a:avLst/>
          </a:prstGeom>
          <a:noFill/>
          <a:ln/>
        </p:spPr>
        <p:txBody>
          <a:bodyPr wrap="square" lIns="0" tIns="0" rIns="0" bIns="0" rtlCol="0" anchor="ctr"/>
          <a:lstStyle/>
          <a:p>
            <a:pPr marL="0" indent="0">
              <a:buNone/>
            </a:pPr>
            <a:r>
              <a:rPr lang="en-US" sz="1500" b="1" dirty="0">
                <a:solidFill>
                  <a:schemeClr val="tx1"/>
                </a:solidFill>
              </a:rPr>
              <a:t>상권 분석 서비스</a:t>
            </a:r>
            <a:endParaRPr lang="en-US" sz="1500" dirty="0"/>
          </a:p>
        </p:txBody>
      </p:sp>
      <p:sp>
        <p:nvSpPr>
          <p:cNvPr id="31" name="Text 25"/>
          <p:cNvSpPr txBox="1"/>
          <p:nvPr/>
        </p:nvSpPr>
        <p:spPr>
          <a:xfrm>
            <a:off x="9052560" y="4663440"/>
            <a:ext cx="2468880" cy="640080"/>
          </a:xfrm>
          <a:prstGeom prst="rect">
            <a:avLst/>
          </a:prstGeom>
          <a:noFill/>
          <a:ln/>
        </p:spPr>
        <p:txBody>
          <a:bodyPr wrap="square" lIns="0" tIns="0" rIns="0" bIns="0" rtlCol="0" anchor="t"/>
          <a:lstStyle/>
          <a:p>
            <a:pPr marL="0" indent="0">
              <a:buNone/>
            </a:pPr>
            <a:r>
              <a:rPr lang="en-US" sz="1100" dirty="0">
                <a:solidFill>
                  <a:srgbClr val="66727C"/>
                </a:solidFill>
              </a:rPr>
              <a:t>소상공인365 등 — 위치부터 골라야 함</a:t>
            </a:r>
            <a:endParaRPr lang="en-US" sz="1100" dirty="0"/>
          </a:p>
        </p:txBody>
      </p:sp>
      <p:sp>
        <p:nvSpPr>
          <p:cNvPr id="32" name="Shape 26"/>
          <p:cNvSpPr/>
          <p:nvPr/>
        </p:nvSpPr>
        <p:spPr>
          <a:xfrm>
            <a:off x="548640" y="5577840"/>
            <a:ext cx="11091672" cy="566928"/>
          </a:xfrm>
          <a:prstGeom prst="roundRect">
            <a:avLst>
              <a:gd name="adj" fmla="val 50000"/>
            </a:avLst>
          </a:prstGeom>
          <a:solidFill>
            <a:srgbClr val="1F3F5E"/>
          </a:solidFill>
          <a:ln/>
        </p:spPr>
        <p:txBody>
          <a:bodyPr/>
          <a:lstStyle/>
          <a:p>
            <a:endParaRPr lang="ko-KR" altLang="en-US"/>
          </a:p>
        </p:txBody>
      </p:sp>
      <p:sp>
        <p:nvSpPr>
          <p:cNvPr id="33" name="Text 27"/>
          <p:cNvSpPr txBox="1"/>
          <p:nvPr/>
        </p:nvSpPr>
        <p:spPr>
          <a:xfrm>
            <a:off x="548640" y="5577840"/>
            <a:ext cx="11091672" cy="566928"/>
          </a:xfrm>
          <a:prstGeom prst="rect">
            <a:avLst/>
          </a:prstGeom>
          <a:noFill/>
          <a:ln/>
        </p:spPr>
        <p:txBody>
          <a:bodyPr wrap="square" lIns="0" tIns="0" rIns="0" bIns="0" rtlCol="0" anchor="ctr"/>
          <a:lstStyle/>
          <a:p>
            <a:pPr marL="0" indent="0" algn="ctr">
              <a:buNone/>
            </a:pPr>
            <a:r>
              <a:rPr lang="en-US" sz="1700" dirty="0">
                <a:solidFill>
                  <a:srgbClr val="C9DAEA"/>
                </a:solidFill>
              </a:rPr>
              <a:t>지원금도, 동네도 따로 알아봐야 하는 지금  →  </a:t>
            </a:r>
            <a:r>
              <a:rPr lang="en-US" sz="1700" b="1" dirty="0">
                <a:solidFill>
                  <a:srgbClr val="FFFFFF"/>
                </a:solidFill>
              </a:rPr>
              <a:t>둘을 한 번에 연결하면?</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핵심 아이디어"/>
          <p:cNvPicPr>
            <a:picLocks noChangeAspect="1"/>
          </p:cNvPicPr>
          <p:nvPr/>
        </p:nvPicPr>
        <p:blipFill>
          <a:blip r:embed="rId3"/>
          <a:stretch>
            <a:fillRect/>
          </a:stretch>
        </p:blipFill>
        <p:spPr>
          <a:xfrm>
            <a:off x="4891888" y="292608"/>
            <a:ext cx="2407920"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D5DEE2"/>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D5DEE2"/>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한석희</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조회가 아니라 </a:t>
            </a:r>
            <a:r>
              <a:rPr lang="en-US" sz="2600" b="1" dirty="0">
                <a:solidFill>
                  <a:srgbClr val="2B5C8A"/>
                </a:solidFill>
              </a:rPr>
              <a:t>역산</a:t>
            </a:r>
            <a:r>
              <a:rPr lang="en-US" sz="2600" b="1" dirty="0">
                <a:solidFill>
                  <a:srgbClr val="22303A"/>
                </a:solidFill>
              </a:rPr>
              <a:t>입니다</a:t>
            </a:r>
            <a:endParaRPr lang="en-US" sz="2600" dirty="0"/>
          </a:p>
        </p:txBody>
      </p:sp>
      <p:sp>
        <p:nvSpPr>
          <p:cNvPr id="10" name="Shape 7"/>
          <p:cNvSpPr/>
          <p:nvPr/>
        </p:nvSpPr>
        <p:spPr>
          <a:xfrm>
            <a:off x="1463040" y="1691640"/>
            <a:ext cx="4206240" cy="502920"/>
          </a:xfrm>
          <a:prstGeom prst="roundRect">
            <a:avLst>
              <a:gd name="adj" fmla="val 50000"/>
            </a:avLst>
          </a:prstGeom>
          <a:solidFill>
            <a:srgbClr val="EEF2F3"/>
          </a:solidFill>
          <a:ln/>
        </p:spPr>
        <p:txBody>
          <a:bodyPr/>
          <a:lstStyle/>
          <a:p>
            <a:endParaRPr lang="ko-KR" altLang="en-US"/>
          </a:p>
        </p:txBody>
      </p:sp>
      <p:sp>
        <p:nvSpPr>
          <p:cNvPr id="11" name="Text 8"/>
          <p:cNvSpPr txBox="1"/>
          <p:nvPr/>
        </p:nvSpPr>
        <p:spPr>
          <a:xfrm>
            <a:off x="1463040" y="1691640"/>
            <a:ext cx="4206240" cy="502920"/>
          </a:xfrm>
          <a:prstGeom prst="rect">
            <a:avLst/>
          </a:prstGeom>
          <a:noFill/>
          <a:ln/>
        </p:spPr>
        <p:txBody>
          <a:bodyPr wrap="square" lIns="0" tIns="0" rIns="0" bIns="0" rtlCol="0" anchor="ctr"/>
          <a:lstStyle/>
          <a:p>
            <a:pPr marL="0" indent="0" algn="ctr">
              <a:buNone/>
            </a:pPr>
            <a:r>
              <a:rPr lang="en-US" sz="1600" b="1" dirty="0">
                <a:solidFill>
                  <a:srgbClr val="4A5568"/>
                </a:solidFill>
              </a:rPr>
              <a:t>“이 식당 메뉴판 보여줘” = 조회</a:t>
            </a:r>
            <a:endParaRPr lang="en-US" sz="1600" dirty="0"/>
          </a:p>
        </p:txBody>
      </p:sp>
      <p:sp>
        <p:nvSpPr>
          <p:cNvPr id="12" name="Shape 9"/>
          <p:cNvSpPr/>
          <p:nvPr/>
        </p:nvSpPr>
        <p:spPr>
          <a:xfrm>
            <a:off x="6519672" y="1691640"/>
            <a:ext cx="4206240" cy="502920"/>
          </a:xfrm>
          <a:prstGeom prst="roundRect">
            <a:avLst>
              <a:gd name="adj" fmla="val 50000"/>
            </a:avLst>
          </a:prstGeom>
          <a:solidFill>
            <a:srgbClr val="2B5C8A"/>
          </a:solidFill>
          <a:ln/>
        </p:spPr>
        <p:txBody>
          <a:bodyPr/>
          <a:lstStyle/>
          <a:p>
            <a:endParaRPr lang="ko-KR" altLang="en-US"/>
          </a:p>
        </p:txBody>
      </p:sp>
      <p:sp>
        <p:nvSpPr>
          <p:cNvPr id="13" name="Text 10"/>
          <p:cNvSpPr txBox="1"/>
          <p:nvPr/>
        </p:nvSpPr>
        <p:spPr>
          <a:xfrm>
            <a:off x="6519672" y="1691640"/>
            <a:ext cx="4206240" cy="502920"/>
          </a:xfrm>
          <a:prstGeom prst="rect">
            <a:avLst/>
          </a:prstGeom>
          <a:noFill/>
          <a:ln/>
        </p:spPr>
        <p:txBody>
          <a:bodyPr wrap="square" lIns="0" tIns="0" rIns="0" bIns="0" rtlCol="0" anchor="ctr"/>
          <a:lstStyle/>
          <a:p>
            <a:pPr marL="0" indent="0" algn="ctr">
              <a:buNone/>
            </a:pPr>
            <a:r>
              <a:rPr lang="en-US" sz="1600" b="1" dirty="0">
                <a:solidFill>
                  <a:srgbClr val="FFFFFF"/>
                </a:solidFill>
              </a:rPr>
              <a:t>“3만 원으로 어디 갈까?” = 역산</a:t>
            </a:r>
            <a:endParaRPr lang="en-US" sz="1600" dirty="0"/>
          </a:p>
        </p:txBody>
      </p:sp>
      <p:sp>
        <p:nvSpPr>
          <p:cNvPr id="14" name="자본금"/>
          <p:cNvSpPr/>
          <p:nvPr/>
        </p:nvSpPr>
        <p:spPr>
          <a:xfrm>
            <a:off x="580644" y="2606040"/>
            <a:ext cx="2331720" cy="2240280"/>
          </a:xfrm>
          <a:prstGeom prst="roundRect">
            <a:avLst>
              <a:gd name="adj" fmla="val 571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5" name="Shape 12"/>
          <p:cNvSpPr/>
          <p:nvPr/>
        </p:nvSpPr>
        <p:spPr>
          <a:xfrm>
            <a:off x="1380744" y="2862072"/>
            <a:ext cx="731520" cy="731520"/>
          </a:xfrm>
          <a:prstGeom prst="ellipse">
            <a:avLst/>
          </a:prstGeom>
          <a:solidFill>
            <a:srgbClr val="E4EDF5"/>
          </a:solidFill>
          <a:ln/>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1563624" y="3044952"/>
            <a:ext cx="365760" cy="365760"/>
          </a:xfrm>
          <a:prstGeom prst="rect">
            <a:avLst/>
          </a:prstGeom>
        </p:spPr>
      </p:pic>
      <p:sp>
        <p:nvSpPr>
          <p:cNvPr id="17" name="Text 13"/>
          <p:cNvSpPr txBox="1"/>
          <p:nvPr/>
        </p:nvSpPr>
        <p:spPr>
          <a:xfrm>
            <a:off x="580644" y="3703320"/>
            <a:ext cx="2331720" cy="365760"/>
          </a:xfrm>
          <a:prstGeom prst="rect">
            <a:avLst/>
          </a:prstGeom>
          <a:noFill/>
          <a:ln/>
        </p:spPr>
        <p:txBody>
          <a:bodyPr wrap="square" lIns="0" tIns="0" rIns="0" bIns="0" rtlCol="0" anchor="t"/>
          <a:lstStyle/>
          <a:p>
            <a:pPr marL="0" indent="0" algn="ctr">
              <a:buNone/>
            </a:pPr>
            <a:r>
              <a:rPr lang="en-US" sz="1600" dirty="0">
                <a:solidFill>
                  <a:srgbClr val="66727C"/>
                </a:solidFill>
              </a:rPr>
              <a:t>자본금</a:t>
            </a:r>
            <a:endParaRPr lang="en-US" sz="1600" dirty="0"/>
          </a:p>
        </p:txBody>
      </p:sp>
      <p:sp>
        <p:nvSpPr>
          <p:cNvPr id="18" name="Text 14"/>
          <p:cNvSpPr txBox="1"/>
          <p:nvPr/>
        </p:nvSpPr>
        <p:spPr>
          <a:xfrm>
            <a:off x="580644" y="4023360"/>
            <a:ext cx="2331720" cy="457200"/>
          </a:xfrm>
          <a:prstGeom prst="rect">
            <a:avLst/>
          </a:prstGeom>
          <a:noFill/>
          <a:ln/>
        </p:spPr>
        <p:txBody>
          <a:bodyPr wrap="square" lIns="0" tIns="0" rIns="0" bIns="0" rtlCol="0" anchor="t"/>
          <a:lstStyle/>
          <a:p>
            <a:pPr marL="0" indent="0" algn="ctr">
              <a:buNone/>
            </a:pPr>
            <a:r>
              <a:rPr lang="en-US" sz="2200" b="1" dirty="0">
                <a:solidFill>
                  <a:schemeClr val="tx1"/>
                </a:solidFill>
              </a:rPr>
              <a:t>3,000만 원</a:t>
            </a:r>
            <a:endParaRPr lang="en-US" sz="2200" dirty="0"/>
          </a:p>
        </p:txBody>
      </p:sp>
      <p:sp>
        <p:nvSpPr>
          <p:cNvPr id="19" name="Text 15"/>
          <p:cNvSpPr txBox="1"/>
          <p:nvPr/>
        </p:nvSpPr>
        <p:spPr>
          <a:xfrm>
            <a:off x="580644" y="4453128"/>
            <a:ext cx="2331720" cy="320040"/>
          </a:xfrm>
          <a:prstGeom prst="rect">
            <a:avLst/>
          </a:prstGeom>
          <a:noFill/>
          <a:ln/>
        </p:spPr>
        <p:txBody>
          <a:bodyPr wrap="square" lIns="0" tIns="0" rIns="0" bIns="0" rtlCol="0" anchor="t"/>
          <a:lstStyle/>
          <a:p>
            <a:pPr marL="0" indent="0" algn="ctr">
              <a:buNone/>
            </a:pPr>
            <a:r>
              <a:rPr lang="en-US" sz="1200" dirty="0">
                <a:solidFill>
                  <a:srgbClr val="98A4AC"/>
                </a:solidFill>
              </a:rPr>
              <a:t>내가 가진 돈</a:t>
            </a:r>
            <a:endParaRPr lang="en-US" sz="1200" dirty="0"/>
          </a:p>
        </p:txBody>
      </p:sp>
      <p:sp>
        <p:nvSpPr>
          <p:cNvPr id="20" name="Text 16"/>
          <p:cNvSpPr txBox="1"/>
          <p:nvPr/>
        </p:nvSpPr>
        <p:spPr>
          <a:xfrm>
            <a:off x="2802636" y="2606040"/>
            <a:ext cx="786384" cy="2240280"/>
          </a:xfrm>
          <a:prstGeom prst="rect">
            <a:avLst/>
          </a:prstGeom>
          <a:noFill/>
          <a:ln/>
        </p:spPr>
        <p:txBody>
          <a:bodyPr wrap="square" lIns="0" tIns="0" rIns="0" bIns="0" rtlCol="0" anchor="ctr"/>
          <a:lstStyle/>
          <a:p>
            <a:pPr marL="0" indent="0" algn="ctr">
              <a:buNone/>
            </a:pPr>
            <a:r>
              <a:rPr lang="en-US" sz="3600" b="1" dirty="0">
                <a:solidFill>
                  <a:srgbClr val="2B5C8A"/>
                </a:solidFill>
              </a:rPr>
              <a:t>+</a:t>
            </a:r>
            <a:endParaRPr lang="en-US" sz="3600" dirty="0"/>
          </a:p>
        </p:txBody>
      </p:sp>
      <p:sp>
        <p:nvSpPr>
          <p:cNvPr id="21" name="지원금"/>
          <p:cNvSpPr/>
          <p:nvPr/>
        </p:nvSpPr>
        <p:spPr>
          <a:xfrm>
            <a:off x="3479292" y="2606040"/>
            <a:ext cx="2331720" cy="2240280"/>
          </a:xfrm>
          <a:prstGeom prst="roundRect">
            <a:avLst>
              <a:gd name="adj" fmla="val 571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2" name="Shape 18"/>
          <p:cNvSpPr/>
          <p:nvPr/>
        </p:nvSpPr>
        <p:spPr>
          <a:xfrm>
            <a:off x="4279392" y="2862072"/>
            <a:ext cx="731520" cy="731520"/>
          </a:xfrm>
          <a:prstGeom prst="ellipse">
            <a:avLst/>
          </a:prstGeom>
          <a:solidFill>
            <a:srgbClr val="E4EDF5"/>
          </a:solidFill>
          <a:ln/>
        </p:spPr>
        <p:txBody>
          <a:bodyPr/>
          <a:lstStyle/>
          <a:p>
            <a:endParaRPr lang="ko-KR" altLang="en-US"/>
          </a:p>
        </p:txBody>
      </p:sp>
      <p:pic>
        <p:nvPicPr>
          <p:cNvPr id="23" name="Image 2" descr="preencoded.png"/>
          <p:cNvPicPr>
            <a:picLocks noChangeAspect="1"/>
          </p:cNvPicPr>
          <p:nvPr/>
        </p:nvPicPr>
        <p:blipFill>
          <a:blip r:embed="rId5"/>
          <a:stretch>
            <a:fillRect/>
          </a:stretch>
        </p:blipFill>
        <p:spPr>
          <a:xfrm>
            <a:off x="4462272" y="3044952"/>
            <a:ext cx="365760" cy="365760"/>
          </a:xfrm>
          <a:prstGeom prst="rect">
            <a:avLst/>
          </a:prstGeom>
        </p:spPr>
      </p:pic>
      <p:sp>
        <p:nvSpPr>
          <p:cNvPr id="24" name="Text 19"/>
          <p:cNvSpPr txBox="1"/>
          <p:nvPr/>
        </p:nvSpPr>
        <p:spPr>
          <a:xfrm>
            <a:off x="3479292" y="3703320"/>
            <a:ext cx="2331720" cy="365760"/>
          </a:xfrm>
          <a:prstGeom prst="rect">
            <a:avLst/>
          </a:prstGeom>
          <a:noFill/>
          <a:ln/>
        </p:spPr>
        <p:txBody>
          <a:bodyPr wrap="square" lIns="0" tIns="0" rIns="0" bIns="0" rtlCol="0" anchor="t"/>
          <a:lstStyle/>
          <a:p>
            <a:pPr marL="0" indent="0" algn="ctr">
              <a:buNone/>
            </a:pPr>
            <a:r>
              <a:rPr lang="en-US" sz="1600" dirty="0">
                <a:solidFill>
                  <a:srgbClr val="66727C"/>
                </a:solidFill>
              </a:rPr>
              <a:t>지원금</a:t>
            </a:r>
            <a:endParaRPr lang="en-US" sz="1600" dirty="0"/>
          </a:p>
        </p:txBody>
      </p:sp>
      <p:sp>
        <p:nvSpPr>
          <p:cNvPr id="25" name="Text 20"/>
          <p:cNvSpPr txBox="1"/>
          <p:nvPr/>
        </p:nvSpPr>
        <p:spPr>
          <a:xfrm>
            <a:off x="3479292" y="4023360"/>
            <a:ext cx="2331720" cy="457200"/>
          </a:xfrm>
          <a:prstGeom prst="rect">
            <a:avLst/>
          </a:prstGeom>
          <a:noFill/>
          <a:ln/>
        </p:spPr>
        <p:txBody>
          <a:bodyPr wrap="square" lIns="0" tIns="0" rIns="0" bIns="0" rtlCol="0" anchor="t"/>
          <a:lstStyle/>
          <a:p>
            <a:pPr marL="0" indent="0" algn="ctr">
              <a:buNone/>
            </a:pPr>
            <a:r>
              <a:rPr lang="en-US" sz="2200" b="1" dirty="0">
                <a:solidFill>
                  <a:schemeClr val="tx1"/>
                </a:solidFill>
              </a:rPr>
              <a:t>구마다 다름</a:t>
            </a:r>
            <a:endParaRPr lang="en-US" sz="2200" dirty="0"/>
          </a:p>
        </p:txBody>
      </p:sp>
      <p:sp>
        <p:nvSpPr>
          <p:cNvPr id="26" name="Text 21"/>
          <p:cNvSpPr txBox="1"/>
          <p:nvPr/>
        </p:nvSpPr>
        <p:spPr>
          <a:xfrm>
            <a:off x="3479292" y="4453128"/>
            <a:ext cx="2331720" cy="320040"/>
          </a:xfrm>
          <a:prstGeom prst="rect">
            <a:avLst/>
          </a:prstGeom>
          <a:noFill/>
          <a:ln/>
        </p:spPr>
        <p:txBody>
          <a:bodyPr wrap="square" lIns="0" tIns="0" rIns="0" bIns="0" rtlCol="0" anchor="t"/>
          <a:lstStyle/>
          <a:p>
            <a:pPr marL="0" indent="0" algn="ctr">
              <a:buNone/>
            </a:pPr>
            <a:r>
              <a:rPr lang="en-US" sz="1200" dirty="0">
                <a:solidFill>
                  <a:srgbClr val="98A4AC"/>
                </a:solidFill>
              </a:rPr>
              <a:t>받을 수 있는 돈</a:t>
            </a:r>
            <a:endParaRPr lang="en-US" sz="1200" dirty="0"/>
          </a:p>
        </p:txBody>
      </p:sp>
      <p:sp>
        <p:nvSpPr>
          <p:cNvPr id="27" name="Text 22"/>
          <p:cNvSpPr txBox="1"/>
          <p:nvPr/>
        </p:nvSpPr>
        <p:spPr>
          <a:xfrm>
            <a:off x="5701284" y="2606040"/>
            <a:ext cx="786384" cy="2240280"/>
          </a:xfrm>
          <a:prstGeom prst="rect">
            <a:avLst/>
          </a:prstGeom>
          <a:noFill/>
          <a:ln/>
        </p:spPr>
        <p:txBody>
          <a:bodyPr wrap="square" lIns="0" tIns="0" rIns="0" bIns="0" rtlCol="0" anchor="ctr"/>
          <a:lstStyle/>
          <a:p>
            <a:pPr marL="0" indent="0" algn="ctr">
              <a:buNone/>
            </a:pPr>
            <a:r>
              <a:rPr lang="en-US" sz="3600" b="1" dirty="0">
                <a:solidFill>
                  <a:srgbClr val="2B5C8A"/>
                </a:solidFill>
              </a:rPr>
              <a:t>=</a:t>
            </a:r>
            <a:endParaRPr lang="en-US" sz="3600" dirty="0"/>
          </a:p>
        </p:txBody>
      </p:sp>
      <p:sp>
        <p:nvSpPr>
          <p:cNvPr id="28" name="가용 예산"/>
          <p:cNvSpPr/>
          <p:nvPr/>
        </p:nvSpPr>
        <p:spPr>
          <a:xfrm>
            <a:off x="6377940" y="2606040"/>
            <a:ext cx="2331720" cy="2240280"/>
          </a:xfrm>
          <a:prstGeom prst="roundRect">
            <a:avLst>
              <a:gd name="adj" fmla="val 571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9" name="Shape 24"/>
          <p:cNvSpPr/>
          <p:nvPr/>
        </p:nvSpPr>
        <p:spPr>
          <a:xfrm>
            <a:off x="7178040" y="2862072"/>
            <a:ext cx="731520" cy="731520"/>
          </a:xfrm>
          <a:prstGeom prst="ellipse">
            <a:avLst/>
          </a:prstGeom>
          <a:solidFill>
            <a:srgbClr val="E4EDF5"/>
          </a:solidFill>
          <a:ln/>
        </p:spPr>
        <p:txBody>
          <a:bodyPr/>
          <a:lstStyle/>
          <a:p>
            <a:endParaRPr lang="ko-KR" altLang="en-US"/>
          </a:p>
        </p:txBody>
      </p:sp>
      <p:pic>
        <p:nvPicPr>
          <p:cNvPr id="30" name="Image 3" descr="preencoded.png"/>
          <p:cNvPicPr>
            <a:picLocks noChangeAspect="1"/>
          </p:cNvPicPr>
          <p:nvPr/>
        </p:nvPicPr>
        <p:blipFill>
          <a:blip r:embed="rId6"/>
          <a:stretch>
            <a:fillRect/>
          </a:stretch>
        </p:blipFill>
        <p:spPr>
          <a:xfrm>
            <a:off x="7360920" y="3044952"/>
            <a:ext cx="365760" cy="365760"/>
          </a:xfrm>
          <a:prstGeom prst="rect">
            <a:avLst/>
          </a:prstGeom>
        </p:spPr>
      </p:pic>
      <p:sp>
        <p:nvSpPr>
          <p:cNvPr id="31" name="Text 25"/>
          <p:cNvSpPr txBox="1"/>
          <p:nvPr/>
        </p:nvSpPr>
        <p:spPr>
          <a:xfrm>
            <a:off x="6377940" y="3703320"/>
            <a:ext cx="2331720" cy="365760"/>
          </a:xfrm>
          <a:prstGeom prst="rect">
            <a:avLst/>
          </a:prstGeom>
          <a:noFill/>
          <a:ln/>
        </p:spPr>
        <p:txBody>
          <a:bodyPr wrap="square" lIns="0" tIns="0" rIns="0" bIns="0" rtlCol="0" anchor="t"/>
          <a:lstStyle/>
          <a:p>
            <a:pPr marL="0" indent="0" algn="ctr">
              <a:buNone/>
            </a:pPr>
            <a:r>
              <a:rPr lang="en-US" sz="1600" dirty="0">
                <a:solidFill>
                  <a:srgbClr val="66727C"/>
                </a:solidFill>
              </a:rPr>
              <a:t>가용 예산</a:t>
            </a:r>
            <a:endParaRPr lang="en-US" sz="1600" dirty="0"/>
          </a:p>
        </p:txBody>
      </p:sp>
      <p:sp>
        <p:nvSpPr>
          <p:cNvPr id="32" name="Text 26"/>
          <p:cNvSpPr txBox="1"/>
          <p:nvPr/>
        </p:nvSpPr>
        <p:spPr>
          <a:xfrm>
            <a:off x="6377940" y="4023360"/>
            <a:ext cx="2331720" cy="457200"/>
          </a:xfrm>
          <a:prstGeom prst="rect">
            <a:avLst/>
          </a:prstGeom>
          <a:noFill/>
          <a:ln/>
        </p:spPr>
        <p:txBody>
          <a:bodyPr wrap="square" lIns="0" tIns="0" rIns="0" bIns="0" rtlCol="0" anchor="t"/>
          <a:lstStyle/>
          <a:p>
            <a:pPr marL="0" indent="0" algn="ctr">
              <a:buNone/>
            </a:pPr>
            <a:r>
              <a:rPr lang="en-US" sz="2200" b="1" dirty="0">
                <a:solidFill>
                  <a:schemeClr val="tx1"/>
                </a:solidFill>
              </a:rPr>
              <a:t>구마다 다름</a:t>
            </a:r>
            <a:endParaRPr lang="en-US" sz="2200" dirty="0"/>
          </a:p>
        </p:txBody>
      </p:sp>
      <p:sp>
        <p:nvSpPr>
          <p:cNvPr id="33" name="Text 27"/>
          <p:cNvSpPr txBox="1"/>
          <p:nvPr/>
        </p:nvSpPr>
        <p:spPr>
          <a:xfrm>
            <a:off x="6377940" y="4453128"/>
            <a:ext cx="2331720" cy="320040"/>
          </a:xfrm>
          <a:prstGeom prst="rect">
            <a:avLst/>
          </a:prstGeom>
          <a:noFill/>
          <a:ln/>
        </p:spPr>
        <p:txBody>
          <a:bodyPr wrap="square" lIns="0" tIns="0" rIns="0" bIns="0" rtlCol="0" anchor="t"/>
          <a:lstStyle/>
          <a:p>
            <a:pPr marL="0" indent="0" algn="ctr">
              <a:buNone/>
            </a:pPr>
            <a:r>
              <a:rPr lang="en-US" sz="1200" dirty="0">
                <a:solidFill>
                  <a:srgbClr val="98A4AC"/>
                </a:solidFill>
              </a:rPr>
              <a:t>쓸 수 있는 돈</a:t>
            </a:r>
            <a:endParaRPr lang="en-US" sz="1200" dirty="0"/>
          </a:p>
        </p:txBody>
      </p:sp>
      <p:sp>
        <p:nvSpPr>
          <p:cNvPr id="34" name="Text 28"/>
          <p:cNvSpPr txBox="1"/>
          <p:nvPr/>
        </p:nvSpPr>
        <p:spPr>
          <a:xfrm>
            <a:off x="8599932" y="2606040"/>
            <a:ext cx="786384" cy="2240280"/>
          </a:xfrm>
          <a:prstGeom prst="rect">
            <a:avLst/>
          </a:prstGeom>
          <a:noFill/>
          <a:ln/>
        </p:spPr>
        <p:txBody>
          <a:bodyPr wrap="square" lIns="0" tIns="0" rIns="0" bIns="0" rtlCol="0" anchor="ctr"/>
          <a:lstStyle/>
          <a:p>
            <a:pPr marL="0" indent="0" algn="ctr">
              <a:buNone/>
            </a:pPr>
            <a:r>
              <a:rPr lang="en-US" sz="3600" b="1" dirty="0">
                <a:solidFill>
                  <a:srgbClr val="2B5C8A"/>
                </a:solidFill>
              </a:rPr>
              <a:t>→</a:t>
            </a:r>
            <a:endParaRPr lang="en-US" sz="3600" dirty="0"/>
          </a:p>
        </p:txBody>
      </p:sp>
      <p:sp>
        <p:nvSpPr>
          <p:cNvPr id="35" name="동네 추천"/>
          <p:cNvSpPr/>
          <p:nvPr/>
        </p:nvSpPr>
        <p:spPr>
          <a:xfrm>
            <a:off x="9276588" y="2606040"/>
            <a:ext cx="2331720" cy="2240280"/>
          </a:xfrm>
          <a:prstGeom prst="roundRect">
            <a:avLst>
              <a:gd name="adj" fmla="val 5714"/>
            </a:avLst>
          </a:prstGeom>
          <a:solidFill>
            <a:srgbClr val="2B5C8A"/>
          </a:solidFill>
          <a:ln/>
          <a:effectLst>
            <a:outerShdw blurRad="127000" dist="25400" dir="5400000" algn="bl" rotWithShape="0">
              <a:srgbClr val="22303A">
                <a:alpha val="10000"/>
              </a:srgbClr>
            </a:outerShdw>
          </a:effectLst>
        </p:spPr>
        <p:txBody>
          <a:bodyPr/>
          <a:lstStyle/>
          <a:p>
            <a:endParaRPr lang="ko-KR" altLang="en-US"/>
          </a:p>
        </p:txBody>
      </p:sp>
      <p:sp>
        <p:nvSpPr>
          <p:cNvPr id="36" name="Shape 30"/>
          <p:cNvSpPr/>
          <p:nvPr/>
        </p:nvSpPr>
        <p:spPr>
          <a:xfrm>
            <a:off x="10076688" y="2862072"/>
            <a:ext cx="731520" cy="731520"/>
          </a:xfrm>
          <a:prstGeom prst="ellipse">
            <a:avLst/>
          </a:prstGeom>
          <a:solidFill>
            <a:srgbClr val="FFFFFF"/>
          </a:solidFill>
          <a:ln/>
        </p:spPr>
        <p:txBody>
          <a:bodyPr/>
          <a:lstStyle/>
          <a:p>
            <a:endParaRPr lang="ko-KR" altLang="en-US"/>
          </a:p>
        </p:txBody>
      </p:sp>
      <p:pic>
        <p:nvPicPr>
          <p:cNvPr id="37" name="Image 4" descr="preencoded.png"/>
          <p:cNvPicPr>
            <a:picLocks noChangeAspect="1"/>
          </p:cNvPicPr>
          <p:nvPr/>
        </p:nvPicPr>
        <p:blipFill>
          <a:blip r:embed="rId7"/>
          <a:stretch>
            <a:fillRect/>
          </a:stretch>
        </p:blipFill>
        <p:spPr>
          <a:xfrm>
            <a:off x="10259568" y="3044952"/>
            <a:ext cx="365760" cy="365760"/>
          </a:xfrm>
          <a:prstGeom prst="rect">
            <a:avLst/>
          </a:prstGeom>
        </p:spPr>
      </p:pic>
      <p:sp>
        <p:nvSpPr>
          <p:cNvPr id="38" name="Text 31"/>
          <p:cNvSpPr txBox="1"/>
          <p:nvPr/>
        </p:nvSpPr>
        <p:spPr>
          <a:xfrm>
            <a:off x="9276588" y="3703320"/>
            <a:ext cx="2331720" cy="365760"/>
          </a:xfrm>
          <a:prstGeom prst="rect">
            <a:avLst/>
          </a:prstGeom>
          <a:noFill/>
          <a:ln/>
        </p:spPr>
        <p:txBody>
          <a:bodyPr wrap="square" lIns="0" tIns="0" rIns="0" bIns="0" rtlCol="0" anchor="t"/>
          <a:lstStyle/>
          <a:p>
            <a:pPr marL="0" indent="0" algn="ctr">
              <a:buNone/>
            </a:pPr>
            <a:r>
              <a:rPr lang="en-US" sz="1600" dirty="0">
                <a:solidFill>
                  <a:srgbClr val="D9E6FD"/>
                </a:solidFill>
              </a:rPr>
              <a:t>동네 추천</a:t>
            </a:r>
            <a:endParaRPr lang="en-US" sz="1600" dirty="0"/>
          </a:p>
        </p:txBody>
      </p:sp>
      <p:sp>
        <p:nvSpPr>
          <p:cNvPr id="39" name="Text 32"/>
          <p:cNvSpPr txBox="1"/>
          <p:nvPr/>
        </p:nvSpPr>
        <p:spPr>
          <a:xfrm>
            <a:off x="9276588" y="4023360"/>
            <a:ext cx="2331720" cy="457200"/>
          </a:xfrm>
          <a:prstGeom prst="rect">
            <a:avLst/>
          </a:prstGeom>
          <a:noFill/>
          <a:ln/>
        </p:spPr>
        <p:txBody>
          <a:bodyPr wrap="square" lIns="0" tIns="0" rIns="0" bIns="0" rtlCol="0" anchor="t"/>
          <a:lstStyle/>
          <a:p>
            <a:pPr marL="0" indent="0" algn="ctr">
              <a:buNone/>
            </a:pPr>
            <a:r>
              <a:rPr lang="en-US" sz="2200" b="1" dirty="0">
                <a:solidFill>
                  <a:srgbClr val="FFFFFF"/>
                </a:solidFill>
              </a:rPr>
              <a:t>순위로</a:t>
            </a:r>
            <a:endParaRPr lang="en-US" sz="2200" dirty="0"/>
          </a:p>
        </p:txBody>
      </p:sp>
      <p:sp>
        <p:nvSpPr>
          <p:cNvPr id="40" name="Text 33"/>
          <p:cNvSpPr txBox="1"/>
          <p:nvPr/>
        </p:nvSpPr>
        <p:spPr>
          <a:xfrm>
            <a:off x="9276588" y="4453128"/>
            <a:ext cx="2331720" cy="320040"/>
          </a:xfrm>
          <a:prstGeom prst="rect">
            <a:avLst/>
          </a:prstGeom>
          <a:noFill/>
          <a:ln/>
        </p:spPr>
        <p:txBody>
          <a:bodyPr wrap="square" lIns="0" tIns="0" rIns="0" bIns="0" rtlCol="0" anchor="t"/>
          <a:lstStyle/>
          <a:p>
            <a:pPr marL="0" indent="0" algn="ctr">
              <a:buNone/>
            </a:pPr>
            <a:r>
              <a:rPr lang="en-US" sz="1200" dirty="0">
                <a:solidFill>
                  <a:srgbClr val="D9E6FD"/>
                </a:solidFill>
              </a:rPr>
              <a:t>감당 가능한 곳 중</a:t>
            </a:r>
            <a:endParaRPr lang="en-US" sz="1200" dirty="0"/>
          </a:p>
        </p:txBody>
      </p:sp>
      <p:sp>
        <p:nvSpPr>
          <p:cNvPr id="41" name="Shape 34"/>
          <p:cNvSpPr/>
          <p:nvPr/>
        </p:nvSpPr>
        <p:spPr>
          <a:xfrm>
            <a:off x="1984248" y="5440680"/>
            <a:ext cx="8229600" cy="566928"/>
          </a:xfrm>
          <a:prstGeom prst="roundRect">
            <a:avLst>
              <a:gd name="adj" fmla="val 50000"/>
            </a:avLst>
          </a:prstGeom>
          <a:solidFill>
            <a:srgbClr val="E4EDF5"/>
          </a:solidFill>
          <a:ln/>
        </p:spPr>
        <p:txBody>
          <a:bodyPr/>
          <a:lstStyle/>
          <a:p>
            <a:endParaRPr lang="ko-KR" altLang="en-US"/>
          </a:p>
        </p:txBody>
      </p:sp>
      <p:pic>
        <p:nvPicPr>
          <p:cNvPr id="42" name="Image 5" descr="preencoded.png"/>
          <p:cNvPicPr>
            <a:picLocks noChangeAspect="1"/>
          </p:cNvPicPr>
          <p:nvPr/>
        </p:nvPicPr>
        <p:blipFill>
          <a:blip r:embed="rId8"/>
          <a:stretch>
            <a:fillRect/>
          </a:stretch>
        </p:blipFill>
        <p:spPr>
          <a:xfrm>
            <a:off x="2286000" y="5577840"/>
            <a:ext cx="292608" cy="292608"/>
          </a:xfrm>
          <a:prstGeom prst="rect">
            <a:avLst/>
          </a:prstGeom>
        </p:spPr>
      </p:pic>
      <p:sp>
        <p:nvSpPr>
          <p:cNvPr id="43" name="Text 35"/>
          <p:cNvSpPr txBox="1"/>
          <p:nvPr/>
        </p:nvSpPr>
        <p:spPr>
          <a:xfrm>
            <a:off x="2697480" y="5440680"/>
            <a:ext cx="7406640" cy="566928"/>
          </a:xfrm>
          <a:prstGeom prst="rect">
            <a:avLst/>
          </a:prstGeom>
          <a:noFill/>
          <a:ln/>
        </p:spPr>
        <p:txBody>
          <a:bodyPr wrap="square" lIns="0" tIns="0" rIns="0" bIns="0" rtlCol="0" anchor="ctr"/>
          <a:lstStyle/>
          <a:p>
            <a:pPr marL="0" indent="0">
              <a:buNone/>
            </a:pPr>
            <a:r>
              <a:rPr lang="en-US" sz="1500" b="1" dirty="0">
                <a:solidFill>
                  <a:srgbClr val="2B5C8A"/>
                </a:solidFill>
              </a:rPr>
              <a:t>MVP는 서울  </a:t>
            </a:r>
            <a:r>
              <a:rPr lang="en-US" sz="1500" dirty="0">
                <a:solidFill>
                  <a:schemeClr val="tx1"/>
                </a:solidFill>
              </a:rPr>
              <a:t>청년 창업자도, 지원 제도도 가장 많은 곳 (25개 구 · 425개 행정동)</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I / UX"/>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D5DEE2"/>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D5DEE2"/>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한석희</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질문에 답하다 보면 </a:t>
            </a:r>
            <a:r>
              <a:rPr lang="en-US" sz="2600" b="1" dirty="0">
                <a:solidFill>
                  <a:srgbClr val="2B5C8A"/>
                </a:solidFill>
              </a:rPr>
              <a:t>결과</a:t>
            </a:r>
            <a:r>
              <a:rPr lang="en-US" sz="2600" b="1" dirty="0">
                <a:solidFill>
                  <a:srgbClr val="22303A"/>
                </a:solidFill>
              </a:rPr>
              <a:t>에 도착합니다</a:t>
            </a:r>
            <a:endParaRPr lang="en-US" sz="2600" dirty="0"/>
          </a:p>
        </p:txBody>
      </p:sp>
      <p:sp>
        <p:nvSpPr>
          <p:cNvPr id="10" name="Shape 7"/>
          <p:cNvSpPr/>
          <p:nvPr/>
        </p:nvSpPr>
        <p:spPr>
          <a:xfrm>
            <a:off x="1613916" y="4208091"/>
            <a:ext cx="8961120" cy="0"/>
          </a:xfrm>
          <a:prstGeom prst="line">
            <a:avLst/>
          </a:prstGeom>
          <a:noFill/>
          <a:ln w="38100">
            <a:solidFill>
              <a:srgbClr val="C9DAEA"/>
            </a:solidFill>
            <a:prstDash val="solid"/>
          </a:ln>
        </p:spPr>
        <p:txBody>
          <a:bodyPr/>
          <a:lstStyle/>
          <a:p>
            <a:endParaRPr lang="ko-KR" altLang="en-US"/>
          </a:p>
        </p:txBody>
      </p:sp>
      <p:sp>
        <p:nvSpPr>
          <p:cNvPr id="11" name="Shape 8"/>
          <p:cNvSpPr/>
          <p:nvPr/>
        </p:nvSpPr>
        <p:spPr>
          <a:xfrm>
            <a:off x="420624" y="1684347"/>
            <a:ext cx="11347704" cy="2258568"/>
          </a:xfrm>
          <a:prstGeom prst="roundRect">
            <a:avLst>
              <a:gd name="adj" fmla="val 4858"/>
            </a:avLst>
          </a:prstGeom>
          <a:solidFill>
            <a:srgbClr val="1F3F5E"/>
          </a:solidFill>
          <a:ln/>
          <a:effectLst>
            <a:outerShdw blurRad="127000" dist="25400" dir="5400000" algn="bl" rotWithShape="0">
              <a:srgbClr val="22303A">
                <a:alpha val="10000"/>
              </a:srgbClr>
            </a:outerShdw>
          </a:effectLst>
        </p:spPr>
        <p:txBody>
          <a:bodyPr/>
          <a:lstStyle/>
          <a:p>
            <a:endParaRPr lang="ko-KR" altLang="en-US"/>
          </a:p>
        </p:txBody>
      </p:sp>
      <p:sp>
        <p:nvSpPr>
          <p:cNvPr id="12" name="Shape 9"/>
          <p:cNvSpPr/>
          <p:nvPr/>
        </p:nvSpPr>
        <p:spPr>
          <a:xfrm>
            <a:off x="566928" y="1784931"/>
            <a:ext cx="118872" cy="118872"/>
          </a:xfrm>
          <a:prstGeom prst="ellipse">
            <a:avLst/>
          </a:prstGeom>
          <a:solidFill>
            <a:srgbClr val="F2B544"/>
          </a:solidFill>
          <a:ln/>
        </p:spPr>
        <p:txBody>
          <a:bodyPr/>
          <a:lstStyle/>
          <a:p>
            <a:endParaRPr lang="ko-KR" altLang="en-US"/>
          </a:p>
        </p:txBody>
      </p:sp>
      <p:sp>
        <p:nvSpPr>
          <p:cNvPr id="13" name="Text 10"/>
          <p:cNvSpPr txBox="1"/>
          <p:nvPr/>
        </p:nvSpPr>
        <p:spPr>
          <a:xfrm>
            <a:off x="749808" y="1711779"/>
            <a:ext cx="4572000" cy="274320"/>
          </a:xfrm>
          <a:prstGeom prst="rect">
            <a:avLst/>
          </a:prstGeom>
          <a:noFill/>
          <a:ln/>
        </p:spPr>
        <p:txBody>
          <a:bodyPr wrap="square" lIns="0" tIns="0" rIns="0" bIns="0" rtlCol="0" anchor="ctr"/>
          <a:lstStyle/>
          <a:p>
            <a:pPr marL="0" indent="0">
              <a:buNone/>
            </a:pPr>
            <a:r>
              <a:rPr lang="en-US" sz="1200" b="1" dirty="0">
                <a:solidFill>
                  <a:srgbClr val="FFFFFF"/>
                </a:solidFill>
              </a:rPr>
              <a:t>타운시그널 프로토타입 화면  ·  더미 데이터</a:t>
            </a:r>
            <a:endParaRPr lang="en-US" sz="1200" dirty="0"/>
          </a:p>
        </p:txBody>
      </p:sp>
      <p:sp>
        <p:nvSpPr>
          <p:cNvPr id="14" name="조건 입력 화면"/>
          <p:cNvSpPr/>
          <p:nvPr/>
        </p:nvSpPr>
        <p:spPr>
          <a:xfrm>
            <a:off x="548640" y="2004387"/>
            <a:ext cx="2130552" cy="1822844"/>
          </a:xfrm>
          <a:prstGeom prst="roundRect">
            <a:avLst>
              <a:gd name="adj" fmla="val 4013"/>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5" name="Shape 12"/>
          <p:cNvSpPr/>
          <p:nvPr/>
        </p:nvSpPr>
        <p:spPr>
          <a:xfrm>
            <a:off x="658368" y="2063823"/>
            <a:ext cx="64008" cy="64008"/>
          </a:xfrm>
          <a:prstGeom prst="ellipse">
            <a:avLst/>
          </a:prstGeom>
          <a:solidFill>
            <a:srgbClr val="FF5F57"/>
          </a:solidFill>
          <a:ln/>
        </p:spPr>
        <p:txBody>
          <a:bodyPr/>
          <a:lstStyle/>
          <a:p>
            <a:endParaRPr lang="ko-KR" altLang="en-US"/>
          </a:p>
        </p:txBody>
      </p:sp>
      <p:sp>
        <p:nvSpPr>
          <p:cNvPr id="16" name="Shape 13"/>
          <p:cNvSpPr/>
          <p:nvPr/>
        </p:nvSpPr>
        <p:spPr>
          <a:xfrm>
            <a:off x="768096" y="2063823"/>
            <a:ext cx="64008" cy="64008"/>
          </a:xfrm>
          <a:prstGeom prst="ellipse">
            <a:avLst/>
          </a:prstGeom>
          <a:solidFill>
            <a:srgbClr val="FEBC2E"/>
          </a:solidFill>
          <a:ln/>
        </p:spPr>
        <p:txBody>
          <a:bodyPr/>
          <a:lstStyle/>
          <a:p>
            <a:endParaRPr lang="ko-KR" altLang="en-US"/>
          </a:p>
        </p:txBody>
      </p:sp>
      <p:sp>
        <p:nvSpPr>
          <p:cNvPr id="17" name="Shape 14"/>
          <p:cNvSpPr/>
          <p:nvPr/>
        </p:nvSpPr>
        <p:spPr>
          <a:xfrm>
            <a:off x="877824" y="2063823"/>
            <a:ext cx="64008" cy="64008"/>
          </a:xfrm>
          <a:prstGeom prst="ellipse">
            <a:avLst/>
          </a:prstGeom>
          <a:solidFill>
            <a:srgbClr val="28C840"/>
          </a:solidFill>
          <a:ln/>
        </p:spPr>
        <p:txBody>
          <a:bodyPr/>
          <a:lstStyle/>
          <a:p>
            <a:endParaRPr lang="ko-KR" altLang="en-US"/>
          </a:p>
        </p:txBody>
      </p:sp>
      <p:pic>
        <p:nvPicPr>
          <p:cNvPr id="18" name="Image 1" descr="조건 입력 화면"/>
          <p:cNvPicPr>
            <a:picLocks noChangeAspect="1"/>
          </p:cNvPicPr>
          <p:nvPr/>
        </p:nvPicPr>
        <p:blipFill>
          <a:blip r:embed="rId4"/>
          <a:stretch>
            <a:fillRect/>
          </a:stretch>
        </p:blipFill>
        <p:spPr>
          <a:xfrm>
            <a:off x="548640" y="2187267"/>
            <a:ext cx="2130552" cy="1639964"/>
          </a:xfrm>
          <a:prstGeom prst="rect">
            <a:avLst/>
          </a:prstGeom>
        </p:spPr>
      </p:pic>
      <p:sp>
        <p:nvSpPr>
          <p:cNvPr id="19" name="Shape 15"/>
          <p:cNvSpPr/>
          <p:nvPr/>
        </p:nvSpPr>
        <p:spPr>
          <a:xfrm>
            <a:off x="1394460" y="3988635"/>
            <a:ext cx="438912" cy="438912"/>
          </a:xfrm>
          <a:prstGeom prst="ellipse">
            <a:avLst/>
          </a:prstGeom>
          <a:solidFill>
            <a:srgbClr val="2B5C8A"/>
          </a:solidFill>
          <a:ln/>
        </p:spPr>
        <p:txBody>
          <a:bodyPr/>
          <a:lstStyle/>
          <a:p>
            <a:endParaRPr lang="ko-KR" altLang="en-US"/>
          </a:p>
        </p:txBody>
      </p:sp>
      <p:sp>
        <p:nvSpPr>
          <p:cNvPr id="20" name="Text 16"/>
          <p:cNvSpPr txBox="1"/>
          <p:nvPr/>
        </p:nvSpPr>
        <p:spPr>
          <a:xfrm>
            <a:off x="1394460" y="3988635"/>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1" name="Text 17"/>
          <p:cNvSpPr txBox="1"/>
          <p:nvPr/>
        </p:nvSpPr>
        <p:spPr>
          <a:xfrm>
            <a:off x="548640" y="4518987"/>
            <a:ext cx="2130552" cy="411480"/>
          </a:xfrm>
          <a:prstGeom prst="rect">
            <a:avLst/>
          </a:prstGeom>
          <a:noFill/>
          <a:ln/>
        </p:spPr>
        <p:txBody>
          <a:bodyPr wrap="square" lIns="0" tIns="0" rIns="0" bIns="0" rtlCol="0" anchor="t"/>
          <a:lstStyle/>
          <a:p>
            <a:pPr marL="0" indent="0" algn="ctr">
              <a:buNone/>
            </a:pPr>
            <a:r>
              <a:rPr lang="en-US" sz="1800" b="1" dirty="0">
                <a:solidFill>
                  <a:schemeClr val="tx1"/>
                </a:solidFill>
              </a:rPr>
              <a:t>조건 입력</a:t>
            </a:r>
            <a:endParaRPr lang="en-US" sz="1800" dirty="0"/>
          </a:p>
        </p:txBody>
      </p:sp>
      <p:sp>
        <p:nvSpPr>
          <p:cNvPr id="22" name="구별 예산 화면"/>
          <p:cNvSpPr/>
          <p:nvPr/>
        </p:nvSpPr>
        <p:spPr>
          <a:xfrm>
            <a:off x="2788920" y="2004387"/>
            <a:ext cx="2130552" cy="1819595"/>
          </a:xfrm>
          <a:prstGeom prst="roundRect">
            <a:avLst>
              <a:gd name="adj" fmla="val 402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3" name="Shape 19"/>
          <p:cNvSpPr/>
          <p:nvPr/>
        </p:nvSpPr>
        <p:spPr>
          <a:xfrm>
            <a:off x="2898648" y="2063823"/>
            <a:ext cx="64008" cy="64008"/>
          </a:xfrm>
          <a:prstGeom prst="ellipse">
            <a:avLst/>
          </a:prstGeom>
          <a:solidFill>
            <a:srgbClr val="FF5F57"/>
          </a:solidFill>
          <a:ln/>
        </p:spPr>
        <p:txBody>
          <a:bodyPr/>
          <a:lstStyle/>
          <a:p>
            <a:endParaRPr lang="ko-KR" altLang="en-US"/>
          </a:p>
        </p:txBody>
      </p:sp>
      <p:sp>
        <p:nvSpPr>
          <p:cNvPr id="24" name="Shape 20"/>
          <p:cNvSpPr/>
          <p:nvPr/>
        </p:nvSpPr>
        <p:spPr>
          <a:xfrm>
            <a:off x="3008376" y="2063823"/>
            <a:ext cx="64008" cy="64008"/>
          </a:xfrm>
          <a:prstGeom prst="ellipse">
            <a:avLst/>
          </a:prstGeom>
          <a:solidFill>
            <a:srgbClr val="FEBC2E"/>
          </a:solidFill>
          <a:ln/>
        </p:spPr>
        <p:txBody>
          <a:bodyPr/>
          <a:lstStyle/>
          <a:p>
            <a:endParaRPr lang="ko-KR" altLang="en-US"/>
          </a:p>
        </p:txBody>
      </p:sp>
      <p:sp>
        <p:nvSpPr>
          <p:cNvPr id="25" name="Shape 21"/>
          <p:cNvSpPr/>
          <p:nvPr/>
        </p:nvSpPr>
        <p:spPr>
          <a:xfrm>
            <a:off x="3118104" y="2063823"/>
            <a:ext cx="64008" cy="64008"/>
          </a:xfrm>
          <a:prstGeom prst="ellipse">
            <a:avLst/>
          </a:prstGeom>
          <a:solidFill>
            <a:srgbClr val="28C840"/>
          </a:solidFill>
          <a:ln/>
        </p:spPr>
        <p:txBody>
          <a:bodyPr/>
          <a:lstStyle/>
          <a:p>
            <a:endParaRPr lang="ko-KR" altLang="en-US"/>
          </a:p>
        </p:txBody>
      </p:sp>
      <p:pic>
        <p:nvPicPr>
          <p:cNvPr id="26" name="Image 2" descr="구별 예산 화면"/>
          <p:cNvPicPr>
            <a:picLocks noChangeAspect="1"/>
          </p:cNvPicPr>
          <p:nvPr/>
        </p:nvPicPr>
        <p:blipFill>
          <a:blip r:embed="rId5"/>
          <a:stretch>
            <a:fillRect/>
          </a:stretch>
        </p:blipFill>
        <p:spPr>
          <a:xfrm>
            <a:off x="2788920" y="2187267"/>
            <a:ext cx="2130552" cy="1636715"/>
          </a:xfrm>
          <a:prstGeom prst="rect">
            <a:avLst/>
          </a:prstGeom>
        </p:spPr>
      </p:pic>
      <p:sp>
        <p:nvSpPr>
          <p:cNvPr id="27" name="Shape 22"/>
          <p:cNvSpPr/>
          <p:nvPr/>
        </p:nvSpPr>
        <p:spPr>
          <a:xfrm>
            <a:off x="3634740" y="3988635"/>
            <a:ext cx="438912" cy="438912"/>
          </a:xfrm>
          <a:prstGeom prst="ellipse">
            <a:avLst/>
          </a:prstGeom>
          <a:solidFill>
            <a:srgbClr val="2B5C8A"/>
          </a:solidFill>
          <a:ln/>
        </p:spPr>
        <p:txBody>
          <a:bodyPr/>
          <a:lstStyle/>
          <a:p>
            <a:endParaRPr lang="ko-KR" altLang="en-US"/>
          </a:p>
        </p:txBody>
      </p:sp>
      <p:sp>
        <p:nvSpPr>
          <p:cNvPr id="28" name="Text 23"/>
          <p:cNvSpPr txBox="1"/>
          <p:nvPr/>
        </p:nvSpPr>
        <p:spPr>
          <a:xfrm>
            <a:off x="3634740" y="3988635"/>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9" name="Text 24"/>
          <p:cNvSpPr txBox="1"/>
          <p:nvPr/>
        </p:nvSpPr>
        <p:spPr>
          <a:xfrm>
            <a:off x="2788920" y="4518987"/>
            <a:ext cx="2130552" cy="411480"/>
          </a:xfrm>
          <a:prstGeom prst="rect">
            <a:avLst/>
          </a:prstGeom>
          <a:noFill/>
          <a:ln/>
        </p:spPr>
        <p:txBody>
          <a:bodyPr wrap="square" lIns="0" tIns="0" rIns="0" bIns="0" rtlCol="0" anchor="t"/>
          <a:lstStyle/>
          <a:p>
            <a:pPr marL="0" indent="0" algn="ctr">
              <a:buNone/>
            </a:pPr>
            <a:r>
              <a:rPr lang="en-US" sz="1800" b="1" dirty="0">
                <a:solidFill>
                  <a:schemeClr val="tx1"/>
                </a:solidFill>
              </a:rPr>
              <a:t>구별 예산</a:t>
            </a:r>
            <a:endParaRPr lang="en-US" sz="1800" dirty="0"/>
          </a:p>
        </p:txBody>
      </p:sp>
      <p:sp>
        <p:nvSpPr>
          <p:cNvPr id="30" name="추천 동 화면"/>
          <p:cNvSpPr/>
          <p:nvPr/>
        </p:nvSpPr>
        <p:spPr>
          <a:xfrm>
            <a:off x="5029200" y="2004387"/>
            <a:ext cx="2130552" cy="1824343"/>
          </a:xfrm>
          <a:prstGeom prst="roundRect">
            <a:avLst>
              <a:gd name="adj" fmla="val 401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1" name="Shape 26"/>
          <p:cNvSpPr/>
          <p:nvPr/>
        </p:nvSpPr>
        <p:spPr>
          <a:xfrm>
            <a:off x="5138928" y="2063823"/>
            <a:ext cx="64008" cy="64008"/>
          </a:xfrm>
          <a:prstGeom prst="ellipse">
            <a:avLst/>
          </a:prstGeom>
          <a:solidFill>
            <a:srgbClr val="FF5F57"/>
          </a:solidFill>
          <a:ln/>
        </p:spPr>
        <p:txBody>
          <a:bodyPr/>
          <a:lstStyle/>
          <a:p>
            <a:endParaRPr lang="ko-KR" altLang="en-US"/>
          </a:p>
        </p:txBody>
      </p:sp>
      <p:sp>
        <p:nvSpPr>
          <p:cNvPr id="32" name="Shape 27"/>
          <p:cNvSpPr/>
          <p:nvPr/>
        </p:nvSpPr>
        <p:spPr>
          <a:xfrm>
            <a:off x="5248656" y="2063823"/>
            <a:ext cx="64008" cy="64008"/>
          </a:xfrm>
          <a:prstGeom prst="ellipse">
            <a:avLst/>
          </a:prstGeom>
          <a:solidFill>
            <a:srgbClr val="FEBC2E"/>
          </a:solidFill>
          <a:ln/>
        </p:spPr>
        <p:txBody>
          <a:bodyPr/>
          <a:lstStyle/>
          <a:p>
            <a:endParaRPr lang="ko-KR" altLang="en-US"/>
          </a:p>
        </p:txBody>
      </p:sp>
      <p:sp>
        <p:nvSpPr>
          <p:cNvPr id="33" name="Shape 28"/>
          <p:cNvSpPr/>
          <p:nvPr/>
        </p:nvSpPr>
        <p:spPr>
          <a:xfrm>
            <a:off x="5358384" y="2063823"/>
            <a:ext cx="64008" cy="64008"/>
          </a:xfrm>
          <a:prstGeom prst="ellipse">
            <a:avLst/>
          </a:prstGeom>
          <a:solidFill>
            <a:srgbClr val="28C840"/>
          </a:solidFill>
          <a:ln/>
        </p:spPr>
        <p:txBody>
          <a:bodyPr/>
          <a:lstStyle/>
          <a:p>
            <a:endParaRPr lang="ko-KR" altLang="en-US"/>
          </a:p>
        </p:txBody>
      </p:sp>
      <p:pic>
        <p:nvPicPr>
          <p:cNvPr id="34" name="Image 3" descr="추천 동 화면"/>
          <p:cNvPicPr>
            <a:picLocks noChangeAspect="1"/>
          </p:cNvPicPr>
          <p:nvPr/>
        </p:nvPicPr>
        <p:blipFill>
          <a:blip r:embed="rId6"/>
          <a:stretch>
            <a:fillRect/>
          </a:stretch>
        </p:blipFill>
        <p:spPr>
          <a:xfrm>
            <a:off x="5029200" y="2187267"/>
            <a:ext cx="2130552" cy="1641463"/>
          </a:xfrm>
          <a:prstGeom prst="rect">
            <a:avLst/>
          </a:prstGeom>
        </p:spPr>
      </p:pic>
      <p:sp>
        <p:nvSpPr>
          <p:cNvPr id="35" name="Shape 29"/>
          <p:cNvSpPr/>
          <p:nvPr/>
        </p:nvSpPr>
        <p:spPr>
          <a:xfrm>
            <a:off x="5875020" y="3988635"/>
            <a:ext cx="438912" cy="438912"/>
          </a:xfrm>
          <a:prstGeom prst="ellipse">
            <a:avLst/>
          </a:prstGeom>
          <a:solidFill>
            <a:srgbClr val="2B5C8A"/>
          </a:solidFill>
          <a:ln/>
        </p:spPr>
        <p:txBody>
          <a:bodyPr/>
          <a:lstStyle/>
          <a:p>
            <a:endParaRPr lang="ko-KR" altLang="en-US"/>
          </a:p>
        </p:txBody>
      </p:sp>
      <p:sp>
        <p:nvSpPr>
          <p:cNvPr id="36" name="Text 30"/>
          <p:cNvSpPr txBox="1"/>
          <p:nvPr/>
        </p:nvSpPr>
        <p:spPr>
          <a:xfrm>
            <a:off x="5875020" y="3988635"/>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37" name="Text 31"/>
          <p:cNvSpPr txBox="1"/>
          <p:nvPr/>
        </p:nvSpPr>
        <p:spPr>
          <a:xfrm>
            <a:off x="5029200" y="4518987"/>
            <a:ext cx="2130552" cy="411480"/>
          </a:xfrm>
          <a:prstGeom prst="rect">
            <a:avLst/>
          </a:prstGeom>
          <a:noFill/>
          <a:ln/>
        </p:spPr>
        <p:txBody>
          <a:bodyPr wrap="square" lIns="0" tIns="0" rIns="0" bIns="0" rtlCol="0" anchor="t"/>
          <a:lstStyle/>
          <a:p>
            <a:pPr marL="0" indent="0" algn="ctr">
              <a:buNone/>
            </a:pPr>
            <a:r>
              <a:rPr lang="en-US" sz="1800" b="1" dirty="0">
                <a:solidFill>
                  <a:schemeClr val="tx1"/>
                </a:solidFill>
              </a:rPr>
              <a:t>추천 동</a:t>
            </a:r>
            <a:endParaRPr lang="en-US" sz="1800" dirty="0"/>
          </a:p>
        </p:txBody>
      </p:sp>
      <p:sp>
        <p:nvSpPr>
          <p:cNvPr id="38" name="상세 화면"/>
          <p:cNvSpPr/>
          <p:nvPr/>
        </p:nvSpPr>
        <p:spPr>
          <a:xfrm>
            <a:off x="7269480" y="2004387"/>
            <a:ext cx="2130552" cy="1821078"/>
          </a:xfrm>
          <a:prstGeom prst="roundRect">
            <a:avLst>
              <a:gd name="adj" fmla="val 4017"/>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9" name="Shape 33"/>
          <p:cNvSpPr/>
          <p:nvPr/>
        </p:nvSpPr>
        <p:spPr>
          <a:xfrm>
            <a:off x="7379208" y="2063823"/>
            <a:ext cx="64008" cy="64008"/>
          </a:xfrm>
          <a:prstGeom prst="ellipse">
            <a:avLst/>
          </a:prstGeom>
          <a:solidFill>
            <a:srgbClr val="FF5F57"/>
          </a:solidFill>
          <a:ln/>
        </p:spPr>
        <p:txBody>
          <a:bodyPr/>
          <a:lstStyle/>
          <a:p>
            <a:endParaRPr lang="ko-KR" altLang="en-US"/>
          </a:p>
        </p:txBody>
      </p:sp>
      <p:sp>
        <p:nvSpPr>
          <p:cNvPr id="40" name="Shape 34"/>
          <p:cNvSpPr/>
          <p:nvPr/>
        </p:nvSpPr>
        <p:spPr>
          <a:xfrm>
            <a:off x="7488936" y="2063823"/>
            <a:ext cx="64008" cy="64008"/>
          </a:xfrm>
          <a:prstGeom prst="ellipse">
            <a:avLst/>
          </a:prstGeom>
          <a:solidFill>
            <a:srgbClr val="FEBC2E"/>
          </a:solidFill>
          <a:ln/>
        </p:spPr>
        <p:txBody>
          <a:bodyPr/>
          <a:lstStyle/>
          <a:p>
            <a:endParaRPr lang="ko-KR" altLang="en-US"/>
          </a:p>
        </p:txBody>
      </p:sp>
      <p:sp>
        <p:nvSpPr>
          <p:cNvPr id="41" name="Shape 35"/>
          <p:cNvSpPr/>
          <p:nvPr/>
        </p:nvSpPr>
        <p:spPr>
          <a:xfrm>
            <a:off x="7598664" y="2063823"/>
            <a:ext cx="64008" cy="64008"/>
          </a:xfrm>
          <a:prstGeom prst="ellipse">
            <a:avLst/>
          </a:prstGeom>
          <a:solidFill>
            <a:srgbClr val="28C840"/>
          </a:solidFill>
          <a:ln/>
        </p:spPr>
        <p:txBody>
          <a:bodyPr/>
          <a:lstStyle/>
          <a:p>
            <a:endParaRPr lang="ko-KR" altLang="en-US"/>
          </a:p>
        </p:txBody>
      </p:sp>
      <p:pic>
        <p:nvPicPr>
          <p:cNvPr id="42" name="Image 4" descr="상세 화면"/>
          <p:cNvPicPr>
            <a:picLocks noChangeAspect="1"/>
          </p:cNvPicPr>
          <p:nvPr/>
        </p:nvPicPr>
        <p:blipFill>
          <a:blip r:embed="rId7"/>
          <a:stretch>
            <a:fillRect/>
          </a:stretch>
        </p:blipFill>
        <p:spPr>
          <a:xfrm>
            <a:off x="7269480" y="2187267"/>
            <a:ext cx="2130552" cy="1638198"/>
          </a:xfrm>
          <a:prstGeom prst="rect">
            <a:avLst/>
          </a:prstGeom>
        </p:spPr>
      </p:pic>
      <p:sp>
        <p:nvSpPr>
          <p:cNvPr id="43" name="Shape 36"/>
          <p:cNvSpPr/>
          <p:nvPr/>
        </p:nvSpPr>
        <p:spPr>
          <a:xfrm>
            <a:off x="8115300" y="3988635"/>
            <a:ext cx="438912" cy="438912"/>
          </a:xfrm>
          <a:prstGeom prst="ellipse">
            <a:avLst/>
          </a:prstGeom>
          <a:solidFill>
            <a:srgbClr val="2B5C8A"/>
          </a:solidFill>
          <a:ln/>
        </p:spPr>
        <p:txBody>
          <a:bodyPr/>
          <a:lstStyle/>
          <a:p>
            <a:endParaRPr lang="ko-KR" altLang="en-US"/>
          </a:p>
        </p:txBody>
      </p:sp>
      <p:sp>
        <p:nvSpPr>
          <p:cNvPr id="44" name="Text 37"/>
          <p:cNvSpPr txBox="1"/>
          <p:nvPr/>
        </p:nvSpPr>
        <p:spPr>
          <a:xfrm>
            <a:off x="8115300" y="3988635"/>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45" name="Text 38"/>
          <p:cNvSpPr txBox="1"/>
          <p:nvPr/>
        </p:nvSpPr>
        <p:spPr>
          <a:xfrm>
            <a:off x="7269480" y="4518987"/>
            <a:ext cx="2130552" cy="411480"/>
          </a:xfrm>
          <a:prstGeom prst="rect">
            <a:avLst/>
          </a:prstGeom>
          <a:noFill/>
          <a:ln/>
        </p:spPr>
        <p:txBody>
          <a:bodyPr wrap="square" lIns="0" tIns="0" rIns="0" bIns="0" rtlCol="0" anchor="t"/>
          <a:lstStyle/>
          <a:p>
            <a:pPr marL="0" indent="0" algn="ctr">
              <a:buNone/>
            </a:pPr>
            <a:r>
              <a:rPr lang="en-US" sz="1800" b="1" dirty="0">
                <a:solidFill>
                  <a:schemeClr val="tx1"/>
                </a:solidFill>
              </a:rPr>
              <a:t>상세</a:t>
            </a:r>
            <a:endParaRPr lang="en-US" sz="1800" dirty="0"/>
          </a:p>
        </p:txBody>
      </p:sp>
      <p:sp>
        <p:nvSpPr>
          <p:cNvPr id="46" name="비교 화면"/>
          <p:cNvSpPr/>
          <p:nvPr/>
        </p:nvSpPr>
        <p:spPr>
          <a:xfrm>
            <a:off x="9509760" y="2004387"/>
            <a:ext cx="2130552" cy="1819768"/>
          </a:xfrm>
          <a:prstGeom prst="roundRect">
            <a:avLst>
              <a:gd name="adj" fmla="val 402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7" name="Shape 40"/>
          <p:cNvSpPr/>
          <p:nvPr/>
        </p:nvSpPr>
        <p:spPr>
          <a:xfrm>
            <a:off x="9619488" y="2063823"/>
            <a:ext cx="64008" cy="64008"/>
          </a:xfrm>
          <a:prstGeom prst="ellipse">
            <a:avLst/>
          </a:prstGeom>
          <a:solidFill>
            <a:srgbClr val="FF5F57"/>
          </a:solidFill>
          <a:ln/>
        </p:spPr>
        <p:txBody>
          <a:bodyPr/>
          <a:lstStyle/>
          <a:p>
            <a:endParaRPr lang="ko-KR" altLang="en-US"/>
          </a:p>
        </p:txBody>
      </p:sp>
      <p:sp>
        <p:nvSpPr>
          <p:cNvPr id="48" name="Shape 41"/>
          <p:cNvSpPr/>
          <p:nvPr/>
        </p:nvSpPr>
        <p:spPr>
          <a:xfrm>
            <a:off x="9729216" y="2063823"/>
            <a:ext cx="64008" cy="64008"/>
          </a:xfrm>
          <a:prstGeom prst="ellipse">
            <a:avLst/>
          </a:prstGeom>
          <a:solidFill>
            <a:srgbClr val="FEBC2E"/>
          </a:solidFill>
          <a:ln/>
        </p:spPr>
        <p:txBody>
          <a:bodyPr/>
          <a:lstStyle/>
          <a:p>
            <a:endParaRPr lang="ko-KR" altLang="en-US"/>
          </a:p>
        </p:txBody>
      </p:sp>
      <p:sp>
        <p:nvSpPr>
          <p:cNvPr id="49" name="Shape 42"/>
          <p:cNvSpPr/>
          <p:nvPr/>
        </p:nvSpPr>
        <p:spPr>
          <a:xfrm>
            <a:off x="9838944" y="2063823"/>
            <a:ext cx="64008" cy="64008"/>
          </a:xfrm>
          <a:prstGeom prst="ellipse">
            <a:avLst/>
          </a:prstGeom>
          <a:solidFill>
            <a:srgbClr val="28C840"/>
          </a:solidFill>
          <a:ln/>
        </p:spPr>
        <p:txBody>
          <a:bodyPr/>
          <a:lstStyle/>
          <a:p>
            <a:endParaRPr lang="ko-KR" altLang="en-US"/>
          </a:p>
        </p:txBody>
      </p:sp>
      <p:pic>
        <p:nvPicPr>
          <p:cNvPr id="50" name="Image 5" descr="비교 화면"/>
          <p:cNvPicPr>
            <a:picLocks noChangeAspect="1"/>
          </p:cNvPicPr>
          <p:nvPr/>
        </p:nvPicPr>
        <p:blipFill>
          <a:blip r:embed="rId8"/>
          <a:stretch>
            <a:fillRect/>
          </a:stretch>
        </p:blipFill>
        <p:spPr>
          <a:xfrm>
            <a:off x="9509760" y="2187267"/>
            <a:ext cx="2130552" cy="1636888"/>
          </a:xfrm>
          <a:prstGeom prst="rect">
            <a:avLst/>
          </a:prstGeom>
        </p:spPr>
      </p:pic>
      <p:sp>
        <p:nvSpPr>
          <p:cNvPr id="51" name="Shape 43"/>
          <p:cNvSpPr/>
          <p:nvPr/>
        </p:nvSpPr>
        <p:spPr>
          <a:xfrm>
            <a:off x="10355580" y="3988635"/>
            <a:ext cx="438912" cy="438912"/>
          </a:xfrm>
          <a:prstGeom prst="ellipse">
            <a:avLst/>
          </a:prstGeom>
          <a:solidFill>
            <a:srgbClr val="2B5C8A"/>
          </a:solidFill>
          <a:ln/>
        </p:spPr>
        <p:txBody>
          <a:bodyPr/>
          <a:lstStyle/>
          <a:p>
            <a:endParaRPr lang="ko-KR" altLang="en-US"/>
          </a:p>
        </p:txBody>
      </p:sp>
      <p:sp>
        <p:nvSpPr>
          <p:cNvPr id="52" name="Text 44"/>
          <p:cNvSpPr txBox="1"/>
          <p:nvPr/>
        </p:nvSpPr>
        <p:spPr>
          <a:xfrm>
            <a:off x="10355580" y="3988635"/>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53" name="Text 45"/>
          <p:cNvSpPr txBox="1"/>
          <p:nvPr/>
        </p:nvSpPr>
        <p:spPr>
          <a:xfrm>
            <a:off x="9509760" y="4518987"/>
            <a:ext cx="2130552" cy="411480"/>
          </a:xfrm>
          <a:prstGeom prst="rect">
            <a:avLst/>
          </a:prstGeom>
          <a:noFill/>
          <a:ln/>
        </p:spPr>
        <p:txBody>
          <a:bodyPr wrap="square" lIns="0" tIns="0" rIns="0" bIns="0" rtlCol="0" anchor="t"/>
          <a:lstStyle/>
          <a:p>
            <a:pPr marL="0" indent="0" algn="ctr">
              <a:buNone/>
            </a:pPr>
            <a:r>
              <a:rPr lang="en-US" sz="1800" b="1" dirty="0">
                <a:solidFill>
                  <a:schemeClr val="tx1"/>
                </a:solidFill>
              </a:rPr>
              <a:t>비교</a:t>
            </a:r>
            <a:endParaRPr lang="en-US" sz="1800" dirty="0"/>
          </a:p>
        </p:txBody>
      </p:sp>
      <p:sp>
        <p:nvSpPr>
          <p:cNvPr id="54" name="Shape 46"/>
          <p:cNvSpPr/>
          <p:nvPr/>
        </p:nvSpPr>
        <p:spPr>
          <a:xfrm>
            <a:off x="1738884" y="5146221"/>
            <a:ext cx="8714232" cy="640080"/>
          </a:xfrm>
          <a:prstGeom prst="roundRect">
            <a:avLst>
              <a:gd name="adj" fmla="val 50000"/>
            </a:avLst>
          </a:prstGeom>
          <a:solidFill>
            <a:srgbClr val="E4EDF5"/>
          </a:solidFill>
          <a:ln/>
        </p:spPr>
        <p:txBody>
          <a:bodyPr/>
          <a:lstStyle/>
          <a:p>
            <a:endParaRPr lang="ko-KR" altLang="en-US"/>
          </a:p>
        </p:txBody>
      </p:sp>
      <p:sp>
        <p:nvSpPr>
          <p:cNvPr id="55" name="Text 47"/>
          <p:cNvSpPr txBox="1"/>
          <p:nvPr/>
        </p:nvSpPr>
        <p:spPr>
          <a:xfrm>
            <a:off x="1738884" y="5146221"/>
            <a:ext cx="8714232" cy="640080"/>
          </a:xfrm>
          <a:prstGeom prst="rect">
            <a:avLst/>
          </a:prstGeom>
          <a:noFill/>
          <a:ln/>
        </p:spPr>
        <p:txBody>
          <a:bodyPr wrap="square" lIns="0" tIns="0" rIns="0" bIns="0" rtlCol="0" anchor="ctr"/>
          <a:lstStyle/>
          <a:p>
            <a:pPr marL="0" indent="0" algn="ctr">
              <a:buNone/>
            </a:pPr>
            <a:r>
              <a:rPr lang="en-US" sz="1700" dirty="0">
                <a:solidFill>
                  <a:schemeClr val="tx1"/>
                </a:solidFill>
              </a:rPr>
              <a:t>구마다 지원 사업이 달라서, </a:t>
            </a:r>
            <a:r>
              <a:rPr lang="en-US" sz="1700" b="1" dirty="0">
                <a:solidFill>
                  <a:srgbClr val="2B5C8A"/>
                </a:solidFill>
              </a:rPr>
              <a:t>같은 사람이라도 구마다 예산이 달라집니다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시스템 구조"/>
          <p:cNvPicPr>
            <a:picLocks noChangeAspect="1"/>
          </p:cNvPicPr>
          <p:nvPr/>
        </p:nvPicPr>
        <p:blipFill>
          <a:blip r:embed="rId3"/>
          <a:stretch>
            <a:fillRect/>
          </a:stretch>
        </p:blipFill>
        <p:spPr>
          <a:xfrm>
            <a:off x="5022952" y="292608"/>
            <a:ext cx="2145792"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D5DEE2"/>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박규민</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무거운 계산은 </a:t>
            </a:r>
            <a:r>
              <a:rPr lang="en-US" sz="2600" b="1" dirty="0">
                <a:solidFill>
                  <a:srgbClr val="2B5C8A"/>
                </a:solidFill>
              </a:rPr>
              <a:t>미리</a:t>
            </a:r>
            <a:r>
              <a:rPr lang="en-US" sz="2600" b="1" dirty="0">
                <a:solidFill>
                  <a:srgbClr val="22303A"/>
                </a:solidFill>
              </a:rPr>
              <a:t>, 요청 때는 </a:t>
            </a:r>
            <a:r>
              <a:rPr lang="en-US" sz="2600" b="1" dirty="0">
                <a:solidFill>
                  <a:srgbClr val="2B5C8A"/>
                </a:solidFill>
              </a:rPr>
              <a:t>조회만</a:t>
            </a:r>
            <a:endParaRPr lang="en-US" sz="2600" dirty="0"/>
          </a:p>
        </p:txBody>
      </p:sp>
      <p:sp>
        <p:nvSpPr>
          <p:cNvPr id="10" name="배치"/>
          <p:cNvSpPr/>
          <p:nvPr/>
        </p:nvSpPr>
        <p:spPr>
          <a:xfrm>
            <a:off x="548640" y="1783080"/>
            <a:ext cx="3931920" cy="3429000"/>
          </a:xfrm>
          <a:prstGeom prst="roundRect">
            <a:avLst>
              <a:gd name="adj" fmla="val 3733"/>
            </a:avLst>
          </a:prstGeom>
          <a:solidFill>
            <a:srgbClr val="E4EDF5"/>
          </a:solidFill>
          <a:ln/>
        </p:spPr>
        <p:txBody>
          <a:bodyPr/>
          <a:lstStyle/>
          <a:p>
            <a:endParaRPr lang="ko-KR" altLang="en-US"/>
          </a:p>
        </p:txBody>
      </p:sp>
      <p:sp>
        <p:nvSpPr>
          <p:cNvPr id="11" name="Shape 8"/>
          <p:cNvSpPr/>
          <p:nvPr/>
        </p:nvSpPr>
        <p:spPr>
          <a:xfrm>
            <a:off x="822960" y="2011680"/>
            <a:ext cx="2103120" cy="402336"/>
          </a:xfrm>
          <a:prstGeom prst="roundRect">
            <a:avLst>
              <a:gd name="adj" fmla="val 50000"/>
            </a:avLst>
          </a:prstGeom>
          <a:solidFill>
            <a:srgbClr val="2B5C8A"/>
          </a:solidFill>
          <a:ln/>
        </p:spPr>
        <p:txBody>
          <a:bodyPr/>
          <a:lstStyle/>
          <a:p>
            <a:endParaRPr lang="ko-KR" altLang="en-US"/>
          </a:p>
        </p:txBody>
      </p:sp>
      <p:sp>
        <p:nvSpPr>
          <p:cNvPr id="12" name="Text 9"/>
          <p:cNvSpPr txBox="1"/>
          <p:nvPr/>
        </p:nvSpPr>
        <p:spPr>
          <a:xfrm>
            <a:off x="822960" y="2011680"/>
            <a:ext cx="2103120" cy="402336"/>
          </a:xfrm>
          <a:prstGeom prst="rect">
            <a:avLst/>
          </a:prstGeom>
          <a:noFill/>
          <a:ln/>
        </p:spPr>
        <p:txBody>
          <a:bodyPr wrap="square" lIns="0" tIns="0" rIns="0" bIns="0" rtlCol="0" anchor="ctr"/>
          <a:lstStyle/>
          <a:p>
            <a:pPr marL="0" indent="0" algn="ctr">
              <a:buNone/>
            </a:pPr>
            <a:r>
              <a:rPr lang="en-US" sz="1400" b="1" dirty="0">
                <a:solidFill>
                  <a:srgbClr val="FFFFFF"/>
                </a:solidFill>
              </a:rPr>
              <a:t>① 배치 · 미리 계산</a:t>
            </a:r>
            <a:endParaRPr lang="en-US" sz="1400" dirty="0"/>
          </a:p>
        </p:txBody>
      </p:sp>
      <p:sp>
        <p:nvSpPr>
          <p:cNvPr id="13" name="Shape 10"/>
          <p:cNvSpPr/>
          <p:nvPr/>
        </p:nvSpPr>
        <p:spPr>
          <a:xfrm>
            <a:off x="822960" y="265176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4" name="Shape 11"/>
          <p:cNvSpPr/>
          <p:nvPr/>
        </p:nvSpPr>
        <p:spPr>
          <a:xfrm>
            <a:off x="960120" y="2743200"/>
            <a:ext cx="475488" cy="475488"/>
          </a:xfrm>
          <a:prstGeom prst="ellipse">
            <a:avLst/>
          </a:prstGeom>
          <a:solidFill>
            <a:srgbClr val="E4EDF5"/>
          </a:solidFill>
          <a:ln/>
        </p:spPr>
        <p:txBody>
          <a:bodyPr/>
          <a:lstStyle/>
          <a:p>
            <a:endParaRPr lang="ko-KR" altLang="en-US"/>
          </a:p>
        </p:txBody>
      </p:sp>
      <p:pic>
        <p:nvPicPr>
          <p:cNvPr id="15" name="Image 1" descr="preencoded.png"/>
          <p:cNvPicPr>
            <a:picLocks noChangeAspect="1"/>
          </p:cNvPicPr>
          <p:nvPr/>
        </p:nvPicPr>
        <p:blipFill>
          <a:blip r:embed="rId4"/>
          <a:stretch>
            <a:fillRect/>
          </a:stretch>
        </p:blipFill>
        <p:spPr>
          <a:xfrm>
            <a:off x="1078992" y="2862072"/>
            <a:ext cx="237744" cy="237744"/>
          </a:xfrm>
          <a:prstGeom prst="rect">
            <a:avLst/>
          </a:prstGeom>
        </p:spPr>
      </p:pic>
      <p:sp>
        <p:nvSpPr>
          <p:cNvPr id="16" name="Text 12"/>
          <p:cNvSpPr txBox="1"/>
          <p:nvPr/>
        </p:nvSpPr>
        <p:spPr>
          <a:xfrm>
            <a:off x="1554480" y="265176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공공데이터 정제 · 결합</a:t>
            </a:r>
            <a:endParaRPr lang="en-US" sz="1400" dirty="0"/>
          </a:p>
        </p:txBody>
      </p:sp>
      <p:sp>
        <p:nvSpPr>
          <p:cNvPr id="17" name="Shape 13"/>
          <p:cNvSpPr/>
          <p:nvPr/>
        </p:nvSpPr>
        <p:spPr>
          <a:xfrm>
            <a:off x="822960" y="347472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18" name="Shape 14"/>
          <p:cNvSpPr/>
          <p:nvPr/>
        </p:nvSpPr>
        <p:spPr>
          <a:xfrm>
            <a:off x="960120" y="3566160"/>
            <a:ext cx="475488" cy="475488"/>
          </a:xfrm>
          <a:prstGeom prst="ellipse">
            <a:avLst/>
          </a:prstGeom>
          <a:solidFill>
            <a:srgbClr val="E4EDF5"/>
          </a:solidFill>
          <a:ln/>
        </p:spPr>
        <p:txBody>
          <a:bodyPr/>
          <a:lstStyle/>
          <a:p>
            <a:endParaRPr lang="ko-KR" altLang="en-US"/>
          </a:p>
        </p:txBody>
      </p:sp>
      <p:pic>
        <p:nvPicPr>
          <p:cNvPr id="19" name="Image 2" descr="preencoded.png"/>
          <p:cNvPicPr>
            <a:picLocks noChangeAspect="1"/>
          </p:cNvPicPr>
          <p:nvPr/>
        </p:nvPicPr>
        <p:blipFill>
          <a:blip r:embed="rId5"/>
          <a:stretch>
            <a:fillRect/>
          </a:stretch>
        </p:blipFill>
        <p:spPr>
          <a:xfrm>
            <a:off x="1078992" y="3685032"/>
            <a:ext cx="237744" cy="237744"/>
          </a:xfrm>
          <a:prstGeom prst="rect">
            <a:avLst/>
          </a:prstGeom>
        </p:spPr>
      </p:pic>
      <p:sp>
        <p:nvSpPr>
          <p:cNvPr id="20" name="Text 15"/>
          <p:cNvSpPr txBox="1"/>
          <p:nvPr/>
        </p:nvSpPr>
        <p:spPr>
          <a:xfrm>
            <a:off x="1554480" y="347472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매출 · 생존 모델 학습 · 예측</a:t>
            </a:r>
            <a:endParaRPr lang="en-US" sz="1400" dirty="0"/>
          </a:p>
        </p:txBody>
      </p:sp>
      <p:sp>
        <p:nvSpPr>
          <p:cNvPr id="21" name="Shape 16"/>
          <p:cNvSpPr/>
          <p:nvPr/>
        </p:nvSpPr>
        <p:spPr>
          <a:xfrm>
            <a:off x="822960" y="429768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22" name="Shape 17"/>
          <p:cNvSpPr/>
          <p:nvPr/>
        </p:nvSpPr>
        <p:spPr>
          <a:xfrm>
            <a:off x="960120" y="4389120"/>
            <a:ext cx="475488" cy="475488"/>
          </a:xfrm>
          <a:prstGeom prst="ellipse">
            <a:avLst/>
          </a:prstGeom>
          <a:solidFill>
            <a:srgbClr val="E4EDF5"/>
          </a:solidFill>
          <a:ln/>
        </p:spPr>
        <p:txBody>
          <a:bodyPr/>
          <a:lstStyle/>
          <a:p>
            <a:endParaRPr lang="ko-KR" altLang="en-US"/>
          </a:p>
        </p:txBody>
      </p:sp>
      <p:pic>
        <p:nvPicPr>
          <p:cNvPr id="23" name="Image 3" descr="preencoded.png"/>
          <p:cNvPicPr>
            <a:picLocks noChangeAspect="1"/>
          </p:cNvPicPr>
          <p:nvPr/>
        </p:nvPicPr>
        <p:blipFill>
          <a:blip r:embed="rId6"/>
          <a:stretch>
            <a:fillRect/>
          </a:stretch>
        </p:blipFill>
        <p:spPr>
          <a:xfrm>
            <a:off x="1078992" y="4507992"/>
            <a:ext cx="237744" cy="237744"/>
          </a:xfrm>
          <a:prstGeom prst="rect">
            <a:avLst/>
          </a:prstGeom>
        </p:spPr>
      </p:pic>
      <p:sp>
        <p:nvSpPr>
          <p:cNvPr id="24" name="Text 18"/>
          <p:cNvSpPr txBox="1"/>
          <p:nvPr/>
        </p:nvSpPr>
        <p:spPr>
          <a:xfrm>
            <a:off x="1554480" y="429768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지원사업 공고 LLM 구조화</a:t>
            </a:r>
            <a:endParaRPr lang="en-US" sz="1400" dirty="0"/>
          </a:p>
        </p:txBody>
      </p:sp>
      <p:sp>
        <p:nvSpPr>
          <p:cNvPr id="25" name="PostgreSQL"/>
          <p:cNvSpPr/>
          <p:nvPr/>
        </p:nvSpPr>
        <p:spPr>
          <a:xfrm>
            <a:off x="4937760" y="1828800"/>
            <a:ext cx="2331720" cy="3337560"/>
          </a:xfrm>
          <a:prstGeom prst="can">
            <a:avLst/>
          </a:prstGeom>
          <a:solidFill>
            <a:srgbClr val="1F3F5E"/>
          </a:solidFill>
          <a:ln/>
        </p:spPr>
        <p:txBody>
          <a:bodyPr/>
          <a:lstStyle/>
          <a:p>
            <a:endParaRPr lang="ko-KR" altLang="en-US"/>
          </a:p>
        </p:txBody>
      </p:sp>
      <p:sp>
        <p:nvSpPr>
          <p:cNvPr id="26" name="Text 20"/>
          <p:cNvSpPr txBox="1"/>
          <p:nvPr/>
        </p:nvSpPr>
        <p:spPr>
          <a:xfrm>
            <a:off x="4937760" y="2286000"/>
            <a:ext cx="2331720" cy="640080"/>
          </a:xfrm>
          <a:prstGeom prst="rect">
            <a:avLst/>
          </a:prstGeom>
          <a:noFill/>
          <a:ln/>
        </p:spPr>
        <p:txBody>
          <a:bodyPr wrap="square" lIns="0" tIns="0" rIns="0" bIns="0" rtlCol="0" anchor="t"/>
          <a:lstStyle/>
          <a:p>
            <a:pPr marL="0" indent="0" algn="ctr">
              <a:buNone/>
            </a:pPr>
            <a:r>
              <a:rPr lang="en-US" sz="1600" b="1" dirty="0">
                <a:solidFill>
                  <a:srgbClr val="FFFFFF"/>
                </a:solidFill>
              </a:rPr>
              <a:t>PostgreSQL</a:t>
            </a:r>
            <a:endParaRPr lang="en-US" sz="1400" dirty="0"/>
          </a:p>
          <a:p>
            <a:pPr marL="0" indent="0" algn="ctr">
              <a:buNone/>
            </a:pPr>
            <a:r>
              <a:rPr lang="en-US" sz="1200" dirty="0">
                <a:solidFill>
                  <a:srgbClr val="C9DAEA"/>
                </a:solidFill>
              </a:rPr>
              <a:t>서빙 표 4종</a:t>
            </a:r>
            <a:endParaRPr lang="en-US" sz="1400" dirty="0"/>
          </a:p>
        </p:txBody>
      </p:sp>
      <p:sp>
        <p:nvSpPr>
          <p:cNvPr id="27" name="Shape 21"/>
          <p:cNvSpPr/>
          <p:nvPr/>
        </p:nvSpPr>
        <p:spPr>
          <a:xfrm>
            <a:off x="5138928" y="3108960"/>
            <a:ext cx="1929384" cy="365760"/>
          </a:xfrm>
          <a:prstGeom prst="roundRect">
            <a:avLst>
              <a:gd name="adj" fmla="val 50000"/>
            </a:avLst>
          </a:prstGeom>
          <a:solidFill>
            <a:srgbClr val="FFFFFF"/>
          </a:solidFill>
          <a:ln/>
        </p:spPr>
        <p:txBody>
          <a:bodyPr/>
          <a:lstStyle/>
          <a:p>
            <a:endParaRPr lang="ko-KR" altLang="en-US"/>
          </a:p>
        </p:txBody>
      </p:sp>
      <p:sp>
        <p:nvSpPr>
          <p:cNvPr id="28" name="Text 22"/>
          <p:cNvSpPr txBox="1"/>
          <p:nvPr/>
        </p:nvSpPr>
        <p:spPr>
          <a:xfrm>
            <a:off x="5138928" y="3108960"/>
            <a:ext cx="1929384" cy="365760"/>
          </a:xfrm>
          <a:prstGeom prst="rect">
            <a:avLst/>
          </a:prstGeom>
          <a:noFill/>
          <a:ln/>
        </p:spPr>
        <p:txBody>
          <a:bodyPr wrap="square" lIns="0" tIns="0" rIns="0" bIns="0" rtlCol="0" anchor="ctr"/>
          <a:lstStyle/>
          <a:p>
            <a:pPr marL="0" indent="0" algn="ctr">
              <a:buNone/>
            </a:pPr>
            <a:r>
              <a:rPr lang="en-US" sz="1200" b="1" dirty="0">
                <a:solidFill>
                  <a:srgbClr val="1F3F5E"/>
                </a:solidFill>
              </a:rPr>
              <a:t>지원사업</a:t>
            </a:r>
            <a:endParaRPr lang="en-US" sz="1200" dirty="0"/>
          </a:p>
        </p:txBody>
      </p:sp>
      <p:sp>
        <p:nvSpPr>
          <p:cNvPr id="29" name="Shape 23"/>
          <p:cNvSpPr/>
          <p:nvPr/>
        </p:nvSpPr>
        <p:spPr>
          <a:xfrm>
            <a:off x="5138928" y="3584448"/>
            <a:ext cx="1929384" cy="365760"/>
          </a:xfrm>
          <a:prstGeom prst="roundRect">
            <a:avLst>
              <a:gd name="adj" fmla="val 50000"/>
            </a:avLst>
          </a:prstGeom>
          <a:solidFill>
            <a:srgbClr val="FFFFFF"/>
          </a:solidFill>
          <a:ln/>
        </p:spPr>
        <p:txBody>
          <a:bodyPr/>
          <a:lstStyle/>
          <a:p>
            <a:endParaRPr lang="ko-KR" altLang="en-US"/>
          </a:p>
        </p:txBody>
      </p:sp>
      <p:sp>
        <p:nvSpPr>
          <p:cNvPr id="30" name="Text 24"/>
          <p:cNvSpPr txBox="1"/>
          <p:nvPr/>
        </p:nvSpPr>
        <p:spPr>
          <a:xfrm>
            <a:off x="5138928" y="3584448"/>
            <a:ext cx="1929384" cy="365760"/>
          </a:xfrm>
          <a:prstGeom prst="rect">
            <a:avLst/>
          </a:prstGeom>
          <a:noFill/>
          <a:ln/>
        </p:spPr>
        <p:txBody>
          <a:bodyPr wrap="square" lIns="0" tIns="0" rIns="0" bIns="0" rtlCol="0" anchor="ctr"/>
          <a:lstStyle/>
          <a:p>
            <a:pPr marL="0" indent="0" algn="ctr">
              <a:buNone/>
            </a:pPr>
            <a:r>
              <a:rPr lang="en-US" sz="1200" b="1" dirty="0">
                <a:solidFill>
                  <a:srgbClr val="1F3F5E"/>
                </a:solidFill>
              </a:rPr>
              <a:t>자치구 임대료</a:t>
            </a:r>
            <a:endParaRPr lang="en-US" sz="1200" dirty="0"/>
          </a:p>
        </p:txBody>
      </p:sp>
      <p:sp>
        <p:nvSpPr>
          <p:cNvPr id="31" name="Shape 25"/>
          <p:cNvSpPr/>
          <p:nvPr/>
        </p:nvSpPr>
        <p:spPr>
          <a:xfrm>
            <a:off x="5138928" y="4059936"/>
            <a:ext cx="1929384" cy="365760"/>
          </a:xfrm>
          <a:prstGeom prst="roundRect">
            <a:avLst>
              <a:gd name="adj" fmla="val 50000"/>
            </a:avLst>
          </a:prstGeom>
          <a:solidFill>
            <a:srgbClr val="FFFFFF"/>
          </a:solidFill>
          <a:ln/>
        </p:spPr>
        <p:txBody>
          <a:bodyPr/>
          <a:lstStyle/>
          <a:p>
            <a:endParaRPr lang="ko-KR" altLang="en-US"/>
          </a:p>
        </p:txBody>
      </p:sp>
      <p:sp>
        <p:nvSpPr>
          <p:cNvPr id="32" name="Text 26"/>
          <p:cNvSpPr txBox="1"/>
          <p:nvPr/>
        </p:nvSpPr>
        <p:spPr>
          <a:xfrm>
            <a:off x="5138928" y="4059936"/>
            <a:ext cx="1929384" cy="365760"/>
          </a:xfrm>
          <a:prstGeom prst="rect">
            <a:avLst/>
          </a:prstGeom>
          <a:noFill/>
          <a:ln/>
        </p:spPr>
        <p:txBody>
          <a:bodyPr wrap="square" lIns="0" tIns="0" rIns="0" bIns="0" rtlCol="0" anchor="ctr"/>
          <a:lstStyle/>
          <a:p>
            <a:pPr marL="0" indent="0" algn="ctr">
              <a:buNone/>
            </a:pPr>
            <a:r>
              <a:rPr lang="en-US" sz="1200" b="1" dirty="0">
                <a:solidFill>
                  <a:srgbClr val="1F3F5E"/>
                </a:solidFill>
              </a:rPr>
              <a:t>매출 · 생존 예측</a:t>
            </a:r>
            <a:endParaRPr lang="en-US" sz="1200" dirty="0"/>
          </a:p>
        </p:txBody>
      </p:sp>
      <p:sp>
        <p:nvSpPr>
          <p:cNvPr id="33" name="Shape 27"/>
          <p:cNvSpPr/>
          <p:nvPr/>
        </p:nvSpPr>
        <p:spPr>
          <a:xfrm>
            <a:off x="5138928" y="4535424"/>
            <a:ext cx="1929384" cy="365760"/>
          </a:xfrm>
          <a:prstGeom prst="roundRect">
            <a:avLst>
              <a:gd name="adj" fmla="val 50000"/>
            </a:avLst>
          </a:prstGeom>
          <a:solidFill>
            <a:srgbClr val="FFFFFF"/>
          </a:solidFill>
          <a:ln/>
        </p:spPr>
        <p:txBody>
          <a:bodyPr/>
          <a:lstStyle/>
          <a:p>
            <a:endParaRPr lang="ko-KR" altLang="en-US"/>
          </a:p>
        </p:txBody>
      </p:sp>
      <p:sp>
        <p:nvSpPr>
          <p:cNvPr id="34" name="Text 28"/>
          <p:cNvSpPr txBox="1"/>
          <p:nvPr/>
        </p:nvSpPr>
        <p:spPr>
          <a:xfrm>
            <a:off x="5138928" y="4535424"/>
            <a:ext cx="1929384" cy="365760"/>
          </a:xfrm>
          <a:prstGeom prst="rect">
            <a:avLst/>
          </a:prstGeom>
          <a:noFill/>
          <a:ln/>
        </p:spPr>
        <p:txBody>
          <a:bodyPr wrap="square" lIns="0" tIns="0" rIns="0" bIns="0" rtlCol="0" anchor="ctr"/>
          <a:lstStyle/>
          <a:p>
            <a:pPr marL="0" indent="0" algn="ctr">
              <a:buNone/>
            </a:pPr>
            <a:r>
              <a:rPr lang="en-US" sz="1200" b="1" dirty="0">
                <a:solidFill>
                  <a:srgbClr val="1F3F5E"/>
                </a:solidFill>
              </a:rPr>
              <a:t>요약문</a:t>
            </a:r>
            <a:endParaRPr lang="en-US" sz="1200" dirty="0"/>
          </a:p>
        </p:txBody>
      </p:sp>
      <p:sp>
        <p:nvSpPr>
          <p:cNvPr id="35" name="요청"/>
          <p:cNvSpPr/>
          <p:nvPr/>
        </p:nvSpPr>
        <p:spPr>
          <a:xfrm>
            <a:off x="7708392" y="1783080"/>
            <a:ext cx="3931920" cy="3429000"/>
          </a:xfrm>
          <a:prstGeom prst="roundRect">
            <a:avLst>
              <a:gd name="adj" fmla="val 3733"/>
            </a:avLst>
          </a:prstGeom>
          <a:solidFill>
            <a:srgbClr val="EEF2F3"/>
          </a:solidFill>
          <a:ln/>
        </p:spPr>
        <p:txBody>
          <a:bodyPr/>
          <a:lstStyle/>
          <a:p>
            <a:endParaRPr lang="ko-KR" altLang="en-US"/>
          </a:p>
        </p:txBody>
      </p:sp>
      <p:sp>
        <p:nvSpPr>
          <p:cNvPr id="36" name="Shape 30"/>
          <p:cNvSpPr/>
          <p:nvPr/>
        </p:nvSpPr>
        <p:spPr>
          <a:xfrm>
            <a:off x="7982712" y="2011680"/>
            <a:ext cx="2103120" cy="402336"/>
          </a:xfrm>
          <a:prstGeom prst="roundRect">
            <a:avLst>
              <a:gd name="adj" fmla="val 50000"/>
            </a:avLst>
          </a:prstGeom>
          <a:solidFill>
            <a:srgbClr val="1F3F5E"/>
          </a:solidFill>
          <a:ln/>
        </p:spPr>
        <p:txBody>
          <a:bodyPr/>
          <a:lstStyle/>
          <a:p>
            <a:endParaRPr lang="ko-KR" altLang="en-US"/>
          </a:p>
        </p:txBody>
      </p:sp>
      <p:sp>
        <p:nvSpPr>
          <p:cNvPr id="37" name="Text 31"/>
          <p:cNvSpPr txBox="1"/>
          <p:nvPr/>
        </p:nvSpPr>
        <p:spPr>
          <a:xfrm>
            <a:off x="7982712" y="2011680"/>
            <a:ext cx="2103120" cy="402336"/>
          </a:xfrm>
          <a:prstGeom prst="rect">
            <a:avLst/>
          </a:prstGeom>
          <a:noFill/>
          <a:ln/>
        </p:spPr>
        <p:txBody>
          <a:bodyPr wrap="square" lIns="0" tIns="0" rIns="0" bIns="0" rtlCol="0" anchor="ctr"/>
          <a:lstStyle/>
          <a:p>
            <a:pPr marL="0" indent="0" algn="ctr">
              <a:buNone/>
            </a:pPr>
            <a:r>
              <a:rPr lang="en-US" sz="1400" b="1" dirty="0">
                <a:solidFill>
                  <a:srgbClr val="FFFFFF"/>
                </a:solidFill>
              </a:rPr>
              <a:t>② 요청 · 실시간</a:t>
            </a:r>
            <a:endParaRPr lang="en-US" sz="1400" dirty="0"/>
          </a:p>
        </p:txBody>
      </p:sp>
      <p:sp>
        <p:nvSpPr>
          <p:cNvPr id="38" name="Shape 32"/>
          <p:cNvSpPr/>
          <p:nvPr/>
        </p:nvSpPr>
        <p:spPr>
          <a:xfrm>
            <a:off x="7982712" y="265176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39" name="Shape 33"/>
          <p:cNvSpPr/>
          <p:nvPr/>
        </p:nvSpPr>
        <p:spPr>
          <a:xfrm>
            <a:off x="8119872" y="2743200"/>
            <a:ext cx="475488" cy="475488"/>
          </a:xfrm>
          <a:prstGeom prst="ellipse">
            <a:avLst/>
          </a:prstGeom>
          <a:solidFill>
            <a:srgbClr val="E4EDF5"/>
          </a:solidFill>
          <a:ln/>
        </p:spPr>
        <p:txBody>
          <a:bodyPr/>
          <a:lstStyle/>
          <a:p>
            <a:endParaRPr lang="ko-KR" altLang="en-US"/>
          </a:p>
        </p:txBody>
      </p:sp>
      <p:pic>
        <p:nvPicPr>
          <p:cNvPr id="40" name="Image 4" descr="preencoded.png"/>
          <p:cNvPicPr>
            <a:picLocks noChangeAspect="1"/>
          </p:cNvPicPr>
          <p:nvPr/>
        </p:nvPicPr>
        <p:blipFill>
          <a:blip r:embed="rId7"/>
          <a:stretch>
            <a:fillRect/>
          </a:stretch>
        </p:blipFill>
        <p:spPr>
          <a:xfrm>
            <a:off x="8238744" y="2862072"/>
            <a:ext cx="237744" cy="237744"/>
          </a:xfrm>
          <a:prstGeom prst="rect">
            <a:avLst/>
          </a:prstGeom>
        </p:spPr>
      </p:pic>
      <p:sp>
        <p:nvSpPr>
          <p:cNvPr id="41" name="Text 34"/>
          <p:cNvSpPr txBox="1"/>
          <p:nvPr/>
        </p:nvSpPr>
        <p:spPr>
          <a:xfrm>
            <a:off x="8714232" y="265176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웹 화면 · React</a:t>
            </a:r>
            <a:endParaRPr lang="en-US" sz="1400" dirty="0"/>
          </a:p>
          <a:p>
            <a:pPr marL="0" indent="0">
              <a:buNone/>
            </a:pPr>
            <a:r>
              <a:rPr lang="en-US" sz="1100" dirty="0">
                <a:solidFill>
                  <a:srgbClr val="66727C"/>
                </a:solidFill>
              </a:rPr>
              <a:t>Vercel</a:t>
            </a:r>
            <a:endParaRPr lang="en-US" sz="1400" dirty="0"/>
          </a:p>
        </p:txBody>
      </p:sp>
      <p:sp>
        <p:nvSpPr>
          <p:cNvPr id="42" name="Shape 35"/>
          <p:cNvSpPr/>
          <p:nvPr/>
        </p:nvSpPr>
        <p:spPr>
          <a:xfrm>
            <a:off x="9674352" y="3328416"/>
            <a:ext cx="0" cy="128016"/>
          </a:xfrm>
          <a:prstGeom prst="line">
            <a:avLst/>
          </a:prstGeom>
          <a:noFill/>
          <a:ln w="19050">
            <a:solidFill>
              <a:srgbClr val="98A4AC"/>
            </a:solidFill>
            <a:prstDash val="solid"/>
            <a:tailEnd type="triangle"/>
          </a:ln>
        </p:spPr>
        <p:txBody>
          <a:bodyPr/>
          <a:lstStyle/>
          <a:p>
            <a:endParaRPr lang="ko-KR" altLang="en-US"/>
          </a:p>
        </p:txBody>
      </p:sp>
      <p:sp>
        <p:nvSpPr>
          <p:cNvPr id="43" name="Shape 36"/>
          <p:cNvSpPr/>
          <p:nvPr/>
        </p:nvSpPr>
        <p:spPr>
          <a:xfrm>
            <a:off x="7982712" y="347472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44" name="Shape 37"/>
          <p:cNvSpPr/>
          <p:nvPr/>
        </p:nvSpPr>
        <p:spPr>
          <a:xfrm>
            <a:off x="8119872" y="3566160"/>
            <a:ext cx="475488" cy="475488"/>
          </a:xfrm>
          <a:prstGeom prst="ellipse">
            <a:avLst/>
          </a:prstGeom>
          <a:solidFill>
            <a:srgbClr val="E4EDF5"/>
          </a:solidFill>
          <a:ln/>
        </p:spPr>
        <p:txBody>
          <a:bodyPr/>
          <a:lstStyle/>
          <a:p>
            <a:endParaRPr lang="ko-KR" altLang="en-US"/>
          </a:p>
        </p:txBody>
      </p:sp>
      <p:pic>
        <p:nvPicPr>
          <p:cNvPr id="45" name="Image 5" descr="preencoded.png"/>
          <p:cNvPicPr>
            <a:picLocks noChangeAspect="1"/>
          </p:cNvPicPr>
          <p:nvPr/>
        </p:nvPicPr>
        <p:blipFill>
          <a:blip r:embed="rId8"/>
          <a:stretch>
            <a:fillRect/>
          </a:stretch>
        </p:blipFill>
        <p:spPr>
          <a:xfrm>
            <a:off x="8238744" y="3685032"/>
            <a:ext cx="237744" cy="237744"/>
          </a:xfrm>
          <a:prstGeom prst="rect">
            <a:avLst/>
          </a:prstGeom>
        </p:spPr>
      </p:pic>
      <p:sp>
        <p:nvSpPr>
          <p:cNvPr id="46" name="Text 38"/>
          <p:cNvSpPr txBox="1"/>
          <p:nvPr/>
        </p:nvSpPr>
        <p:spPr>
          <a:xfrm>
            <a:off x="8714232" y="347472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API 서버 · FastAPI</a:t>
            </a:r>
            <a:endParaRPr lang="en-US" sz="1400" dirty="0"/>
          </a:p>
          <a:p>
            <a:pPr marL="0" indent="0">
              <a:buNone/>
            </a:pPr>
            <a:r>
              <a:rPr lang="en-US" sz="1100" dirty="0">
                <a:solidFill>
                  <a:srgbClr val="66727C"/>
                </a:solidFill>
              </a:rPr>
              <a:t>AWS EC2</a:t>
            </a:r>
            <a:endParaRPr lang="en-US" sz="1400" dirty="0"/>
          </a:p>
        </p:txBody>
      </p:sp>
      <p:sp>
        <p:nvSpPr>
          <p:cNvPr id="47" name="Shape 39"/>
          <p:cNvSpPr/>
          <p:nvPr/>
        </p:nvSpPr>
        <p:spPr>
          <a:xfrm>
            <a:off x="9674352" y="4151376"/>
            <a:ext cx="0" cy="128016"/>
          </a:xfrm>
          <a:prstGeom prst="line">
            <a:avLst/>
          </a:prstGeom>
          <a:noFill/>
          <a:ln w="19050">
            <a:solidFill>
              <a:srgbClr val="98A4AC"/>
            </a:solidFill>
            <a:prstDash val="solid"/>
            <a:tailEnd type="triangle"/>
          </a:ln>
        </p:spPr>
        <p:txBody>
          <a:bodyPr/>
          <a:lstStyle/>
          <a:p>
            <a:endParaRPr lang="ko-KR" altLang="en-US"/>
          </a:p>
        </p:txBody>
      </p:sp>
      <p:sp>
        <p:nvSpPr>
          <p:cNvPr id="48" name="Shape 40"/>
          <p:cNvSpPr/>
          <p:nvPr/>
        </p:nvSpPr>
        <p:spPr>
          <a:xfrm>
            <a:off x="7982712" y="4297680"/>
            <a:ext cx="3383280" cy="658368"/>
          </a:xfrm>
          <a:prstGeom prst="roundRect">
            <a:avLst>
              <a:gd name="adj" fmla="val 13889"/>
            </a:avLst>
          </a:prstGeom>
          <a:solidFill>
            <a:srgbClr val="FFFFFF"/>
          </a:solidFill>
          <a:ln w="12700">
            <a:solidFill>
              <a:srgbClr val="DDE5E8"/>
            </a:solidFill>
            <a:prstDash val="solid"/>
          </a:ln>
        </p:spPr>
        <p:txBody>
          <a:bodyPr/>
          <a:lstStyle/>
          <a:p>
            <a:endParaRPr lang="ko-KR" altLang="en-US"/>
          </a:p>
        </p:txBody>
      </p:sp>
      <p:sp>
        <p:nvSpPr>
          <p:cNvPr id="49" name="Shape 41"/>
          <p:cNvSpPr/>
          <p:nvPr/>
        </p:nvSpPr>
        <p:spPr>
          <a:xfrm>
            <a:off x="8119872" y="4389120"/>
            <a:ext cx="475488" cy="475488"/>
          </a:xfrm>
          <a:prstGeom prst="ellipse">
            <a:avLst/>
          </a:prstGeom>
          <a:solidFill>
            <a:srgbClr val="E4EDF5"/>
          </a:solidFill>
          <a:ln/>
        </p:spPr>
        <p:txBody>
          <a:bodyPr/>
          <a:lstStyle/>
          <a:p>
            <a:endParaRPr lang="ko-KR" altLang="en-US"/>
          </a:p>
        </p:txBody>
      </p:sp>
      <p:pic>
        <p:nvPicPr>
          <p:cNvPr id="50" name="Image 6" descr="preencoded.png"/>
          <p:cNvPicPr>
            <a:picLocks noChangeAspect="1"/>
          </p:cNvPicPr>
          <p:nvPr/>
        </p:nvPicPr>
        <p:blipFill>
          <a:blip r:embed="rId9"/>
          <a:stretch>
            <a:fillRect/>
          </a:stretch>
        </p:blipFill>
        <p:spPr>
          <a:xfrm>
            <a:off x="8238744" y="4507992"/>
            <a:ext cx="237744" cy="237744"/>
          </a:xfrm>
          <a:prstGeom prst="rect">
            <a:avLst/>
          </a:prstGeom>
        </p:spPr>
      </p:pic>
      <p:sp>
        <p:nvSpPr>
          <p:cNvPr id="51" name="Text 42"/>
          <p:cNvSpPr txBox="1"/>
          <p:nvPr/>
        </p:nvSpPr>
        <p:spPr>
          <a:xfrm>
            <a:off x="8714232" y="4297680"/>
            <a:ext cx="2606040" cy="658368"/>
          </a:xfrm>
          <a:prstGeom prst="rect">
            <a:avLst/>
          </a:prstGeom>
          <a:noFill/>
          <a:ln/>
        </p:spPr>
        <p:txBody>
          <a:bodyPr wrap="square" lIns="0" tIns="0" rIns="0" bIns="0" rtlCol="0" anchor="ctr"/>
          <a:lstStyle/>
          <a:p>
            <a:pPr marL="0" indent="0">
              <a:buNone/>
            </a:pPr>
            <a:r>
              <a:rPr lang="en-US" sz="1400" b="1" dirty="0">
                <a:solidFill>
                  <a:schemeClr val="tx1"/>
                </a:solidFill>
              </a:rPr>
              <a:t>조회 + 간단한 계산 → 응답</a:t>
            </a:r>
            <a:endParaRPr lang="en-US" sz="1400" dirty="0"/>
          </a:p>
        </p:txBody>
      </p:sp>
      <p:sp>
        <p:nvSpPr>
          <p:cNvPr id="52" name="Shape 43"/>
          <p:cNvSpPr/>
          <p:nvPr/>
        </p:nvSpPr>
        <p:spPr>
          <a:xfrm>
            <a:off x="4526280" y="3520440"/>
            <a:ext cx="429768" cy="0"/>
          </a:xfrm>
          <a:prstGeom prst="line">
            <a:avLst/>
          </a:prstGeom>
          <a:noFill/>
          <a:ln w="31750">
            <a:solidFill>
              <a:srgbClr val="2B5C8A"/>
            </a:solidFill>
            <a:prstDash val="solid"/>
            <a:tailEnd type="triangle"/>
          </a:ln>
        </p:spPr>
        <p:txBody>
          <a:bodyPr/>
          <a:lstStyle/>
          <a:p>
            <a:endParaRPr lang="ko-KR" altLang="en-US"/>
          </a:p>
        </p:txBody>
      </p:sp>
      <p:sp>
        <p:nvSpPr>
          <p:cNvPr id="53" name="Text 44"/>
          <p:cNvSpPr txBox="1"/>
          <p:nvPr/>
        </p:nvSpPr>
        <p:spPr>
          <a:xfrm>
            <a:off x="4462272" y="3127248"/>
            <a:ext cx="548640" cy="320040"/>
          </a:xfrm>
          <a:prstGeom prst="rect">
            <a:avLst/>
          </a:prstGeom>
          <a:noFill/>
          <a:ln/>
        </p:spPr>
        <p:txBody>
          <a:bodyPr wrap="square" lIns="0" tIns="0" rIns="0" bIns="0" rtlCol="0" anchor="t"/>
          <a:lstStyle/>
          <a:p>
            <a:pPr marL="0" indent="0" algn="ctr">
              <a:buNone/>
            </a:pPr>
            <a:r>
              <a:rPr lang="en-US" sz="1200" b="1" dirty="0">
                <a:solidFill>
                  <a:srgbClr val="2B5C8A"/>
                </a:solidFill>
              </a:rPr>
              <a:t>저장</a:t>
            </a:r>
            <a:endParaRPr lang="en-US" sz="1200" dirty="0"/>
          </a:p>
        </p:txBody>
      </p:sp>
      <p:sp>
        <p:nvSpPr>
          <p:cNvPr id="54" name="Shape 45"/>
          <p:cNvSpPr/>
          <p:nvPr/>
        </p:nvSpPr>
        <p:spPr>
          <a:xfrm flipH="1">
            <a:off x="7296912" y="3803904"/>
            <a:ext cx="685800" cy="0"/>
          </a:xfrm>
          <a:prstGeom prst="line">
            <a:avLst/>
          </a:prstGeom>
          <a:noFill/>
          <a:ln w="31750">
            <a:solidFill>
              <a:srgbClr val="1F3F5E"/>
            </a:solidFill>
            <a:prstDash val="solid"/>
            <a:tailEnd type="triangle"/>
          </a:ln>
        </p:spPr>
        <p:txBody>
          <a:bodyPr/>
          <a:lstStyle/>
          <a:p>
            <a:endParaRPr lang="ko-KR" altLang="en-US"/>
          </a:p>
        </p:txBody>
      </p:sp>
      <p:sp>
        <p:nvSpPr>
          <p:cNvPr id="55" name="Text 46"/>
          <p:cNvSpPr txBox="1"/>
          <p:nvPr/>
        </p:nvSpPr>
        <p:spPr>
          <a:xfrm>
            <a:off x="7315200" y="3383280"/>
            <a:ext cx="548640" cy="320040"/>
          </a:xfrm>
          <a:prstGeom prst="rect">
            <a:avLst/>
          </a:prstGeom>
          <a:noFill/>
          <a:ln/>
        </p:spPr>
        <p:txBody>
          <a:bodyPr wrap="square" lIns="0" tIns="0" rIns="0" bIns="0" rtlCol="0" anchor="t"/>
          <a:lstStyle/>
          <a:p>
            <a:pPr marL="0" indent="0" algn="ctr">
              <a:buNone/>
            </a:pPr>
            <a:r>
              <a:rPr lang="en-US" sz="1200" b="1" dirty="0">
                <a:solidFill>
                  <a:srgbClr val="1F3F5E"/>
                </a:solidFill>
              </a:rPr>
              <a:t>조회</a:t>
            </a:r>
            <a:endParaRPr lang="en-US" sz="1200" dirty="0"/>
          </a:p>
        </p:txBody>
      </p:sp>
      <p:sp>
        <p:nvSpPr>
          <p:cNvPr id="56" name="Shape 47"/>
          <p:cNvSpPr/>
          <p:nvPr/>
        </p:nvSpPr>
        <p:spPr>
          <a:xfrm>
            <a:off x="2852928" y="5303520"/>
            <a:ext cx="3108960" cy="457200"/>
          </a:xfrm>
          <a:prstGeom prst="roundRect">
            <a:avLst>
              <a:gd name="adj" fmla="val 50000"/>
            </a:avLst>
          </a:prstGeom>
          <a:solidFill>
            <a:srgbClr val="FFFFFF"/>
          </a:solidFill>
          <a:ln w="15875">
            <a:solidFill>
              <a:srgbClr val="2B5C8A"/>
            </a:solidFill>
            <a:prstDash val="solid"/>
          </a:ln>
        </p:spPr>
        <p:txBody>
          <a:bodyPr/>
          <a:lstStyle/>
          <a:p>
            <a:endParaRPr lang="ko-KR" altLang="en-US"/>
          </a:p>
        </p:txBody>
      </p:sp>
      <p:sp>
        <p:nvSpPr>
          <p:cNvPr id="57" name="Text 48"/>
          <p:cNvSpPr txBox="1"/>
          <p:nvPr/>
        </p:nvSpPr>
        <p:spPr>
          <a:xfrm>
            <a:off x="2852928" y="5303520"/>
            <a:ext cx="3108960" cy="457200"/>
          </a:xfrm>
          <a:prstGeom prst="rect">
            <a:avLst/>
          </a:prstGeom>
          <a:noFill/>
          <a:ln/>
        </p:spPr>
        <p:txBody>
          <a:bodyPr wrap="square" lIns="0" tIns="0" rIns="0" bIns="0" rtlCol="0" anchor="ctr"/>
          <a:lstStyle/>
          <a:p>
            <a:pPr marL="0" indent="0" algn="ctr">
              <a:buNone/>
            </a:pPr>
            <a:r>
              <a:rPr lang="en-US" sz="1400" b="1" dirty="0">
                <a:solidFill>
                  <a:srgbClr val="2B5C8A"/>
                </a:solidFill>
              </a:rPr>
              <a:t>✓  모델 서빙 서버 없음</a:t>
            </a:r>
            <a:endParaRPr lang="en-US" sz="1400" dirty="0"/>
          </a:p>
        </p:txBody>
      </p:sp>
      <p:sp>
        <p:nvSpPr>
          <p:cNvPr id="58" name="Shape 49"/>
          <p:cNvSpPr/>
          <p:nvPr/>
        </p:nvSpPr>
        <p:spPr>
          <a:xfrm>
            <a:off x="6236208" y="5303520"/>
            <a:ext cx="3108960" cy="457200"/>
          </a:xfrm>
          <a:prstGeom prst="roundRect">
            <a:avLst>
              <a:gd name="adj" fmla="val 50000"/>
            </a:avLst>
          </a:prstGeom>
          <a:solidFill>
            <a:srgbClr val="FFFFFF"/>
          </a:solidFill>
          <a:ln w="15875">
            <a:solidFill>
              <a:srgbClr val="2B5C8A"/>
            </a:solidFill>
            <a:prstDash val="solid"/>
          </a:ln>
        </p:spPr>
        <p:txBody>
          <a:bodyPr/>
          <a:lstStyle/>
          <a:p>
            <a:endParaRPr lang="ko-KR" altLang="en-US"/>
          </a:p>
        </p:txBody>
      </p:sp>
      <p:sp>
        <p:nvSpPr>
          <p:cNvPr id="59" name="Text 50"/>
          <p:cNvSpPr txBox="1"/>
          <p:nvPr/>
        </p:nvSpPr>
        <p:spPr>
          <a:xfrm>
            <a:off x="6236208" y="5303520"/>
            <a:ext cx="3108960" cy="457200"/>
          </a:xfrm>
          <a:prstGeom prst="rect">
            <a:avLst/>
          </a:prstGeom>
          <a:noFill/>
          <a:ln/>
        </p:spPr>
        <p:txBody>
          <a:bodyPr wrap="square" lIns="0" tIns="0" rIns="0" bIns="0" rtlCol="0" anchor="ctr"/>
          <a:lstStyle/>
          <a:p>
            <a:pPr marL="0" indent="0" algn="ctr">
              <a:buNone/>
            </a:pPr>
            <a:r>
              <a:rPr lang="en-US" sz="1400" b="1" dirty="0">
                <a:solidFill>
                  <a:srgbClr val="2B5C8A"/>
                </a:solidFill>
              </a:rPr>
              <a:t>✓  요청 때 모델 추론 없음</a:t>
            </a:r>
            <a:endParaRPr lang="en-US" sz="1400" dirty="0"/>
          </a:p>
        </p:txBody>
      </p:sp>
      <p:sp>
        <p:nvSpPr>
          <p:cNvPr id="60" name="Text 51"/>
          <p:cNvSpPr txBox="1"/>
          <p:nvPr/>
        </p:nvSpPr>
        <p:spPr>
          <a:xfrm>
            <a:off x="548640" y="5897880"/>
            <a:ext cx="11091672" cy="320040"/>
          </a:xfrm>
          <a:prstGeom prst="rect">
            <a:avLst/>
          </a:prstGeom>
          <a:noFill/>
          <a:ln/>
        </p:spPr>
        <p:txBody>
          <a:bodyPr wrap="square" lIns="0" tIns="0" rIns="0" bIns="0" rtlCol="0" anchor="t"/>
          <a:lstStyle/>
          <a:p>
            <a:pPr marL="0" indent="0" algn="ctr">
              <a:buNone/>
            </a:pPr>
            <a:r>
              <a:rPr lang="en-US" sz="1200" dirty="0">
                <a:solidFill>
                  <a:srgbClr val="66727C"/>
                </a:solidFill>
              </a:rPr>
              <a:t>FastAPI · PostgreSQL 16 · React · Docker · GitHub Actions · AWS EC2 · Vercel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추천 흐름"/>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D5DEE2"/>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박규민</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조건 입력부터 동네 추천까지, </a:t>
            </a:r>
            <a:r>
              <a:rPr lang="en-US" sz="2600" b="1" dirty="0">
                <a:solidFill>
                  <a:srgbClr val="2B5C8A"/>
                </a:solidFill>
              </a:rPr>
              <a:t>3단계</a:t>
            </a:r>
            <a:endParaRPr lang="en-US" sz="2600" dirty="0"/>
          </a:p>
        </p:txBody>
      </p:sp>
      <p:sp>
        <p:nvSpPr>
          <p:cNvPr id="10" name="Shape 7"/>
          <p:cNvSpPr/>
          <p:nvPr/>
        </p:nvSpPr>
        <p:spPr>
          <a:xfrm>
            <a:off x="420624" y="1664208"/>
            <a:ext cx="11347704" cy="3236976"/>
          </a:xfrm>
          <a:prstGeom prst="roundRect">
            <a:avLst>
              <a:gd name="adj" fmla="val 3390"/>
            </a:avLst>
          </a:prstGeom>
          <a:solidFill>
            <a:srgbClr val="1F3F5E"/>
          </a:solidFill>
          <a:ln/>
          <a:effectLst>
            <a:outerShdw blurRad="127000" dist="25400" dir="5400000" algn="bl" rotWithShape="0">
              <a:srgbClr val="22303A">
                <a:alpha val="10000"/>
              </a:srgbClr>
            </a:outerShdw>
          </a:effectLst>
        </p:spPr>
        <p:txBody>
          <a:bodyPr/>
          <a:lstStyle/>
          <a:p>
            <a:endParaRPr lang="ko-KR" altLang="en-US"/>
          </a:p>
        </p:txBody>
      </p:sp>
      <p:sp>
        <p:nvSpPr>
          <p:cNvPr id="11" name="Shape 8"/>
          <p:cNvSpPr/>
          <p:nvPr/>
        </p:nvSpPr>
        <p:spPr>
          <a:xfrm>
            <a:off x="566928" y="1764792"/>
            <a:ext cx="118872" cy="118872"/>
          </a:xfrm>
          <a:prstGeom prst="ellipse">
            <a:avLst/>
          </a:prstGeom>
          <a:solidFill>
            <a:srgbClr val="F2B544"/>
          </a:solidFill>
          <a:ln/>
        </p:spPr>
        <p:txBody>
          <a:bodyPr/>
          <a:lstStyle/>
          <a:p>
            <a:endParaRPr lang="ko-KR" altLang="en-US"/>
          </a:p>
        </p:txBody>
      </p:sp>
      <p:sp>
        <p:nvSpPr>
          <p:cNvPr id="12" name="Text 9"/>
          <p:cNvSpPr txBox="1"/>
          <p:nvPr/>
        </p:nvSpPr>
        <p:spPr>
          <a:xfrm>
            <a:off x="749808" y="1691640"/>
            <a:ext cx="4572000" cy="274320"/>
          </a:xfrm>
          <a:prstGeom prst="rect">
            <a:avLst/>
          </a:prstGeom>
          <a:noFill/>
          <a:ln/>
        </p:spPr>
        <p:txBody>
          <a:bodyPr wrap="square" lIns="0" tIns="0" rIns="0" bIns="0" rtlCol="0" anchor="ctr"/>
          <a:lstStyle/>
          <a:p>
            <a:pPr marL="0" indent="0">
              <a:buNone/>
            </a:pPr>
            <a:r>
              <a:rPr lang="en-US" sz="1200" b="1" dirty="0">
                <a:solidFill>
                  <a:srgbClr val="FFFFFF"/>
                </a:solidFill>
              </a:rPr>
              <a:t>타운시그널 프로토타입 화면  ·  더미 데이터</a:t>
            </a:r>
            <a:endParaRPr lang="en-US" sz="1200" dirty="0"/>
          </a:p>
        </p:txBody>
      </p:sp>
      <p:sp>
        <p:nvSpPr>
          <p:cNvPr id="13" name="자치구별 가용 예산 화면"/>
          <p:cNvSpPr/>
          <p:nvPr/>
        </p:nvSpPr>
        <p:spPr>
          <a:xfrm>
            <a:off x="548640" y="1956816"/>
            <a:ext cx="3887532" cy="2834640"/>
          </a:xfrm>
          <a:prstGeom prst="roundRect">
            <a:avLst>
              <a:gd name="adj" fmla="val 2581"/>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4" name="Shape 11"/>
          <p:cNvSpPr/>
          <p:nvPr/>
        </p:nvSpPr>
        <p:spPr>
          <a:xfrm>
            <a:off x="658368" y="2016252"/>
            <a:ext cx="64008" cy="64008"/>
          </a:xfrm>
          <a:prstGeom prst="ellipse">
            <a:avLst/>
          </a:prstGeom>
          <a:solidFill>
            <a:srgbClr val="FF5F57"/>
          </a:solidFill>
          <a:ln/>
        </p:spPr>
        <p:txBody>
          <a:bodyPr/>
          <a:lstStyle/>
          <a:p>
            <a:endParaRPr lang="ko-KR" altLang="en-US"/>
          </a:p>
        </p:txBody>
      </p:sp>
      <p:sp>
        <p:nvSpPr>
          <p:cNvPr id="15" name="Shape 12"/>
          <p:cNvSpPr/>
          <p:nvPr/>
        </p:nvSpPr>
        <p:spPr>
          <a:xfrm>
            <a:off x="768096" y="2016252"/>
            <a:ext cx="64008" cy="64008"/>
          </a:xfrm>
          <a:prstGeom prst="ellipse">
            <a:avLst/>
          </a:prstGeom>
          <a:solidFill>
            <a:srgbClr val="FEBC2E"/>
          </a:solidFill>
          <a:ln/>
        </p:spPr>
        <p:txBody>
          <a:bodyPr/>
          <a:lstStyle/>
          <a:p>
            <a:endParaRPr lang="ko-KR" altLang="en-US"/>
          </a:p>
        </p:txBody>
      </p:sp>
      <p:sp>
        <p:nvSpPr>
          <p:cNvPr id="16" name="Shape 13"/>
          <p:cNvSpPr/>
          <p:nvPr/>
        </p:nvSpPr>
        <p:spPr>
          <a:xfrm>
            <a:off x="877824" y="2016252"/>
            <a:ext cx="64008" cy="64008"/>
          </a:xfrm>
          <a:prstGeom prst="ellipse">
            <a:avLst/>
          </a:prstGeom>
          <a:solidFill>
            <a:srgbClr val="28C840"/>
          </a:solidFill>
          <a:ln/>
        </p:spPr>
        <p:txBody>
          <a:bodyPr/>
          <a:lstStyle/>
          <a:p>
            <a:endParaRPr lang="ko-KR" altLang="en-US"/>
          </a:p>
        </p:txBody>
      </p:sp>
      <p:pic>
        <p:nvPicPr>
          <p:cNvPr id="17" name="Image 1" descr="자치구별 가용 예산 화면"/>
          <p:cNvPicPr>
            <a:picLocks noChangeAspect="1"/>
          </p:cNvPicPr>
          <p:nvPr/>
        </p:nvPicPr>
        <p:blipFill>
          <a:blip r:embed="rId4"/>
          <a:stretch>
            <a:fillRect/>
          </a:stretch>
        </p:blipFill>
        <p:spPr>
          <a:xfrm>
            <a:off x="548640" y="2139696"/>
            <a:ext cx="3887532" cy="2651760"/>
          </a:xfrm>
          <a:prstGeom prst="rect">
            <a:avLst/>
          </a:prstGeom>
        </p:spPr>
      </p:pic>
      <p:sp>
        <p:nvSpPr>
          <p:cNvPr id="18" name="Shape 14"/>
          <p:cNvSpPr/>
          <p:nvPr/>
        </p:nvSpPr>
        <p:spPr>
          <a:xfrm>
            <a:off x="548640" y="4992624"/>
            <a:ext cx="420624" cy="420624"/>
          </a:xfrm>
          <a:prstGeom prst="ellipse">
            <a:avLst/>
          </a:prstGeom>
          <a:solidFill>
            <a:srgbClr val="2B5C8A"/>
          </a:solidFill>
          <a:ln/>
        </p:spPr>
        <p:txBody>
          <a:bodyPr/>
          <a:lstStyle/>
          <a:p>
            <a:endParaRPr lang="ko-KR" altLang="en-US"/>
          </a:p>
        </p:txBody>
      </p:sp>
      <p:sp>
        <p:nvSpPr>
          <p:cNvPr id="19" name="Text 15"/>
          <p:cNvSpPr txBox="1"/>
          <p:nvPr/>
        </p:nvSpPr>
        <p:spPr>
          <a:xfrm>
            <a:off x="548640" y="4992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0" name="Text 16"/>
          <p:cNvSpPr txBox="1"/>
          <p:nvPr/>
        </p:nvSpPr>
        <p:spPr>
          <a:xfrm>
            <a:off x="1097280" y="4974336"/>
            <a:ext cx="3566160" cy="457200"/>
          </a:xfrm>
          <a:prstGeom prst="rect">
            <a:avLst/>
          </a:prstGeom>
          <a:noFill/>
          <a:ln/>
        </p:spPr>
        <p:txBody>
          <a:bodyPr wrap="square" lIns="0" tIns="0" rIns="0" bIns="0" rtlCol="0" anchor="ctr"/>
          <a:lstStyle/>
          <a:p>
            <a:pPr marL="0" indent="0">
              <a:buNone/>
            </a:pPr>
            <a:r>
              <a:rPr lang="en-US" sz="1800" b="1" dirty="0">
                <a:solidFill>
                  <a:schemeClr val="tx1"/>
                </a:solidFill>
              </a:rPr>
              <a:t>자치구별 가용 예산</a:t>
            </a:r>
            <a:endParaRPr lang="en-US" sz="1800" dirty="0"/>
          </a:p>
        </p:txBody>
      </p:sp>
      <p:sp>
        <p:nvSpPr>
          <p:cNvPr id="21" name="Text 17"/>
          <p:cNvSpPr txBox="1"/>
          <p:nvPr/>
        </p:nvSpPr>
        <p:spPr>
          <a:xfrm>
            <a:off x="548640" y="5522976"/>
            <a:ext cx="4023360" cy="365760"/>
          </a:xfrm>
          <a:prstGeom prst="rect">
            <a:avLst/>
          </a:prstGeom>
          <a:noFill/>
          <a:ln/>
        </p:spPr>
        <p:txBody>
          <a:bodyPr wrap="square" lIns="0" tIns="0" rIns="0" bIns="0" rtlCol="0" anchor="t"/>
          <a:lstStyle/>
          <a:p>
            <a:pPr marL="0" indent="0">
              <a:buNone/>
            </a:pPr>
            <a:r>
              <a:rPr lang="en-US" sz="1600" b="1" dirty="0">
                <a:solidFill>
                  <a:srgbClr val="2B5C8A"/>
                </a:solidFill>
              </a:rPr>
              <a:t>구마다 예산 − 임대비용</a:t>
            </a:r>
            <a:endParaRPr lang="en-US" sz="1600" dirty="0"/>
          </a:p>
        </p:txBody>
      </p:sp>
      <p:sp>
        <p:nvSpPr>
          <p:cNvPr id="22" name="Shape 18"/>
          <p:cNvSpPr/>
          <p:nvPr/>
        </p:nvSpPr>
        <p:spPr>
          <a:xfrm>
            <a:off x="4527612" y="3282696"/>
            <a:ext cx="346140" cy="0"/>
          </a:xfrm>
          <a:prstGeom prst="line">
            <a:avLst/>
          </a:prstGeom>
          <a:noFill/>
          <a:ln w="31750">
            <a:solidFill>
              <a:srgbClr val="FFFFFF"/>
            </a:solidFill>
            <a:prstDash val="solid"/>
            <a:tailEnd type="triangle"/>
          </a:ln>
        </p:spPr>
        <p:txBody>
          <a:bodyPr/>
          <a:lstStyle/>
          <a:p>
            <a:endParaRPr lang="ko-KR" altLang="en-US"/>
          </a:p>
        </p:txBody>
      </p:sp>
      <p:sp>
        <p:nvSpPr>
          <p:cNvPr id="23" name="임대료로 거르기 화면"/>
          <p:cNvSpPr/>
          <p:nvPr/>
        </p:nvSpPr>
        <p:spPr>
          <a:xfrm>
            <a:off x="4965192" y="1956816"/>
            <a:ext cx="3575141" cy="2834640"/>
          </a:xfrm>
          <a:prstGeom prst="roundRect">
            <a:avLst>
              <a:gd name="adj" fmla="val 2581"/>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4" name="Shape 20"/>
          <p:cNvSpPr/>
          <p:nvPr/>
        </p:nvSpPr>
        <p:spPr>
          <a:xfrm>
            <a:off x="5074920" y="2016252"/>
            <a:ext cx="64008" cy="64008"/>
          </a:xfrm>
          <a:prstGeom prst="ellipse">
            <a:avLst/>
          </a:prstGeom>
          <a:solidFill>
            <a:srgbClr val="FF5F57"/>
          </a:solidFill>
          <a:ln/>
        </p:spPr>
        <p:txBody>
          <a:bodyPr/>
          <a:lstStyle/>
          <a:p>
            <a:endParaRPr lang="ko-KR" altLang="en-US"/>
          </a:p>
        </p:txBody>
      </p:sp>
      <p:sp>
        <p:nvSpPr>
          <p:cNvPr id="25" name="Shape 21"/>
          <p:cNvSpPr/>
          <p:nvPr/>
        </p:nvSpPr>
        <p:spPr>
          <a:xfrm>
            <a:off x="5184648" y="2016252"/>
            <a:ext cx="64008" cy="64008"/>
          </a:xfrm>
          <a:prstGeom prst="ellipse">
            <a:avLst/>
          </a:prstGeom>
          <a:solidFill>
            <a:srgbClr val="FEBC2E"/>
          </a:solidFill>
          <a:ln/>
        </p:spPr>
        <p:txBody>
          <a:bodyPr/>
          <a:lstStyle/>
          <a:p>
            <a:endParaRPr lang="ko-KR" altLang="en-US"/>
          </a:p>
        </p:txBody>
      </p:sp>
      <p:sp>
        <p:nvSpPr>
          <p:cNvPr id="26" name="Shape 22"/>
          <p:cNvSpPr/>
          <p:nvPr/>
        </p:nvSpPr>
        <p:spPr>
          <a:xfrm>
            <a:off x="5294376" y="2016252"/>
            <a:ext cx="64008" cy="64008"/>
          </a:xfrm>
          <a:prstGeom prst="ellipse">
            <a:avLst/>
          </a:prstGeom>
          <a:solidFill>
            <a:srgbClr val="28C840"/>
          </a:solidFill>
          <a:ln/>
        </p:spPr>
        <p:txBody>
          <a:bodyPr/>
          <a:lstStyle/>
          <a:p>
            <a:endParaRPr lang="ko-KR" altLang="en-US"/>
          </a:p>
        </p:txBody>
      </p:sp>
      <p:pic>
        <p:nvPicPr>
          <p:cNvPr id="27" name="Image 2" descr="임대료로 거르기 화면"/>
          <p:cNvPicPr>
            <a:picLocks noChangeAspect="1"/>
          </p:cNvPicPr>
          <p:nvPr/>
        </p:nvPicPr>
        <p:blipFill>
          <a:blip r:embed="rId5"/>
          <a:stretch>
            <a:fillRect/>
          </a:stretch>
        </p:blipFill>
        <p:spPr>
          <a:xfrm>
            <a:off x="4965192" y="2139696"/>
            <a:ext cx="3575141" cy="2651760"/>
          </a:xfrm>
          <a:prstGeom prst="rect">
            <a:avLst/>
          </a:prstGeom>
        </p:spPr>
      </p:pic>
      <p:sp>
        <p:nvSpPr>
          <p:cNvPr id="28" name="Shape 23"/>
          <p:cNvSpPr/>
          <p:nvPr/>
        </p:nvSpPr>
        <p:spPr>
          <a:xfrm>
            <a:off x="4965192" y="4992624"/>
            <a:ext cx="420624" cy="420624"/>
          </a:xfrm>
          <a:prstGeom prst="ellipse">
            <a:avLst/>
          </a:prstGeom>
          <a:solidFill>
            <a:srgbClr val="2B5C8A"/>
          </a:solidFill>
          <a:ln/>
        </p:spPr>
        <p:txBody>
          <a:bodyPr/>
          <a:lstStyle/>
          <a:p>
            <a:endParaRPr lang="ko-KR" altLang="en-US"/>
          </a:p>
        </p:txBody>
      </p:sp>
      <p:sp>
        <p:nvSpPr>
          <p:cNvPr id="29" name="Text 24"/>
          <p:cNvSpPr txBox="1"/>
          <p:nvPr/>
        </p:nvSpPr>
        <p:spPr>
          <a:xfrm>
            <a:off x="4965192" y="4992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30" name="Text 25"/>
          <p:cNvSpPr txBox="1"/>
          <p:nvPr/>
        </p:nvSpPr>
        <p:spPr>
          <a:xfrm>
            <a:off x="5513832" y="4974336"/>
            <a:ext cx="3566160" cy="457200"/>
          </a:xfrm>
          <a:prstGeom prst="rect">
            <a:avLst/>
          </a:prstGeom>
          <a:noFill/>
          <a:ln/>
        </p:spPr>
        <p:txBody>
          <a:bodyPr wrap="square" lIns="0" tIns="0" rIns="0" bIns="0" rtlCol="0" anchor="ctr"/>
          <a:lstStyle/>
          <a:p>
            <a:pPr marL="0" indent="0">
              <a:buNone/>
            </a:pPr>
            <a:r>
              <a:rPr lang="en-US" sz="1800" b="1" dirty="0">
                <a:solidFill>
                  <a:schemeClr val="tx1"/>
                </a:solidFill>
              </a:rPr>
              <a:t>임대료로 거르기</a:t>
            </a:r>
            <a:endParaRPr lang="en-US" sz="1800" dirty="0"/>
          </a:p>
        </p:txBody>
      </p:sp>
      <p:sp>
        <p:nvSpPr>
          <p:cNvPr id="31" name="Text 26"/>
          <p:cNvSpPr txBox="1"/>
          <p:nvPr/>
        </p:nvSpPr>
        <p:spPr>
          <a:xfrm>
            <a:off x="4965192" y="5522976"/>
            <a:ext cx="4023360" cy="365760"/>
          </a:xfrm>
          <a:prstGeom prst="rect">
            <a:avLst/>
          </a:prstGeom>
          <a:noFill/>
          <a:ln/>
        </p:spPr>
        <p:txBody>
          <a:bodyPr wrap="square" lIns="0" tIns="0" rIns="0" bIns="0" rtlCol="0" anchor="t"/>
          <a:lstStyle/>
          <a:p>
            <a:pPr marL="0" indent="0">
              <a:buNone/>
            </a:pPr>
            <a:r>
              <a:rPr lang="en-US" sz="1600" b="1" dirty="0">
                <a:solidFill>
                  <a:srgbClr val="2B5C8A"/>
                </a:solidFill>
              </a:rPr>
              <a:t>감당 가능한 구 14곳만 통과</a:t>
            </a:r>
            <a:endParaRPr lang="en-US" sz="1600" dirty="0"/>
          </a:p>
        </p:txBody>
      </p:sp>
      <p:sp>
        <p:nvSpPr>
          <p:cNvPr id="32" name="Shape 27"/>
          <p:cNvSpPr/>
          <p:nvPr/>
        </p:nvSpPr>
        <p:spPr>
          <a:xfrm>
            <a:off x="8631773" y="3282696"/>
            <a:ext cx="393355" cy="0"/>
          </a:xfrm>
          <a:prstGeom prst="line">
            <a:avLst/>
          </a:prstGeom>
          <a:noFill/>
          <a:ln w="31750">
            <a:solidFill>
              <a:srgbClr val="FFFFFF"/>
            </a:solidFill>
            <a:prstDash val="solid"/>
            <a:tailEnd type="triangle"/>
          </a:ln>
        </p:spPr>
        <p:txBody>
          <a:bodyPr/>
          <a:lstStyle/>
          <a:p>
            <a:endParaRPr lang="ko-KR" altLang="en-US"/>
          </a:p>
        </p:txBody>
      </p:sp>
      <p:sp>
        <p:nvSpPr>
          <p:cNvPr id="33" name="행정동 순위 화면"/>
          <p:cNvSpPr/>
          <p:nvPr/>
        </p:nvSpPr>
        <p:spPr>
          <a:xfrm>
            <a:off x="9116568" y="1956816"/>
            <a:ext cx="2528201" cy="2834640"/>
          </a:xfrm>
          <a:prstGeom prst="roundRect">
            <a:avLst>
              <a:gd name="adj" fmla="val 2893"/>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4" name="Shape 29"/>
          <p:cNvSpPr/>
          <p:nvPr/>
        </p:nvSpPr>
        <p:spPr>
          <a:xfrm>
            <a:off x="9226296" y="2016252"/>
            <a:ext cx="64008" cy="64008"/>
          </a:xfrm>
          <a:prstGeom prst="ellipse">
            <a:avLst/>
          </a:prstGeom>
          <a:solidFill>
            <a:srgbClr val="FF5F57"/>
          </a:solidFill>
          <a:ln/>
        </p:spPr>
        <p:txBody>
          <a:bodyPr/>
          <a:lstStyle/>
          <a:p>
            <a:endParaRPr lang="ko-KR" altLang="en-US"/>
          </a:p>
        </p:txBody>
      </p:sp>
      <p:sp>
        <p:nvSpPr>
          <p:cNvPr id="35" name="Shape 30"/>
          <p:cNvSpPr/>
          <p:nvPr/>
        </p:nvSpPr>
        <p:spPr>
          <a:xfrm>
            <a:off x="9336024" y="2016252"/>
            <a:ext cx="64008" cy="64008"/>
          </a:xfrm>
          <a:prstGeom prst="ellipse">
            <a:avLst/>
          </a:prstGeom>
          <a:solidFill>
            <a:srgbClr val="FEBC2E"/>
          </a:solidFill>
          <a:ln/>
        </p:spPr>
        <p:txBody>
          <a:bodyPr/>
          <a:lstStyle/>
          <a:p>
            <a:endParaRPr lang="ko-KR" altLang="en-US"/>
          </a:p>
        </p:txBody>
      </p:sp>
      <p:sp>
        <p:nvSpPr>
          <p:cNvPr id="36" name="Shape 31"/>
          <p:cNvSpPr/>
          <p:nvPr/>
        </p:nvSpPr>
        <p:spPr>
          <a:xfrm>
            <a:off x="9445752" y="2016252"/>
            <a:ext cx="64008" cy="64008"/>
          </a:xfrm>
          <a:prstGeom prst="ellipse">
            <a:avLst/>
          </a:prstGeom>
          <a:solidFill>
            <a:srgbClr val="28C840"/>
          </a:solidFill>
          <a:ln/>
        </p:spPr>
        <p:txBody>
          <a:bodyPr/>
          <a:lstStyle/>
          <a:p>
            <a:endParaRPr lang="ko-KR" altLang="en-US"/>
          </a:p>
        </p:txBody>
      </p:sp>
      <p:pic>
        <p:nvPicPr>
          <p:cNvPr id="37" name="Image 3" descr="행정동 순위 화면"/>
          <p:cNvPicPr>
            <a:picLocks noChangeAspect="1"/>
          </p:cNvPicPr>
          <p:nvPr/>
        </p:nvPicPr>
        <p:blipFill>
          <a:blip r:embed="rId6"/>
          <a:stretch>
            <a:fillRect/>
          </a:stretch>
        </p:blipFill>
        <p:spPr>
          <a:xfrm>
            <a:off x="9116568" y="2139696"/>
            <a:ext cx="2528201" cy="2651760"/>
          </a:xfrm>
          <a:prstGeom prst="rect">
            <a:avLst/>
          </a:prstGeom>
        </p:spPr>
      </p:pic>
      <p:sp>
        <p:nvSpPr>
          <p:cNvPr id="38" name="Shape 32"/>
          <p:cNvSpPr/>
          <p:nvPr/>
        </p:nvSpPr>
        <p:spPr>
          <a:xfrm>
            <a:off x="9116568" y="4992624"/>
            <a:ext cx="420624" cy="420624"/>
          </a:xfrm>
          <a:prstGeom prst="ellipse">
            <a:avLst/>
          </a:prstGeom>
          <a:solidFill>
            <a:srgbClr val="2B5C8A"/>
          </a:solidFill>
          <a:ln/>
        </p:spPr>
        <p:txBody>
          <a:bodyPr/>
          <a:lstStyle/>
          <a:p>
            <a:endParaRPr lang="ko-KR" altLang="en-US"/>
          </a:p>
        </p:txBody>
      </p:sp>
      <p:sp>
        <p:nvSpPr>
          <p:cNvPr id="39" name="Text 33"/>
          <p:cNvSpPr txBox="1"/>
          <p:nvPr/>
        </p:nvSpPr>
        <p:spPr>
          <a:xfrm>
            <a:off x="9116568" y="4992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40" name="Text 34"/>
          <p:cNvSpPr txBox="1"/>
          <p:nvPr/>
        </p:nvSpPr>
        <p:spPr>
          <a:xfrm>
            <a:off x="9665208" y="4974336"/>
            <a:ext cx="3566160" cy="457200"/>
          </a:xfrm>
          <a:prstGeom prst="rect">
            <a:avLst/>
          </a:prstGeom>
          <a:noFill/>
          <a:ln/>
        </p:spPr>
        <p:txBody>
          <a:bodyPr wrap="square" lIns="0" tIns="0" rIns="0" bIns="0" rtlCol="0" anchor="ctr"/>
          <a:lstStyle/>
          <a:p>
            <a:pPr marL="0" indent="0">
              <a:buNone/>
            </a:pPr>
            <a:r>
              <a:rPr lang="en-US" sz="1800" b="1" dirty="0">
                <a:solidFill>
                  <a:schemeClr val="tx1"/>
                </a:solidFill>
              </a:rPr>
              <a:t>행정동 순위</a:t>
            </a:r>
            <a:endParaRPr lang="en-US" sz="1800" dirty="0"/>
          </a:p>
        </p:txBody>
      </p:sp>
      <p:sp>
        <p:nvSpPr>
          <p:cNvPr id="41" name="Text 35"/>
          <p:cNvSpPr txBox="1"/>
          <p:nvPr/>
        </p:nvSpPr>
        <p:spPr>
          <a:xfrm>
            <a:off x="9116568" y="5522976"/>
            <a:ext cx="4023360" cy="365760"/>
          </a:xfrm>
          <a:prstGeom prst="rect">
            <a:avLst/>
          </a:prstGeom>
          <a:noFill/>
          <a:ln/>
        </p:spPr>
        <p:txBody>
          <a:bodyPr wrap="square" lIns="0" tIns="0" rIns="0" bIns="0" rtlCol="0" anchor="t"/>
          <a:lstStyle/>
          <a:p>
            <a:pPr marL="0" indent="0">
              <a:buNone/>
            </a:pPr>
            <a:r>
              <a:rPr lang="en-US" sz="1600" b="1" dirty="0">
                <a:solidFill>
                  <a:srgbClr val="2B5C8A"/>
                </a:solidFill>
              </a:rPr>
              <a:t>1위 이문1동 · 90.9점</a:t>
            </a:r>
            <a:endParaRPr lang="en-US" sz="1600" dirty="0"/>
          </a:p>
        </p:txBody>
      </p:sp>
      <p:sp>
        <p:nvSpPr>
          <p:cNvPr id="42" name="Shape 36"/>
          <p:cNvSpPr/>
          <p:nvPr/>
        </p:nvSpPr>
        <p:spPr>
          <a:xfrm>
            <a:off x="9134856" y="2157984"/>
            <a:ext cx="2478024" cy="274320"/>
          </a:xfrm>
          <a:prstGeom prst="roundRect">
            <a:avLst>
              <a:gd name="adj" fmla="val 20000"/>
            </a:avLst>
          </a:prstGeom>
          <a:ln w="31750">
            <a:solidFill>
              <a:srgbClr val="E8902E"/>
            </a:solidFill>
            <a:prstDash val="solid"/>
          </a:ln>
        </p:spPr>
        <p:txBody>
          <a:bodyPr/>
          <a:lstStyle/>
          <a:p>
            <a:endParaRPr lang="ko-KR" altLang="en-US"/>
          </a:p>
        </p:txBody>
      </p:sp>
      <p:sp>
        <p:nvSpPr>
          <p:cNvPr id="43" name="Text 37"/>
          <p:cNvSpPr txBox="1"/>
          <p:nvPr/>
        </p:nvSpPr>
        <p:spPr>
          <a:xfrm>
            <a:off x="9116568" y="5888736"/>
            <a:ext cx="2651760" cy="457200"/>
          </a:xfrm>
          <a:prstGeom prst="rect">
            <a:avLst/>
          </a:prstGeom>
          <a:noFill/>
          <a:ln/>
        </p:spPr>
        <p:txBody>
          <a:bodyPr wrap="square" lIns="0" tIns="0" rIns="0" bIns="0" rtlCol="0" anchor="t"/>
          <a:lstStyle/>
          <a:p>
            <a:pPr marL="0" indent="0">
              <a:buNone/>
            </a:pPr>
            <a:r>
              <a:rPr lang="en-US" sz="1100" dirty="0">
                <a:solidFill>
                  <a:srgbClr val="66727C"/>
                </a:solidFill>
              </a:rPr>
              <a:t>점수 = 매출 60 · 생존 30 · 성장세 10</a:t>
            </a:r>
            <a:endParaRPr lang="en-US" sz="1100" dirty="0"/>
          </a:p>
        </p:txBody>
      </p:sp>
      <p:sp>
        <p:nvSpPr>
          <p:cNvPr id="44" name="Text 38"/>
          <p:cNvSpPr txBox="1"/>
          <p:nvPr/>
        </p:nvSpPr>
        <p:spPr>
          <a:xfrm>
            <a:off x="548640" y="6117336"/>
            <a:ext cx="7772400" cy="274320"/>
          </a:xfrm>
          <a:prstGeom prst="rect">
            <a:avLst/>
          </a:prstGeom>
          <a:noFill/>
          <a:ln/>
        </p:spPr>
        <p:txBody>
          <a:bodyPr wrap="square" lIns="0" tIns="0" rIns="0" bIns="0" rtlCol="0" anchor="t"/>
          <a:lstStyle/>
          <a:p>
            <a:pPr marL="0" indent="0">
              <a:buNone/>
            </a:pPr>
            <a:r>
              <a:rPr lang="en-US" sz="1100" dirty="0">
                <a:solidFill>
                  <a:srgbClr val="66727C"/>
                </a:solidFill>
              </a:rPr>
              <a:t>완료: 서버 API 18/18 · 화면 5/5 연동 (더미 데이터)   예정: 지원사업 실데이터</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데이터"/>
          <p:cNvPicPr>
            <a:picLocks noChangeAspect="1"/>
          </p:cNvPicPr>
          <p:nvPr/>
        </p:nvPicPr>
        <p:blipFill>
          <a:blip r:embed="rId3"/>
          <a:stretch>
            <a:fillRect/>
          </a:stretch>
        </p:blipFill>
        <p:spPr>
          <a:xfrm>
            <a:off x="5326228" y="292608"/>
            <a:ext cx="1539240"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노승민</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흩어진 공공데이터를 </a:t>
            </a:r>
            <a:r>
              <a:rPr lang="en-US" sz="2600" b="1" dirty="0">
                <a:solidFill>
                  <a:srgbClr val="2B5C8A"/>
                </a:solidFill>
              </a:rPr>
              <a:t>행정동 코드 8자리</a:t>
            </a:r>
            <a:r>
              <a:rPr lang="en-US" sz="2600" b="1" dirty="0">
                <a:solidFill>
                  <a:srgbClr val="22303A"/>
                </a:solidFill>
              </a:rPr>
              <a:t>로 통일</a:t>
            </a:r>
            <a:endParaRPr lang="en-US" sz="2600" dirty="0"/>
          </a:p>
        </p:txBody>
      </p:sp>
      <p:sp>
        <p:nvSpPr>
          <p:cNvPr id="10" name="Shape 7"/>
          <p:cNvSpPr/>
          <p:nvPr/>
        </p:nvSpPr>
        <p:spPr>
          <a:xfrm>
            <a:off x="548640" y="1737360"/>
            <a:ext cx="3429000" cy="548640"/>
          </a:xfrm>
          <a:prstGeom prst="roundRect">
            <a:avLst>
              <a:gd name="adj" fmla="val 16667"/>
            </a:avLst>
          </a:prstGeom>
          <a:solidFill>
            <a:srgbClr val="FFFFFF"/>
          </a:solidFill>
          <a:ln w="12700">
            <a:solidFill>
              <a:srgbClr val="DDE5E8"/>
            </a:solidFill>
            <a:prstDash val="solid"/>
          </a:ln>
        </p:spPr>
        <p:txBody>
          <a:bodyPr/>
          <a:lstStyle/>
          <a:p>
            <a:endParaRPr lang="ko-KR" altLang="en-US"/>
          </a:p>
        </p:txBody>
      </p:sp>
      <p:sp>
        <p:nvSpPr>
          <p:cNvPr id="11" name="Shape 8"/>
          <p:cNvSpPr/>
          <p:nvPr/>
        </p:nvSpPr>
        <p:spPr>
          <a:xfrm>
            <a:off x="640080" y="1801368"/>
            <a:ext cx="420624" cy="420624"/>
          </a:xfrm>
          <a:prstGeom prst="ellipse">
            <a:avLst/>
          </a:prstGeom>
          <a:solidFill>
            <a:srgbClr val="E4EDF5"/>
          </a:solidFill>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745236" y="1906524"/>
            <a:ext cx="210312" cy="210312"/>
          </a:xfrm>
          <a:prstGeom prst="rect">
            <a:avLst/>
          </a:prstGeom>
        </p:spPr>
      </p:pic>
      <p:sp>
        <p:nvSpPr>
          <p:cNvPr id="13" name="Text 9"/>
          <p:cNvSpPr txBox="1"/>
          <p:nvPr/>
        </p:nvSpPr>
        <p:spPr>
          <a:xfrm>
            <a:off x="1188720" y="1737360"/>
            <a:ext cx="2743200" cy="548640"/>
          </a:xfrm>
          <a:prstGeom prst="rect">
            <a:avLst/>
          </a:prstGeom>
          <a:noFill/>
          <a:ln/>
        </p:spPr>
        <p:txBody>
          <a:bodyPr wrap="square" lIns="0" tIns="0" rIns="0" bIns="0" rtlCol="0" anchor="ctr"/>
          <a:lstStyle/>
          <a:p>
            <a:pPr marL="0" indent="0">
              <a:buNone/>
            </a:pPr>
            <a:r>
              <a:rPr lang="en-US" sz="1400" b="1" dirty="0">
                <a:solidFill>
                  <a:schemeClr val="tx1"/>
                </a:solidFill>
              </a:rPr>
              <a:t>매출</a:t>
            </a:r>
            <a:r>
              <a:rPr lang="en-US" sz="1100" dirty="0">
                <a:solidFill>
                  <a:srgbClr val="66727C"/>
                </a:solidFill>
              </a:rPr>
              <a:t>   서울 열린데이터광장</a:t>
            </a:r>
            <a:endParaRPr lang="en-US" sz="1400" dirty="0"/>
          </a:p>
        </p:txBody>
      </p:sp>
      <p:sp>
        <p:nvSpPr>
          <p:cNvPr id="14" name="Shape 10"/>
          <p:cNvSpPr/>
          <p:nvPr/>
        </p:nvSpPr>
        <p:spPr>
          <a:xfrm>
            <a:off x="4023360" y="2011680"/>
            <a:ext cx="777240" cy="1417320"/>
          </a:xfrm>
          <a:prstGeom prst="line">
            <a:avLst/>
          </a:prstGeom>
          <a:noFill/>
          <a:ln w="22225">
            <a:solidFill>
              <a:srgbClr val="C9DAEA"/>
            </a:solidFill>
            <a:prstDash val="solid"/>
          </a:ln>
        </p:spPr>
        <p:txBody>
          <a:bodyPr/>
          <a:lstStyle/>
          <a:p>
            <a:endParaRPr lang="ko-KR" altLang="en-US"/>
          </a:p>
        </p:txBody>
      </p:sp>
      <p:sp>
        <p:nvSpPr>
          <p:cNvPr id="15" name="Shape 11"/>
          <p:cNvSpPr/>
          <p:nvPr/>
        </p:nvSpPr>
        <p:spPr>
          <a:xfrm>
            <a:off x="548640" y="2395728"/>
            <a:ext cx="3429000" cy="548640"/>
          </a:xfrm>
          <a:prstGeom prst="roundRect">
            <a:avLst>
              <a:gd name="adj" fmla="val 16667"/>
            </a:avLst>
          </a:prstGeom>
          <a:solidFill>
            <a:srgbClr val="FFFFFF"/>
          </a:solidFill>
          <a:ln w="12700">
            <a:solidFill>
              <a:srgbClr val="DDE5E8"/>
            </a:solidFill>
            <a:prstDash val="solid"/>
          </a:ln>
        </p:spPr>
        <p:txBody>
          <a:bodyPr/>
          <a:lstStyle/>
          <a:p>
            <a:endParaRPr lang="ko-KR" altLang="en-US"/>
          </a:p>
        </p:txBody>
      </p:sp>
      <p:sp>
        <p:nvSpPr>
          <p:cNvPr id="16" name="Shape 12"/>
          <p:cNvSpPr/>
          <p:nvPr/>
        </p:nvSpPr>
        <p:spPr>
          <a:xfrm>
            <a:off x="640080" y="2459736"/>
            <a:ext cx="420624" cy="420624"/>
          </a:xfrm>
          <a:prstGeom prst="ellipse">
            <a:avLst/>
          </a:prstGeom>
          <a:solidFill>
            <a:srgbClr val="E4EDF5"/>
          </a:solidFill>
          <a:ln/>
        </p:spPr>
        <p:txBody>
          <a:bodyPr/>
          <a:lstStyle/>
          <a:p>
            <a:endParaRPr lang="ko-KR" altLang="en-US"/>
          </a:p>
        </p:txBody>
      </p:sp>
      <p:pic>
        <p:nvPicPr>
          <p:cNvPr id="17" name="Image 2" descr="preencoded.png"/>
          <p:cNvPicPr>
            <a:picLocks noChangeAspect="1"/>
          </p:cNvPicPr>
          <p:nvPr/>
        </p:nvPicPr>
        <p:blipFill>
          <a:blip r:embed="rId5"/>
          <a:stretch>
            <a:fillRect/>
          </a:stretch>
        </p:blipFill>
        <p:spPr>
          <a:xfrm>
            <a:off x="745236" y="2564892"/>
            <a:ext cx="210312" cy="210312"/>
          </a:xfrm>
          <a:prstGeom prst="rect">
            <a:avLst/>
          </a:prstGeom>
        </p:spPr>
      </p:pic>
      <p:sp>
        <p:nvSpPr>
          <p:cNvPr id="18" name="Text 13"/>
          <p:cNvSpPr txBox="1"/>
          <p:nvPr/>
        </p:nvSpPr>
        <p:spPr>
          <a:xfrm>
            <a:off x="1188720" y="2395728"/>
            <a:ext cx="2743200" cy="548640"/>
          </a:xfrm>
          <a:prstGeom prst="rect">
            <a:avLst/>
          </a:prstGeom>
          <a:noFill/>
          <a:ln/>
        </p:spPr>
        <p:txBody>
          <a:bodyPr wrap="square" lIns="0" tIns="0" rIns="0" bIns="0" rtlCol="0" anchor="ctr"/>
          <a:lstStyle/>
          <a:p>
            <a:pPr marL="0" indent="0">
              <a:buNone/>
            </a:pPr>
            <a:r>
              <a:rPr lang="en-US" sz="1400" b="1" dirty="0">
                <a:solidFill>
                  <a:schemeClr val="tx1"/>
                </a:solidFill>
              </a:rPr>
              <a:t>점포</a:t>
            </a:r>
            <a:r>
              <a:rPr lang="en-US" sz="1100" dirty="0">
                <a:solidFill>
                  <a:srgbClr val="66727C"/>
                </a:solidFill>
              </a:rPr>
              <a:t>   서울 열린데이터광장</a:t>
            </a:r>
            <a:endParaRPr lang="en-US" sz="1400" dirty="0"/>
          </a:p>
        </p:txBody>
      </p:sp>
      <p:sp>
        <p:nvSpPr>
          <p:cNvPr id="19" name="Shape 14"/>
          <p:cNvSpPr/>
          <p:nvPr/>
        </p:nvSpPr>
        <p:spPr>
          <a:xfrm>
            <a:off x="4023360" y="2670048"/>
            <a:ext cx="777240" cy="758952"/>
          </a:xfrm>
          <a:prstGeom prst="line">
            <a:avLst/>
          </a:prstGeom>
          <a:noFill/>
          <a:ln w="22225">
            <a:solidFill>
              <a:srgbClr val="C9DAEA"/>
            </a:solidFill>
            <a:prstDash val="solid"/>
          </a:ln>
        </p:spPr>
        <p:txBody>
          <a:bodyPr/>
          <a:lstStyle/>
          <a:p>
            <a:endParaRPr lang="ko-KR" altLang="en-US"/>
          </a:p>
        </p:txBody>
      </p:sp>
      <p:sp>
        <p:nvSpPr>
          <p:cNvPr id="20" name="Shape 15"/>
          <p:cNvSpPr/>
          <p:nvPr/>
        </p:nvSpPr>
        <p:spPr>
          <a:xfrm>
            <a:off x="548640" y="3054096"/>
            <a:ext cx="3429000" cy="548640"/>
          </a:xfrm>
          <a:prstGeom prst="roundRect">
            <a:avLst>
              <a:gd name="adj" fmla="val 16667"/>
            </a:avLst>
          </a:prstGeom>
          <a:solidFill>
            <a:srgbClr val="FFFFFF"/>
          </a:solidFill>
          <a:ln w="12700">
            <a:solidFill>
              <a:srgbClr val="DDE5E8"/>
            </a:solidFill>
            <a:prstDash val="solid"/>
          </a:ln>
        </p:spPr>
        <p:txBody>
          <a:bodyPr/>
          <a:lstStyle/>
          <a:p>
            <a:endParaRPr lang="ko-KR" altLang="en-US"/>
          </a:p>
        </p:txBody>
      </p:sp>
      <p:sp>
        <p:nvSpPr>
          <p:cNvPr id="21" name="Shape 16"/>
          <p:cNvSpPr/>
          <p:nvPr/>
        </p:nvSpPr>
        <p:spPr>
          <a:xfrm>
            <a:off x="640080" y="3118104"/>
            <a:ext cx="420624" cy="420624"/>
          </a:xfrm>
          <a:prstGeom prst="ellipse">
            <a:avLst/>
          </a:prstGeom>
          <a:solidFill>
            <a:srgbClr val="E4EDF5"/>
          </a:solidFill>
          <a:ln/>
        </p:spPr>
        <p:txBody>
          <a:bodyPr/>
          <a:lstStyle/>
          <a:p>
            <a:endParaRPr lang="ko-KR" altLang="en-US"/>
          </a:p>
        </p:txBody>
      </p:sp>
      <p:pic>
        <p:nvPicPr>
          <p:cNvPr id="22" name="Image 3" descr="preencoded.png"/>
          <p:cNvPicPr>
            <a:picLocks noChangeAspect="1"/>
          </p:cNvPicPr>
          <p:nvPr/>
        </p:nvPicPr>
        <p:blipFill>
          <a:blip r:embed="rId6"/>
          <a:stretch>
            <a:fillRect/>
          </a:stretch>
        </p:blipFill>
        <p:spPr>
          <a:xfrm>
            <a:off x="745236" y="3223260"/>
            <a:ext cx="210312" cy="210312"/>
          </a:xfrm>
          <a:prstGeom prst="rect">
            <a:avLst/>
          </a:prstGeom>
        </p:spPr>
      </p:pic>
      <p:sp>
        <p:nvSpPr>
          <p:cNvPr id="23" name="Text 17"/>
          <p:cNvSpPr txBox="1"/>
          <p:nvPr/>
        </p:nvSpPr>
        <p:spPr>
          <a:xfrm>
            <a:off x="1188720" y="3054096"/>
            <a:ext cx="2743200" cy="548640"/>
          </a:xfrm>
          <a:prstGeom prst="rect">
            <a:avLst/>
          </a:prstGeom>
          <a:noFill/>
          <a:ln/>
        </p:spPr>
        <p:txBody>
          <a:bodyPr wrap="square" lIns="0" tIns="0" rIns="0" bIns="0" rtlCol="0" anchor="ctr"/>
          <a:lstStyle/>
          <a:p>
            <a:pPr marL="0" indent="0">
              <a:buNone/>
            </a:pPr>
            <a:r>
              <a:rPr lang="en-US" sz="1400" b="1" dirty="0">
                <a:solidFill>
                  <a:schemeClr val="tx1"/>
                </a:solidFill>
              </a:rPr>
              <a:t>유동인구</a:t>
            </a:r>
            <a:r>
              <a:rPr lang="en-US" sz="1100" dirty="0">
                <a:solidFill>
                  <a:srgbClr val="66727C"/>
                </a:solidFill>
              </a:rPr>
              <a:t>   서울 열린데이터광장</a:t>
            </a:r>
            <a:endParaRPr lang="en-US" sz="1400" dirty="0"/>
          </a:p>
        </p:txBody>
      </p:sp>
      <p:sp>
        <p:nvSpPr>
          <p:cNvPr id="24" name="Shape 18"/>
          <p:cNvSpPr/>
          <p:nvPr/>
        </p:nvSpPr>
        <p:spPr>
          <a:xfrm>
            <a:off x="4023360" y="3328416"/>
            <a:ext cx="777240" cy="100584"/>
          </a:xfrm>
          <a:prstGeom prst="line">
            <a:avLst/>
          </a:prstGeom>
          <a:noFill/>
          <a:ln w="22225">
            <a:solidFill>
              <a:srgbClr val="C9DAEA"/>
            </a:solidFill>
            <a:prstDash val="solid"/>
          </a:ln>
        </p:spPr>
        <p:txBody>
          <a:bodyPr/>
          <a:lstStyle/>
          <a:p>
            <a:endParaRPr lang="ko-KR" altLang="en-US"/>
          </a:p>
        </p:txBody>
      </p:sp>
      <p:sp>
        <p:nvSpPr>
          <p:cNvPr id="25" name="Shape 19"/>
          <p:cNvSpPr/>
          <p:nvPr/>
        </p:nvSpPr>
        <p:spPr>
          <a:xfrm>
            <a:off x="548640" y="3712464"/>
            <a:ext cx="3429000" cy="548640"/>
          </a:xfrm>
          <a:prstGeom prst="roundRect">
            <a:avLst>
              <a:gd name="adj" fmla="val 16667"/>
            </a:avLst>
          </a:prstGeom>
          <a:solidFill>
            <a:srgbClr val="FFFFFF"/>
          </a:solidFill>
          <a:ln w="12700">
            <a:solidFill>
              <a:srgbClr val="DDE5E8"/>
            </a:solidFill>
            <a:prstDash val="solid"/>
          </a:ln>
        </p:spPr>
        <p:txBody>
          <a:bodyPr/>
          <a:lstStyle/>
          <a:p>
            <a:endParaRPr lang="ko-KR" altLang="en-US"/>
          </a:p>
        </p:txBody>
      </p:sp>
      <p:sp>
        <p:nvSpPr>
          <p:cNvPr id="26" name="Shape 20"/>
          <p:cNvSpPr/>
          <p:nvPr/>
        </p:nvSpPr>
        <p:spPr>
          <a:xfrm>
            <a:off x="640080" y="3776472"/>
            <a:ext cx="420624" cy="420624"/>
          </a:xfrm>
          <a:prstGeom prst="ellipse">
            <a:avLst/>
          </a:prstGeom>
          <a:solidFill>
            <a:srgbClr val="E4EDF5"/>
          </a:solidFill>
          <a:ln/>
        </p:spPr>
        <p:txBody>
          <a:bodyPr/>
          <a:lstStyle/>
          <a:p>
            <a:endParaRPr lang="ko-KR" altLang="en-US"/>
          </a:p>
        </p:txBody>
      </p:sp>
      <p:pic>
        <p:nvPicPr>
          <p:cNvPr id="27" name="Image 4" descr="preencoded.png"/>
          <p:cNvPicPr>
            <a:picLocks noChangeAspect="1"/>
          </p:cNvPicPr>
          <p:nvPr/>
        </p:nvPicPr>
        <p:blipFill>
          <a:blip r:embed="rId7"/>
          <a:stretch>
            <a:fillRect/>
          </a:stretch>
        </p:blipFill>
        <p:spPr>
          <a:xfrm>
            <a:off x="745236" y="3881628"/>
            <a:ext cx="210312" cy="210312"/>
          </a:xfrm>
          <a:prstGeom prst="rect">
            <a:avLst/>
          </a:prstGeom>
        </p:spPr>
      </p:pic>
      <p:sp>
        <p:nvSpPr>
          <p:cNvPr id="28" name="Text 21"/>
          <p:cNvSpPr txBox="1"/>
          <p:nvPr/>
        </p:nvSpPr>
        <p:spPr>
          <a:xfrm>
            <a:off x="1188720" y="3712464"/>
            <a:ext cx="2743200" cy="548640"/>
          </a:xfrm>
          <a:prstGeom prst="rect">
            <a:avLst/>
          </a:prstGeom>
          <a:noFill/>
          <a:ln/>
        </p:spPr>
        <p:txBody>
          <a:bodyPr wrap="square" lIns="0" tIns="0" rIns="0" bIns="0" rtlCol="0" anchor="ctr"/>
          <a:lstStyle/>
          <a:p>
            <a:pPr marL="0" indent="0">
              <a:buNone/>
            </a:pPr>
            <a:r>
              <a:rPr lang="en-US" sz="1400" b="1" dirty="0">
                <a:solidFill>
                  <a:schemeClr val="tx1"/>
                </a:solidFill>
              </a:rPr>
              <a:t>개 · 폐업(인허가)</a:t>
            </a:r>
            <a:r>
              <a:rPr lang="en-US" sz="1100" dirty="0">
                <a:solidFill>
                  <a:srgbClr val="66727C"/>
                </a:solidFill>
              </a:rPr>
              <a:t>   LOCALDATA</a:t>
            </a:r>
            <a:endParaRPr lang="en-US" sz="1400" dirty="0"/>
          </a:p>
        </p:txBody>
      </p:sp>
      <p:sp>
        <p:nvSpPr>
          <p:cNvPr id="29" name="Shape 22"/>
          <p:cNvSpPr/>
          <p:nvPr/>
        </p:nvSpPr>
        <p:spPr>
          <a:xfrm flipV="1">
            <a:off x="4023360" y="3429000"/>
            <a:ext cx="777240" cy="557784"/>
          </a:xfrm>
          <a:prstGeom prst="line">
            <a:avLst/>
          </a:prstGeom>
          <a:noFill/>
          <a:ln w="22225">
            <a:solidFill>
              <a:srgbClr val="C9DAEA"/>
            </a:solidFill>
            <a:prstDash val="solid"/>
          </a:ln>
        </p:spPr>
        <p:txBody>
          <a:bodyPr/>
          <a:lstStyle/>
          <a:p>
            <a:endParaRPr lang="ko-KR" altLang="en-US"/>
          </a:p>
        </p:txBody>
      </p:sp>
      <p:sp>
        <p:nvSpPr>
          <p:cNvPr id="30" name="Shape 23"/>
          <p:cNvSpPr/>
          <p:nvPr/>
        </p:nvSpPr>
        <p:spPr>
          <a:xfrm>
            <a:off x="548640" y="4370832"/>
            <a:ext cx="3429000" cy="548640"/>
          </a:xfrm>
          <a:prstGeom prst="roundRect">
            <a:avLst>
              <a:gd name="adj" fmla="val 16667"/>
            </a:avLst>
          </a:prstGeom>
          <a:solidFill>
            <a:srgbClr val="FFFFFF"/>
          </a:solidFill>
          <a:ln w="12700">
            <a:solidFill>
              <a:srgbClr val="DDE5E8"/>
            </a:solidFill>
            <a:prstDash val="solid"/>
          </a:ln>
        </p:spPr>
        <p:txBody>
          <a:bodyPr/>
          <a:lstStyle/>
          <a:p>
            <a:endParaRPr lang="ko-KR" altLang="en-US"/>
          </a:p>
        </p:txBody>
      </p:sp>
      <p:sp>
        <p:nvSpPr>
          <p:cNvPr id="31" name="Shape 24"/>
          <p:cNvSpPr/>
          <p:nvPr/>
        </p:nvSpPr>
        <p:spPr>
          <a:xfrm>
            <a:off x="640080" y="4434840"/>
            <a:ext cx="420624" cy="420624"/>
          </a:xfrm>
          <a:prstGeom prst="ellipse">
            <a:avLst/>
          </a:prstGeom>
          <a:solidFill>
            <a:srgbClr val="E4EDF5"/>
          </a:solidFill>
          <a:ln/>
        </p:spPr>
        <p:txBody>
          <a:bodyPr/>
          <a:lstStyle/>
          <a:p>
            <a:endParaRPr lang="ko-KR" altLang="en-US"/>
          </a:p>
        </p:txBody>
      </p:sp>
      <p:pic>
        <p:nvPicPr>
          <p:cNvPr id="32" name="Image 5" descr="preencoded.png"/>
          <p:cNvPicPr>
            <a:picLocks noChangeAspect="1"/>
          </p:cNvPicPr>
          <p:nvPr/>
        </p:nvPicPr>
        <p:blipFill>
          <a:blip r:embed="rId8"/>
          <a:stretch>
            <a:fillRect/>
          </a:stretch>
        </p:blipFill>
        <p:spPr>
          <a:xfrm>
            <a:off x="745236" y="4539996"/>
            <a:ext cx="210312" cy="210312"/>
          </a:xfrm>
          <a:prstGeom prst="rect">
            <a:avLst/>
          </a:prstGeom>
        </p:spPr>
      </p:pic>
      <p:sp>
        <p:nvSpPr>
          <p:cNvPr id="33" name="Text 25"/>
          <p:cNvSpPr txBox="1"/>
          <p:nvPr/>
        </p:nvSpPr>
        <p:spPr>
          <a:xfrm>
            <a:off x="1188720" y="4370832"/>
            <a:ext cx="2743200" cy="548640"/>
          </a:xfrm>
          <a:prstGeom prst="rect">
            <a:avLst/>
          </a:prstGeom>
          <a:noFill/>
          <a:ln/>
        </p:spPr>
        <p:txBody>
          <a:bodyPr wrap="square" lIns="0" tIns="0" rIns="0" bIns="0" rtlCol="0" anchor="ctr"/>
          <a:lstStyle/>
          <a:p>
            <a:pPr marL="0" indent="0">
              <a:buNone/>
            </a:pPr>
            <a:r>
              <a:rPr lang="en-US" sz="1400" b="1" dirty="0">
                <a:solidFill>
                  <a:schemeClr val="tx1"/>
                </a:solidFill>
              </a:rPr>
              <a:t>임대료</a:t>
            </a:r>
            <a:r>
              <a:rPr lang="en-US" sz="1100" dirty="0">
                <a:solidFill>
                  <a:srgbClr val="66727C"/>
                </a:solidFill>
              </a:rPr>
              <a:t>   한국부동산원</a:t>
            </a:r>
            <a:endParaRPr lang="en-US" sz="1400" dirty="0"/>
          </a:p>
        </p:txBody>
      </p:sp>
      <p:sp>
        <p:nvSpPr>
          <p:cNvPr id="34" name="Shape 26"/>
          <p:cNvSpPr/>
          <p:nvPr/>
        </p:nvSpPr>
        <p:spPr>
          <a:xfrm flipV="1">
            <a:off x="4023360" y="3429000"/>
            <a:ext cx="777240" cy="1216152"/>
          </a:xfrm>
          <a:prstGeom prst="line">
            <a:avLst/>
          </a:prstGeom>
          <a:noFill/>
          <a:ln w="22225">
            <a:solidFill>
              <a:srgbClr val="C9DAEA"/>
            </a:solidFill>
            <a:prstDash val="solid"/>
          </a:ln>
        </p:spPr>
        <p:txBody>
          <a:bodyPr/>
          <a:lstStyle/>
          <a:p>
            <a:endParaRPr lang="ko-KR" altLang="en-US"/>
          </a:p>
        </p:txBody>
      </p:sp>
      <p:sp>
        <p:nvSpPr>
          <p:cNvPr id="35" name="Shape 27"/>
          <p:cNvSpPr/>
          <p:nvPr/>
        </p:nvSpPr>
        <p:spPr>
          <a:xfrm>
            <a:off x="4754880" y="2377440"/>
            <a:ext cx="2103120" cy="2103120"/>
          </a:xfrm>
          <a:prstGeom prst="ellipse">
            <a:avLst/>
          </a:prstGeom>
          <a:solidFill>
            <a:srgbClr val="2B5C8A"/>
          </a:solidFill>
          <a:ln w="76200">
            <a:solidFill>
              <a:srgbClr val="C9DAEA"/>
            </a:solidFill>
            <a:prstDash val="solid"/>
          </a:ln>
        </p:spPr>
        <p:txBody>
          <a:bodyPr/>
          <a:lstStyle/>
          <a:p>
            <a:endParaRPr lang="ko-KR" altLang="en-US"/>
          </a:p>
        </p:txBody>
      </p:sp>
      <p:sp>
        <p:nvSpPr>
          <p:cNvPr id="36" name="Text 28"/>
          <p:cNvSpPr txBox="1"/>
          <p:nvPr/>
        </p:nvSpPr>
        <p:spPr>
          <a:xfrm>
            <a:off x="4754880" y="2377440"/>
            <a:ext cx="2103120" cy="2103120"/>
          </a:xfrm>
          <a:prstGeom prst="rect">
            <a:avLst/>
          </a:prstGeom>
          <a:noFill/>
          <a:ln/>
        </p:spPr>
        <p:txBody>
          <a:bodyPr wrap="square" lIns="0" tIns="0" rIns="0" bIns="0" rtlCol="0" anchor="ctr"/>
          <a:lstStyle/>
          <a:p>
            <a:pPr marL="0" indent="0" algn="ctr">
              <a:buNone/>
            </a:pPr>
            <a:r>
              <a:rPr lang="en-US" sz="1600" b="1" dirty="0">
                <a:solidFill>
                  <a:srgbClr val="FFFFFF"/>
                </a:solidFill>
              </a:rPr>
              <a:t>행정동 코드</a:t>
            </a:r>
            <a:endParaRPr lang="en-US" sz="1400" dirty="0"/>
          </a:p>
          <a:p>
            <a:pPr marL="0" indent="0" algn="ctr">
              <a:buNone/>
            </a:pPr>
            <a:r>
              <a:rPr lang="en-US" sz="3000" b="1" dirty="0">
                <a:solidFill>
                  <a:srgbClr val="FFFFFF"/>
                </a:solidFill>
              </a:rPr>
              <a:t>8자리</a:t>
            </a:r>
            <a:endParaRPr lang="en-US" sz="1400" dirty="0"/>
          </a:p>
          <a:p>
            <a:pPr marL="0" indent="0" algn="ctr">
              <a:buNone/>
            </a:pPr>
            <a:r>
              <a:rPr lang="en-US" sz="1000" dirty="0">
                <a:solidFill>
                  <a:srgbClr val="C9DAEA"/>
                </a:solidFill>
              </a:rPr>
              <a:t>11230740 = 이문1동</a:t>
            </a:r>
            <a:endParaRPr lang="en-US" sz="1400" dirty="0"/>
          </a:p>
        </p:txBody>
      </p:sp>
      <p:sp>
        <p:nvSpPr>
          <p:cNvPr id="37" name="Shape 29"/>
          <p:cNvSpPr/>
          <p:nvPr/>
        </p:nvSpPr>
        <p:spPr>
          <a:xfrm>
            <a:off x="6949440" y="3429000"/>
            <a:ext cx="502920" cy="0"/>
          </a:xfrm>
          <a:prstGeom prst="line">
            <a:avLst/>
          </a:prstGeom>
          <a:noFill/>
          <a:ln w="31750">
            <a:solidFill>
              <a:srgbClr val="2B5C8A"/>
            </a:solidFill>
            <a:prstDash val="solid"/>
            <a:tailEnd type="triangle"/>
          </a:ln>
        </p:spPr>
        <p:txBody>
          <a:bodyPr/>
          <a:lstStyle/>
          <a:p>
            <a:endParaRPr lang="ko-KR" altLang="en-US"/>
          </a:p>
        </p:txBody>
      </p:sp>
      <p:sp>
        <p:nvSpPr>
          <p:cNvPr id="38" name="자치구"/>
          <p:cNvSpPr/>
          <p:nvPr/>
        </p:nvSpPr>
        <p:spPr>
          <a:xfrm>
            <a:off x="7589520" y="1737360"/>
            <a:ext cx="1965960" cy="1508760"/>
          </a:xfrm>
          <a:prstGeom prst="roundRect">
            <a:avLst>
              <a:gd name="adj" fmla="val 8485"/>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9" name="Text 31"/>
          <p:cNvSpPr txBox="1"/>
          <p:nvPr/>
        </p:nvSpPr>
        <p:spPr>
          <a:xfrm>
            <a:off x="7589520" y="1993392"/>
            <a:ext cx="1965960" cy="685800"/>
          </a:xfrm>
          <a:prstGeom prst="rect">
            <a:avLst/>
          </a:prstGeom>
          <a:noFill/>
          <a:ln/>
        </p:spPr>
        <p:txBody>
          <a:bodyPr wrap="square" lIns="0" tIns="0" rIns="0" bIns="0" rtlCol="0" anchor="t"/>
          <a:lstStyle/>
          <a:p>
            <a:pPr marL="0" indent="0" algn="ctr">
              <a:buNone/>
            </a:pPr>
            <a:r>
              <a:rPr lang="en-US" sz="3800" b="1" dirty="0">
                <a:solidFill>
                  <a:srgbClr val="2B5C8A"/>
                </a:solidFill>
              </a:rPr>
              <a:t>25</a:t>
            </a:r>
            <a:endParaRPr lang="en-US" sz="3800" dirty="0"/>
          </a:p>
        </p:txBody>
      </p:sp>
      <p:sp>
        <p:nvSpPr>
          <p:cNvPr id="40" name="Text 32"/>
          <p:cNvSpPr txBox="1"/>
          <p:nvPr/>
        </p:nvSpPr>
        <p:spPr>
          <a:xfrm>
            <a:off x="7589520" y="2715768"/>
            <a:ext cx="1965960" cy="320040"/>
          </a:xfrm>
          <a:prstGeom prst="rect">
            <a:avLst/>
          </a:prstGeom>
          <a:noFill/>
          <a:ln/>
        </p:spPr>
        <p:txBody>
          <a:bodyPr wrap="square" lIns="0" tIns="0" rIns="0" bIns="0" rtlCol="0" anchor="t"/>
          <a:lstStyle/>
          <a:p>
            <a:pPr marL="0" indent="0" algn="ctr">
              <a:buNone/>
            </a:pPr>
            <a:r>
              <a:rPr lang="en-US" sz="1400" dirty="0">
                <a:solidFill>
                  <a:srgbClr val="66727C"/>
                </a:solidFill>
              </a:rPr>
              <a:t>자치구</a:t>
            </a:r>
            <a:endParaRPr lang="en-US" sz="1400" dirty="0"/>
          </a:p>
        </p:txBody>
      </p:sp>
      <p:sp>
        <p:nvSpPr>
          <p:cNvPr id="41" name="행정동"/>
          <p:cNvSpPr/>
          <p:nvPr/>
        </p:nvSpPr>
        <p:spPr>
          <a:xfrm>
            <a:off x="9674352" y="1737360"/>
            <a:ext cx="1965960" cy="1508760"/>
          </a:xfrm>
          <a:prstGeom prst="roundRect">
            <a:avLst>
              <a:gd name="adj" fmla="val 8485"/>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2" name="Text 34"/>
          <p:cNvSpPr txBox="1"/>
          <p:nvPr/>
        </p:nvSpPr>
        <p:spPr>
          <a:xfrm>
            <a:off x="9674352" y="1993392"/>
            <a:ext cx="1965960" cy="685800"/>
          </a:xfrm>
          <a:prstGeom prst="rect">
            <a:avLst/>
          </a:prstGeom>
          <a:noFill/>
          <a:ln/>
        </p:spPr>
        <p:txBody>
          <a:bodyPr wrap="square" lIns="0" tIns="0" rIns="0" bIns="0" rtlCol="0" anchor="t"/>
          <a:lstStyle/>
          <a:p>
            <a:pPr marL="0" indent="0" algn="ctr">
              <a:buNone/>
            </a:pPr>
            <a:r>
              <a:rPr lang="en-US" sz="3800" b="1" dirty="0">
                <a:solidFill>
                  <a:srgbClr val="2B5C8A"/>
                </a:solidFill>
              </a:rPr>
              <a:t>425</a:t>
            </a:r>
            <a:endParaRPr lang="en-US" sz="3800" dirty="0"/>
          </a:p>
        </p:txBody>
      </p:sp>
      <p:sp>
        <p:nvSpPr>
          <p:cNvPr id="43" name="Text 35"/>
          <p:cNvSpPr txBox="1"/>
          <p:nvPr/>
        </p:nvSpPr>
        <p:spPr>
          <a:xfrm>
            <a:off x="9674352" y="2715768"/>
            <a:ext cx="1965960" cy="320040"/>
          </a:xfrm>
          <a:prstGeom prst="rect">
            <a:avLst/>
          </a:prstGeom>
          <a:noFill/>
          <a:ln/>
        </p:spPr>
        <p:txBody>
          <a:bodyPr wrap="square" lIns="0" tIns="0" rIns="0" bIns="0" rtlCol="0" anchor="t"/>
          <a:lstStyle/>
          <a:p>
            <a:pPr marL="0" indent="0" algn="ctr">
              <a:buNone/>
            </a:pPr>
            <a:r>
              <a:rPr lang="en-US" sz="1400" dirty="0">
                <a:solidFill>
                  <a:srgbClr val="66727C"/>
                </a:solidFill>
              </a:rPr>
              <a:t>행정동</a:t>
            </a:r>
            <a:endParaRPr lang="en-US" sz="1400" dirty="0"/>
          </a:p>
        </p:txBody>
      </p:sp>
      <p:sp>
        <p:nvSpPr>
          <p:cNvPr id="44" name="업종"/>
          <p:cNvSpPr/>
          <p:nvPr/>
        </p:nvSpPr>
        <p:spPr>
          <a:xfrm>
            <a:off x="7589520" y="3401568"/>
            <a:ext cx="1965960" cy="1508760"/>
          </a:xfrm>
          <a:prstGeom prst="roundRect">
            <a:avLst>
              <a:gd name="adj" fmla="val 8485"/>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5" name="Text 37"/>
          <p:cNvSpPr txBox="1"/>
          <p:nvPr/>
        </p:nvSpPr>
        <p:spPr>
          <a:xfrm>
            <a:off x="7589520" y="3657600"/>
            <a:ext cx="1965960" cy="685800"/>
          </a:xfrm>
          <a:prstGeom prst="rect">
            <a:avLst/>
          </a:prstGeom>
          <a:noFill/>
          <a:ln/>
        </p:spPr>
        <p:txBody>
          <a:bodyPr wrap="square" lIns="0" tIns="0" rIns="0" bIns="0" rtlCol="0" anchor="t"/>
          <a:lstStyle/>
          <a:p>
            <a:pPr marL="0" indent="0" algn="ctr">
              <a:buNone/>
            </a:pPr>
            <a:r>
              <a:rPr lang="en-US" sz="3800" b="1" dirty="0">
                <a:solidFill>
                  <a:srgbClr val="2B5C8A"/>
                </a:solidFill>
              </a:rPr>
              <a:t>100</a:t>
            </a:r>
            <a:endParaRPr lang="en-US" sz="3800" dirty="0"/>
          </a:p>
        </p:txBody>
      </p:sp>
      <p:sp>
        <p:nvSpPr>
          <p:cNvPr id="46" name="Text 38"/>
          <p:cNvSpPr txBox="1"/>
          <p:nvPr/>
        </p:nvSpPr>
        <p:spPr>
          <a:xfrm>
            <a:off x="7589520" y="4379976"/>
            <a:ext cx="1965960" cy="320040"/>
          </a:xfrm>
          <a:prstGeom prst="rect">
            <a:avLst/>
          </a:prstGeom>
          <a:noFill/>
          <a:ln/>
        </p:spPr>
        <p:txBody>
          <a:bodyPr wrap="square" lIns="0" tIns="0" rIns="0" bIns="0" rtlCol="0" anchor="t"/>
          <a:lstStyle/>
          <a:p>
            <a:pPr marL="0" indent="0" algn="ctr">
              <a:buNone/>
            </a:pPr>
            <a:r>
              <a:rPr lang="en-US" sz="1400" dirty="0">
                <a:solidFill>
                  <a:srgbClr val="66727C"/>
                </a:solidFill>
              </a:rPr>
              <a:t>업종</a:t>
            </a:r>
            <a:endParaRPr lang="en-US" sz="1400" dirty="0"/>
          </a:p>
        </p:txBody>
      </p:sp>
      <p:sp>
        <p:nvSpPr>
          <p:cNvPr id="47" name="인허가 기록"/>
          <p:cNvSpPr/>
          <p:nvPr/>
        </p:nvSpPr>
        <p:spPr>
          <a:xfrm>
            <a:off x="9674352" y="3401568"/>
            <a:ext cx="1965960" cy="1508760"/>
          </a:xfrm>
          <a:prstGeom prst="roundRect">
            <a:avLst>
              <a:gd name="adj" fmla="val 8485"/>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8" name="Text 40"/>
          <p:cNvSpPr txBox="1"/>
          <p:nvPr/>
        </p:nvSpPr>
        <p:spPr>
          <a:xfrm>
            <a:off x="9674352" y="3657600"/>
            <a:ext cx="1965960" cy="685800"/>
          </a:xfrm>
          <a:prstGeom prst="rect">
            <a:avLst/>
          </a:prstGeom>
          <a:noFill/>
          <a:ln/>
        </p:spPr>
        <p:txBody>
          <a:bodyPr wrap="square" lIns="0" tIns="0" rIns="0" bIns="0" rtlCol="0" anchor="t"/>
          <a:lstStyle/>
          <a:p>
            <a:pPr marL="0" indent="0" algn="ctr">
              <a:buNone/>
            </a:pPr>
            <a:r>
              <a:rPr lang="en-US" sz="3800" b="1" dirty="0">
                <a:solidFill>
                  <a:srgbClr val="2B5C8A"/>
                </a:solidFill>
              </a:rPr>
              <a:t>82만</a:t>
            </a:r>
            <a:endParaRPr lang="en-US" sz="3800" dirty="0"/>
          </a:p>
        </p:txBody>
      </p:sp>
      <p:sp>
        <p:nvSpPr>
          <p:cNvPr id="49" name="Text 41"/>
          <p:cNvSpPr txBox="1"/>
          <p:nvPr/>
        </p:nvSpPr>
        <p:spPr>
          <a:xfrm>
            <a:off x="9674352" y="4379976"/>
            <a:ext cx="1965960" cy="320040"/>
          </a:xfrm>
          <a:prstGeom prst="rect">
            <a:avLst/>
          </a:prstGeom>
          <a:noFill/>
          <a:ln/>
        </p:spPr>
        <p:txBody>
          <a:bodyPr wrap="square" lIns="0" tIns="0" rIns="0" bIns="0" rtlCol="0" anchor="t"/>
          <a:lstStyle/>
          <a:p>
            <a:pPr marL="0" indent="0" algn="ctr">
              <a:buNone/>
            </a:pPr>
            <a:r>
              <a:rPr lang="en-US" sz="1400" dirty="0">
                <a:solidFill>
                  <a:srgbClr val="66727C"/>
                </a:solidFill>
              </a:rPr>
              <a:t>인허가 기록</a:t>
            </a:r>
            <a:endParaRPr lang="en-US" sz="1400" dirty="0"/>
          </a:p>
        </p:txBody>
      </p:sp>
      <p:sp>
        <p:nvSpPr>
          <p:cNvPr id="50" name="Text 42"/>
          <p:cNvSpPr txBox="1"/>
          <p:nvPr/>
        </p:nvSpPr>
        <p:spPr>
          <a:xfrm>
            <a:off x="7589520" y="5029200"/>
            <a:ext cx="4050792" cy="274320"/>
          </a:xfrm>
          <a:prstGeom prst="rect">
            <a:avLst/>
          </a:prstGeom>
          <a:noFill/>
          <a:ln/>
        </p:spPr>
        <p:txBody>
          <a:bodyPr wrap="square" lIns="0" tIns="0" rIns="0" bIns="0" rtlCol="0" anchor="t"/>
          <a:lstStyle/>
          <a:p>
            <a:pPr marL="0" indent="0" algn="ctr">
              <a:buNone/>
            </a:pPr>
            <a:r>
              <a:rPr lang="en-US" sz="1100" dirty="0">
                <a:solidFill>
                  <a:srgbClr val="98A4AC"/>
                </a:solidFill>
              </a:rPr>
              <a:t>DB 적재</a:t>
            </a:r>
            <a:endParaRPr lang="en-US" sz="1100" dirty="0"/>
          </a:p>
        </p:txBody>
      </p:sp>
      <p:sp>
        <p:nvSpPr>
          <p:cNvPr id="51" name="Shape 43"/>
          <p:cNvSpPr/>
          <p:nvPr/>
        </p:nvSpPr>
        <p:spPr>
          <a:xfrm>
            <a:off x="548640" y="5486400"/>
            <a:ext cx="11091672" cy="566928"/>
          </a:xfrm>
          <a:prstGeom prst="roundRect">
            <a:avLst>
              <a:gd name="adj" fmla="val 50000"/>
            </a:avLst>
          </a:prstGeom>
          <a:solidFill>
            <a:srgbClr val="E4EDF5"/>
          </a:solidFill>
          <a:ln/>
        </p:spPr>
        <p:txBody>
          <a:bodyPr/>
          <a:lstStyle/>
          <a:p>
            <a:endParaRPr lang="ko-KR" altLang="en-US"/>
          </a:p>
        </p:txBody>
      </p:sp>
      <p:sp>
        <p:nvSpPr>
          <p:cNvPr id="52" name="Text 44"/>
          <p:cNvSpPr txBox="1"/>
          <p:nvPr/>
        </p:nvSpPr>
        <p:spPr>
          <a:xfrm>
            <a:off x="548640" y="5486400"/>
            <a:ext cx="11091672" cy="566928"/>
          </a:xfrm>
          <a:prstGeom prst="rect">
            <a:avLst/>
          </a:prstGeom>
          <a:noFill/>
          <a:ln/>
        </p:spPr>
        <p:txBody>
          <a:bodyPr wrap="square" lIns="0" tIns="0" rIns="0" bIns="0" rtlCol="0" anchor="ctr"/>
          <a:lstStyle/>
          <a:p>
            <a:pPr marL="0" indent="0" algn="ctr">
              <a:buNone/>
            </a:pPr>
            <a:r>
              <a:rPr lang="en-US" sz="1400" dirty="0">
                <a:solidFill>
                  <a:schemeClr val="tx1"/>
                </a:solidFill>
              </a:rPr>
              <a:t>인허가 자료는 주소 · 좌표뿐 </a:t>
            </a:r>
            <a:r>
              <a:rPr lang="en-US" sz="1400" b="1" dirty="0">
                <a:solidFill>
                  <a:srgbClr val="1F3F5E"/>
                </a:solidFill>
              </a:rPr>
              <a:t>→ 행정동 경계와 공간 조인으로 코드 부여, 업종명도 상권 업종 코드에 매핑</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임대료"/>
          <p:cNvPicPr>
            <a:picLocks noChangeAspect="1"/>
          </p:cNvPicPr>
          <p:nvPr/>
        </p:nvPicPr>
        <p:blipFill>
          <a:blip r:embed="rId3"/>
          <a:stretch>
            <a:fillRect/>
          </a:stretch>
        </p:blipFill>
        <p:spPr>
          <a:xfrm>
            <a:off x="5326228" y="292608"/>
            <a:ext cx="1539240"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D5DEE2"/>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노승민</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임대료는 </a:t>
            </a:r>
            <a:r>
              <a:rPr lang="en-US" sz="2600" b="1" dirty="0">
                <a:solidFill>
                  <a:srgbClr val="2B5C8A"/>
                </a:solidFill>
              </a:rPr>
              <a:t>자치구 단위</a:t>
            </a:r>
            <a:r>
              <a:rPr lang="en-US" sz="2600" b="1" dirty="0">
                <a:solidFill>
                  <a:srgbClr val="22303A"/>
                </a:solidFill>
              </a:rPr>
              <a:t>로 씁니다</a:t>
            </a:r>
            <a:endParaRPr lang="en-US" sz="2600" dirty="0"/>
          </a:p>
        </p:txBody>
      </p:sp>
      <p:pic>
        <p:nvPicPr>
          <p:cNvPr id="10" name="Image 1" descr="자치구별 평균 임대료 지도"/>
          <p:cNvPicPr>
            <a:picLocks noChangeAspect="1"/>
          </p:cNvPicPr>
          <p:nvPr/>
        </p:nvPicPr>
        <p:blipFill>
          <a:blip r:embed="rId4"/>
          <a:stretch>
            <a:fillRect/>
          </a:stretch>
        </p:blipFill>
        <p:spPr>
          <a:xfrm>
            <a:off x="457200" y="1691640"/>
            <a:ext cx="7955280" cy="4315739"/>
          </a:xfrm>
          <a:prstGeom prst="rect">
            <a:avLst/>
          </a:prstGeom>
        </p:spPr>
      </p:pic>
      <p:sp>
        <p:nvSpPr>
          <p:cNvPr id="11" name="59곳"/>
          <p:cNvSpPr/>
          <p:nvPr/>
        </p:nvSpPr>
        <p:spPr>
          <a:xfrm>
            <a:off x="8641080" y="1783080"/>
            <a:ext cx="2999232" cy="1207008"/>
          </a:xfrm>
          <a:prstGeom prst="roundRect">
            <a:avLst>
              <a:gd name="adj" fmla="val 10606"/>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2" name="Text 8"/>
          <p:cNvSpPr txBox="1"/>
          <p:nvPr/>
        </p:nvSpPr>
        <p:spPr>
          <a:xfrm>
            <a:off x="8869680" y="1920240"/>
            <a:ext cx="2651760" cy="502920"/>
          </a:xfrm>
          <a:prstGeom prst="rect">
            <a:avLst/>
          </a:prstGeom>
          <a:noFill/>
          <a:ln/>
        </p:spPr>
        <p:txBody>
          <a:bodyPr wrap="square" lIns="0" tIns="0" rIns="0" bIns="0" rtlCol="0" anchor="t"/>
          <a:lstStyle/>
          <a:p>
            <a:pPr marL="0" indent="0">
              <a:buNone/>
            </a:pPr>
            <a:r>
              <a:rPr lang="en-US" sz="2400" b="1" dirty="0">
                <a:solidFill>
                  <a:srgbClr val="2B5C8A"/>
                </a:solidFill>
              </a:rPr>
              <a:t>59곳</a:t>
            </a:r>
            <a:endParaRPr lang="en-US" sz="2400" dirty="0"/>
          </a:p>
        </p:txBody>
      </p:sp>
      <p:sp>
        <p:nvSpPr>
          <p:cNvPr id="13" name="Text 9"/>
          <p:cNvSpPr txBox="1"/>
          <p:nvPr/>
        </p:nvSpPr>
        <p:spPr>
          <a:xfrm>
            <a:off x="8869680" y="2423160"/>
            <a:ext cx="2651760" cy="502920"/>
          </a:xfrm>
          <a:prstGeom prst="rect">
            <a:avLst/>
          </a:prstGeom>
          <a:noFill/>
          <a:ln/>
        </p:spPr>
        <p:txBody>
          <a:bodyPr wrap="square" lIns="0" tIns="0" rIns="0" bIns="0" rtlCol="0" anchor="t"/>
          <a:lstStyle/>
          <a:p>
            <a:pPr marL="0" indent="0">
              <a:buNone/>
            </a:pPr>
            <a:r>
              <a:rPr lang="en-US" sz="1150" dirty="0">
                <a:solidFill>
                  <a:srgbClr val="4A5568"/>
                </a:solidFill>
              </a:rPr>
              <a:t>서울 공식 상가 임대료 조사 상권</a:t>
            </a:r>
            <a:endParaRPr lang="en-US" sz="1150" dirty="0"/>
          </a:p>
          <a:p>
            <a:pPr marL="0" indent="0">
              <a:buNone/>
            </a:pPr>
            <a:r>
              <a:rPr lang="en-US" sz="1150" dirty="0">
                <a:solidFill>
                  <a:srgbClr val="4A5568"/>
                </a:solidFill>
              </a:rPr>
              <a:t>→ 행정동 단위로는 부족</a:t>
            </a:r>
            <a:endParaRPr lang="en-US" sz="1150" dirty="0"/>
          </a:p>
        </p:txBody>
      </p:sp>
      <p:sp>
        <p:nvSpPr>
          <p:cNvPr id="14" name="확인불가"/>
          <p:cNvSpPr/>
          <p:nvPr/>
        </p:nvSpPr>
        <p:spPr>
          <a:xfrm>
            <a:off x="8641080" y="3154680"/>
            <a:ext cx="2999232" cy="1207008"/>
          </a:xfrm>
          <a:prstGeom prst="roundRect">
            <a:avLst>
              <a:gd name="adj" fmla="val 10606"/>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5" name="Text 11"/>
          <p:cNvSpPr txBox="1"/>
          <p:nvPr/>
        </p:nvSpPr>
        <p:spPr>
          <a:xfrm>
            <a:off x="8869680" y="3291840"/>
            <a:ext cx="2651760" cy="502920"/>
          </a:xfrm>
          <a:prstGeom prst="rect">
            <a:avLst/>
          </a:prstGeom>
          <a:noFill/>
          <a:ln/>
        </p:spPr>
        <p:txBody>
          <a:bodyPr wrap="square" lIns="0" tIns="0" rIns="0" bIns="0" rtlCol="0" anchor="t"/>
          <a:lstStyle/>
          <a:p>
            <a:pPr marL="0" indent="0">
              <a:buNone/>
            </a:pPr>
            <a:r>
              <a:rPr lang="en-US" sz="2400" b="1" dirty="0">
                <a:solidFill>
                  <a:srgbClr val="66727C"/>
                </a:solidFill>
              </a:rPr>
              <a:t>확인불가</a:t>
            </a:r>
            <a:endParaRPr lang="en-US" sz="2400" dirty="0"/>
          </a:p>
        </p:txBody>
      </p:sp>
      <p:sp>
        <p:nvSpPr>
          <p:cNvPr id="16" name="Text 12"/>
          <p:cNvSpPr txBox="1"/>
          <p:nvPr/>
        </p:nvSpPr>
        <p:spPr>
          <a:xfrm>
            <a:off x="8869680" y="3794760"/>
            <a:ext cx="2651760" cy="502920"/>
          </a:xfrm>
          <a:prstGeom prst="rect">
            <a:avLst/>
          </a:prstGeom>
          <a:noFill/>
          <a:ln/>
        </p:spPr>
        <p:txBody>
          <a:bodyPr wrap="square" lIns="0" tIns="0" rIns="0" bIns="0" rtlCol="0" anchor="t"/>
          <a:lstStyle/>
          <a:p>
            <a:pPr marL="0" indent="0">
              <a:buNone/>
            </a:pPr>
            <a:r>
              <a:rPr lang="en-US" sz="1150" dirty="0">
                <a:solidFill>
                  <a:srgbClr val="4A5568"/>
                </a:solidFill>
              </a:rPr>
              <a:t>도봉구는 조사 상권이 없어</a:t>
            </a:r>
            <a:endParaRPr lang="en-US" sz="1150" dirty="0"/>
          </a:p>
          <a:p>
            <a:pPr marL="0" indent="0">
              <a:buNone/>
            </a:pPr>
            <a:r>
              <a:rPr lang="en-US" sz="1150" dirty="0">
                <a:solidFill>
                  <a:srgbClr val="4A5568"/>
                </a:solidFill>
              </a:rPr>
              <a:t>0원 대신 확인불가로 표시</a:t>
            </a:r>
            <a:endParaRPr lang="en-US" sz="1150" dirty="0"/>
          </a:p>
        </p:txBody>
      </p:sp>
      <p:sp>
        <p:nvSpPr>
          <p:cNvPr id="17" name="월세 × 18"/>
          <p:cNvSpPr/>
          <p:nvPr/>
        </p:nvSpPr>
        <p:spPr>
          <a:xfrm>
            <a:off x="8641080" y="4526280"/>
            <a:ext cx="2999232" cy="1207008"/>
          </a:xfrm>
          <a:prstGeom prst="roundRect">
            <a:avLst>
              <a:gd name="adj" fmla="val 10606"/>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8" name="Text 14"/>
          <p:cNvSpPr txBox="1"/>
          <p:nvPr/>
        </p:nvSpPr>
        <p:spPr>
          <a:xfrm>
            <a:off x="8869680" y="4663440"/>
            <a:ext cx="2651760" cy="502920"/>
          </a:xfrm>
          <a:prstGeom prst="rect">
            <a:avLst/>
          </a:prstGeom>
          <a:noFill/>
          <a:ln/>
        </p:spPr>
        <p:txBody>
          <a:bodyPr wrap="square" lIns="0" tIns="0" rIns="0" bIns="0" rtlCol="0" anchor="t"/>
          <a:lstStyle/>
          <a:p>
            <a:pPr marL="0" indent="0">
              <a:buNone/>
            </a:pPr>
            <a:r>
              <a:rPr lang="en-US" sz="2400" b="1" dirty="0">
                <a:solidFill>
                  <a:srgbClr val="1F3F5E"/>
                </a:solidFill>
              </a:rPr>
              <a:t>월세 × 18</a:t>
            </a:r>
            <a:endParaRPr lang="en-US" sz="2400" dirty="0"/>
          </a:p>
        </p:txBody>
      </p:sp>
      <p:sp>
        <p:nvSpPr>
          <p:cNvPr id="19" name="Text 15"/>
          <p:cNvSpPr txBox="1"/>
          <p:nvPr/>
        </p:nvSpPr>
        <p:spPr>
          <a:xfrm>
            <a:off x="8869680" y="5166360"/>
            <a:ext cx="2651760" cy="502920"/>
          </a:xfrm>
          <a:prstGeom prst="rect">
            <a:avLst/>
          </a:prstGeom>
          <a:noFill/>
          <a:ln/>
        </p:spPr>
        <p:txBody>
          <a:bodyPr wrap="square" lIns="0" tIns="0" rIns="0" bIns="0" rtlCol="0" anchor="t"/>
          <a:lstStyle/>
          <a:p>
            <a:pPr marL="0" indent="0">
              <a:buNone/>
            </a:pPr>
            <a:r>
              <a:rPr lang="en-US" sz="1150" dirty="0">
                <a:solidFill>
                  <a:srgbClr val="4A5568"/>
                </a:solidFill>
              </a:rPr>
              <a:t>초기비용 = 보증금(월세 15배 가정)</a:t>
            </a:r>
            <a:endParaRPr lang="en-US" sz="1150" dirty="0"/>
          </a:p>
          <a:p>
            <a:pPr marL="0" indent="0">
              <a:buNone/>
            </a:pPr>
            <a:r>
              <a:rPr lang="en-US" sz="1150" dirty="0">
                <a:solidFill>
                  <a:srgbClr val="4A5568"/>
                </a:solidFill>
              </a:rPr>
              <a:t>+ 월세 3개월</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I 예측 모델"/>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F2B544"/>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이성진</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화면의 숫자를 </a:t>
            </a:r>
            <a:r>
              <a:rPr lang="en-US" sz="2600" b="1" dirty="0">
                <a:solidFill>
                  <a:srgbClr val="2B5C8A"/>
                </a:solidFill>
              </a:rPr>
              <a:t>두 모델</a:t>
            </a:r>
            <a:r>
              <a:rPr lang="en-US" sz="2600" b="1" dirty="0">
                <a:solidFill>
                  <a:srgbClr val="22303A"/>
                </a:solidFill>
              </a:rPr>
              <a:t>이 만듭니다</a:t>
            </a:r>
            <a:endParaRPr lang="en-US" sz="2600" dirty="0"/>
          </a:p>
        </p:txBody>
      </p:sp>
      <p:sp>
        <p:nvSpPr>
          <p:cNvPr id="10" name="Shape 7"/>
          <p:cNvSpPr/>
          <p:nvPr/>
        </p:nvSpPr>
        <p:spPr>
          <a:xfrm>
            <a:off x="438912" y="1642872"/>
            <a:ext cx="6839712" cy="4595821"/>
          </a:xfrm>
          <a:prstGeom prst="roundRect">
            <a:avLst>
              <a:gd name="adj" fmla="val 2388"/>
            </a:avLst>
          </a:prstGeom>
          <a:solidFill>
            <a:srgbClr val="1F3F5E"/>
          </a:solidFill>
          <a:ln/>
          <a:effectLst>
            <a:outerShdw blurRad="127000" dist="25400" dir="5400000" algn="bl" rotWithShape="0">
              <a:srgbClr val="22303A">
                <a:alpha val="10000"/>
              </a:srgbClr>
            </a:outerShdw>
          </a:effectLst>
        </p:spPr>
        <p:txBody>
          <a:bodyPr/>
          <a:lstStyle/>
          <a:p>
            <a:endParaRPr lang="ko-KR" altLang="en-US"/>
          </a:p>
        </p:txBody>
      </p:sp>
      <p:sp>
        <p:nvSpPr>
          <p:cNvPr id="11" name="Shape 8"/>
          <p:cNvSpPr/>
          <p:nvPr/>
        </p:nvSpPr>
        <p:spPr>
          <a:xfrm>
            <a:off x="585216" y="1743456"/>
            <a:ext cx="118872" cy="118872"/>
          </a:xfrm>
          <a:prstGeom prst="ellipse">
            <a:avLst/>
          </a:prstGeom>
          <a:solidFill>
            <a:srgbClr val="F2B544"/>
          </a:solidFill>
          <a:ln/>
        </p:spPr>
        <p:txBody>
          <a:bodyPr/>
          <a:lstStyle/>
          <a:p>
            <a:endParaRPr lang="ko-KR" altLang="en-US"/>
          </a:p>
        </p:txBody>
      </p:sp>
      <p:sp>
        <p:nvSpPr>
          <p:cNvPr id="12" name="Text 9"/>
          <p:cNvSpPr txBox="1"/>
          <p:nvPr/>
        </p:nvSpPr>
        <p:spPr>
          <a:xfrm>
            <a:off x="768096" y="1670304"/>
            <a:ext cx="4572000" cy="274320"/>
          </a:xfrm>
          <a:prstGeom prst="rect">
            <a:avLst/>
          </a:prstGeom>
          <a:noFill/>
          <a:ln/>
        </p:spPr>
        <p:txBody>
          <a:bodyPr wrap="square" lIns="0" tIns="0" rIns="0" bIns="0" rtlCol="0" anchor="ctr"/>
          <a:lstStyle/>
          <a:p>
            <a:pPr marL="0" indent="0">
              <a:buNone/>
            </a:pPr>
            <a:r>
              <a:rPr lang="en-US" sz="1200" b="1" dirty="0">
                <a:solidFill>
                  <a:srgbClr val="FFFFFF"/>
                </a:solidFill>
              </a:rPr>
              <a:t>타운시그널 프로토타입 화면  ·  더미 데이터</a:t>
            </a:r>
            <a:endParaRPr lang="en-US" sz="1200" dirty="0"/>
          </a:p>
        </p:txBody>
      </p:sp>
      <p:sp>
        <p:nvSpPr>
          <p:cNvPr id="13" name="상세 화면"/>
          <p:cNvSpPr/>
          <p:nvPr/>
        </p:nvSpPr>
        <p:spPr>
          <a:xfrm>
            <a:off x="566928" y="1972056"/>
            <a:ext cx="6583680" cy="4138621"/>
          </a:xfrm>
          <a:prstGeom prst="roundRect">
            <a:avLst>
              <a:gd name="adj" fmla="val 1768"/>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4" name="Shape 11"/>
          <p:cNvSpPr/>
          <p:nvPr/>
        </p:nvSpPr>
        <p:spPr>
          <a:xfrm>
            <a:off x="676656" y="2031492"/>
            <a:ext cx="64008" cy="64008"/>
          </a:xfrm>
          <a:prstGeom prst="ellipse">
            <a:avLst/>
          </a:prstGeom>
          <a:solidFill>
            <a:srgbClr val="FF5F57"/>
          </a:solidFill>
          <a:ln/>
        </p:spPr>
        <p:txBody>
          <a:bodyPr/>
          <a:lstStyle/>
          <a:p>
            <a:endParaRPr lang="ko-KR" altLang="en-US"/>
          </a:p>
        </p:txBody>
      </p:sp>
      <p:sp>
        <p:nvSpPr>
          <p:cNvPr id="15" name="Shape 12"/>
          <p:cNvSpPr/>
          <p:nvPr/>
        </p:nvSpPr>
        <p:spPr>
          <a:xfrm>
            <a:off x="786384" y="2031492"/>
            <a:ext cx="64008" cy="64008"/>
          </a:xfrm>
          <a:prstGeom prst="ellipse">
            <a:avLst/>
          </a:prstGeom>
          <a:solidFill>
            <a:srgbClr val="FEBC2E"/>
          </a:solidFill>
          <a:ln/>
        </p:spPr>
        <p:txBody>
          <a:bodyPr/>
          <a:lstStyle/>
          <a:p>
            <a:endParaRPr lang="ko-KR" altLang="en-US"/>
          </a:p>
        </p:txBody>
      </p:sp>
      <p:sp>
        <p:nvSpPr>
          <p:cNvPr id="16" name="Shape 13"/>
          <p:cNvSpPr/>
          <p:nvPr/>
        </p:nvSpPr>
        <p:spPr>
          <a:xfrm>
            <a:off x="896112" y="2031492"/>
            <a:ext cx="64008" cy="64008"/>
          </a:xfrm>
          <a:prstGeom prst="ellipse">
            <a:avLst/>
          </a:prstGeom>
          <a:solidFill>
            <a:srgbClr val="28C840"/>
          </a:solidFill>
          <a:ln/>
        </p:spPr>
        <p:txBody>
          <a:bodyPr/>
          <a:lstStyle/>
          <a:p>
            <a:endParaRPr lang="ko-KR" altLang="en-US"/>
          </a:p>
        </p:txBody>
      </p:sp>
      <p:pic>
        <p:nvPicPr>
          <p:cNvPr id="17" name="Image 1" descr="상세 화면"/>
          <p:cNvPicPr>
            <a:picLocks noChangeAspect="1"/>
          </p:cNvPicPr>
          <p:nvPr/>
        </p:nvPicPr>
        <p:blipFill>
          <a:blip r:embed="rId4"/>
          <a:stretch>
            <a:fillRect/>
          </a:stretch>
        </p:blipFill>
        <p:spPr>
          <a:xfrm>
            <a:off x="566928" y="2154936"/>
            <a:ext cx="6583680" cy="3955741"/>
          </a:xfrm>
          <a:prstGeom prst="rect">
            <a:avLst/>
          </a:prstGeom>
        </p:spPr>
      </p:pic>
      <p:sp>
        <p:nvSpPr>
          <p:cNvPr id="18" name="Shape 14"/>
          <p:cNvSpPr/>
          <p:nvPr/>
        </p:nvSpPr>
        <p:spPr>
          <a:xfrm>
            <a:off x="696020" y="3740921"/>
            <a:ext cx="2959890" cy="387275"/>
          </a:xfrm>
          <a:prstGeom prst="roundRect">
            <a:avLst>
              <a:gd name="adj" fmla="val 14167"/>
            </a:avLst>
          </a:prstGeom>
          <a:ln w="31750">
            <a:solidFill>
              <a:srgbClr val="E8902E"/>
            </a:solidFill>
            <a:prstDash val="solid"/>
          </a:ln>
        </p:spPr>
        <p:txBody>
          <a:bodyPr/>
          <a:lstStyle/>
          <a:p>
            <a:endParaRPr lang="ko-KR" altLang="en-US"/>
          </a:p>
        </p:txBody>
      </p:sp>
      <p:sp>
        <p:nvSpPr>
          <p:cNvPr id="19" name="Shape 15"/>
          <p:cNvSpPr/>
          <p:nvPr/>
        </p:nvSpPr>
        <p:spPr>
          <a:xfrm>
            <a:off x="3473030" y="3558041"/>
            <a:ext cx="365760" cy="365760"/>
          </a:xfrm>
          <a:prstGeom prst="ellipse">
            <a:avLst/>
          </a:prstGeom>
          <a:solidFill>
            <a:srgbClr val="E8902E"/>
          </a:solidFill>
          <a:ln/>
        </p:spPr>
        <p:txBody>
          <a:bodyPr/>
          <a:lstStyle/>
          <a:p>
            <a:endParaRPr lang="ko-KR" altLang="en-US"/>
          </a:p>
        </p:txBody>
      </p:sp>
      <p:sp>
        <p:nvSpPr>
          <p:cNvPr id="20" name="Text 16"/>
          <p:cNvSpPr txBox="1"/>
          <p:nvPr/>
        </p:nvSpPr>
        <p:spPr>
          <a:xfrm>
            <a:off x="3473030" y="3558041"/>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1" name="Shape 17"/>
          <p:cNvSpPr/>
          <p:nvPr/>
        </p:nvSpPr>
        <p:spPr>
          <a:xfrm>
            <a:off x="696020" y="4404821"/>
            <a:ext cx="2959890" cy="792992"/>
          </a:xfrm>
          <a:prstGeom prst="roundRect">
            <a:avLst>
              <a:gd name="adj" fmla="val 6919"/>
            </a:avLst>
          </a:prstGeom>
          <a:ln w="31750">
            <a:solidFill>
              <a:srgbClr val="E8902E"/>
            </a:solidFill>
            <a:prstDash val="solid"/>
          </a:ln>
        </p:spPr>
        <p:txBody>
          <a:bodyPr/>
          <a:lstStyle/>
          <a:p>
            <a:endParaRPr lang="ko-KR" altLang="en-US"/>
          </a:p>
        </p:txBody>
      </p:sp>
      <p:sp>
        <p:nvSpPr>
          <p:cNvPr id="22" name="Shape 18"/>
          <p:cNvSpPr/>
          <p:nvPr/>
        </p:nvSpPr>
        <p:spPr>
          <a:xfrm>
            <a:off x="3473030" y="4221941"/>
            <a:ext cx="365760" cy="365760"/>
          </a:xfrm>
          <a:prstGeom prst="ellipse">
            <a:avLst/>
          </a:prstGeom>
          <a:solidFill>
            <a:srgbClr val="E8902E"/>
          </a:solidFill>
          <a:ln/>
        </p:spPr>
        <p:txBody>
          <a:bodyPr/>
          <a:lstStyle/>
          <a:p>
            <a:endParaRPr lang="ko-KR" altLang="en-US"/>
          </a:p>
        </p:txBody>
      </p:sp>
      <p:sp>
        <p:nvSpPr>
          <p:cNvPr id="23" name="Text 19"/>
          <p:cNvSpPr txBox="1"/>
          <p:nvPr/>
        </p:nvSpPr>
        <p:spPr>
          <a:xfrm>
            <a:off x="3473030" y="4221941"/>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4" name="Shape 20"/>
          <p:cNvSpPr/>
          <p:nvPr/>
        </p:nvSpPr>
        <p:spPr>
          <a:xfrm>
            <a:off x="3960197" y="3445854"/>
            <a:ext cx="1585985" cy="516367"/>
          </a:xfrm>
          <a:prstGeom prst="roundRect">
            <a:avLst>
              <a:gd name="adj" fmla="val 10625"/>
            </a:avLst>
          </a:prstGeom>
          <a:ln w="31750">
            <a:solidFill>
              <a:srgbClr val="E8902E"/>
            </a:solidFill>
            <a:prstDash val="solid"/>
          </a:ln>
        </p:spPr>
        <p:txBody>
          <a:bodyPr/>
          <a:lstStyle/>
          <a:p>
            <a:endParaRPr lang="ko-KR" altLang="en-US"/>
          </a:p>
        </p:txBody>
      </p:sp>
      <p:sp>
        <p:nvSpPr>
          <p:cNvPr id="25" name="Shape 21"/>
          <p:cNvSpPr/>
          <p:nvPr/>
        </p:nvSpPr>
        <p:spPr>
          <a:xfrm>
            <a:off x="5363302" y="3262974"/>
            <a:ext cx="365760" cy="365760"/>
          </a:xfrm>
          <a:prstGeom prst="ellipse">
            <a:avLst/>
          </a:prstGeom>
          <a:solidFill>
            <a:srgbClr val="E8902E"/>
          </a:solidFill>
          <a:ln/>
        </p:spPr>
        <p:txBody>
          <a:bodyPr/>
          <a:lstStyle/>
          <a:p>
            <a:endParaRPr lang="ko-KR" altLang="en-US"/>
          </a:p>
        </p:txBody>
      </p:sp>
      <p:sp>
        <p:nvSpPr>
          <p:cNvPr id="26" name="Text 22"/>
          <p:cNvSpPr txBox="1"/>
          <p:nvPr/>
        </p:nvSpPr>
        <p:spPr>
          <a:xfrm>
            <a:off x="5363302" y="326297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7" name="생존 모델"/>
          <p:cNvSpPr/>
          <p:nvPr/>
        </p:nvSpPr>
        <p:spPr>
          <a:xfrm>
            <a:off x="7882128" y="1908048"/>
            <a:ext cx="3776472" cy="1188720"/>
          </a:xfrm>
          <a:prstGeom prst="roundRect">
            <a:avLst>
              <a:gd name="adj" fmla="val 10769"/>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8" name="Shape 24"/>
          <p:cNvSpPr/>
          <p:nvPr/>
        </p:nvSpPr>
        <p:spPr>
          <a:xfrm>
            <a:off x="8110728" y="2063496"/>
            <a:ext cx="365760" cy="365760"/>
          </a:xfrm>
          <a:prstGeom prst="ellipse">
            <a:avLst/>
          </a:prstGeom>
          <a:solidFill>
            <a:srgbClr val="E8902E"/>
          </a:solidFill>
          <a:ln/>
        </p:spPr>
        <p:txBody>
          <a:bodyPr/>
          <a:lstStyle/>
          <a:p>
            <a:endParaRPr lang="ko-KR" altLang="en-US"/>
          </a:p>
        </p:txBody>
      </p:sp>
      <p:sp>
        <p:nvSpPr>
          <p:cNvPr id="29" name="Text 25"/>
          <p:cNvSpPr txBox="1"/>
          <p:nvPr/>
        </p:nvSpPr>
        <p:spPr>
          <a:xfrm>
            <a:off x="8110728" y="20634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30" name="Text 26"/>
          <p:cNvSpPr txBox="1"/>
          <p:nvPr/>
        </p:nvSpPr>
        <p:spPr>
          <a:xfrm>
            <a:off x="8613648" y="2036064"/>
            <a:ext cx="2926080" cy="411480"/>
          </a:xfrm>
          <a:prstGeom prst="rect">
            <a:avLst/>
          </a:prstGeom>
          <a:noFill/>
          <a:ln/>
        </p:spPr>
        <p:txBody>
          <a:bodyPr wrap="square" lIns="0" tIns="0" rIns="0" bIns="0" rtlCol="0" anchor="ctr"/>
          <a:lstStyle/>
          <a:p>
            <a:pPr marL="0" indent="0">
              <a:buNone/>
            </a:pPr>
            <a:r>
              <a:rPr lang="en-US" sz="1800" b="1" dirty="0">
                <a:solidFill>
                  <a:srgbClr val="2B5C8A"/>
                </a:solidFill>
              </a:rPr>
              <a:t>생존 모델</a:t>
            </a:r>
            <a:endParaRPr lang="en-US" sz="1800" dirty="0"/>
          </a:p>
        </p:txBody>
      </p:sp>
      <p:sp>
        <p:nvSpPr>
          <p:cNvPr id="31" name="Text 27"/>
          <p:cNvSpPr txBox="1"/>
          <p:nvPr/>
        </p:nvSpPr>
        <p:spPr>
          <a:xfrm>
            <a:off x="8110728" y="2474976"/>
            <a:ext cx="3383280" cy="320040"/>
          </a:xfrm>
          <a:prstGeom prst="rect">
            <a:avLst/>
          </a:prstGeom>
          <a:noFill/>
          <a:ln/>
        </p:spPr>
        <p:txBody>
          <a:bodyPr wrap="square" lIns="0" tIns="0" rIns="0" bIns="0" rtlCol="0" anchor="t"/>
          <a:lstStyle/>
          <a:p>
            <a:pPr marL="0" indent="0">
              <a:buNone/>
            </a:pPr>
            <a:r>
              <a:rPr lang="en-US" sz="1500" b="1" dirty="0">
                <a:solidFill>
                  <a:schemeClr val="tx1"/>
                </a:solidFill>
              </a:rPr>
              <a:t>3년 · 1년 생존 확률</a:t>
            </a:r>
            <a:endParaRPr lang="en-US" sz="1500" dirty="0"/>
          </a:p>
        </p:txBody>
      </p:sp>
      <p:sp>
        <p:nvSpPr>
          <p:cNvPr id="32" name="Text 28"/>
          <p:cNvSpPr txBox="1"/>
          <p:nvPr/>
        </p:nvSpPr>
        <p:spPr>
          <a:xfrm>
            <a:off x="8110728" y="2776728"/>
            <a:ext cx="3383280" cy="274320"/>
          </a:xfrm>
          <a:prstGeom prst="rect">
            <a:avLst/>
          </a:prstGeom>
          <a:noFill/>
          <a:ln/>
        </p:spPr>
        <p:txBody>
          <a:bodyPr wrap="square" lIns="0" tIns="0" rIns="0" bIns="0" rtlCol="0" anchor="t"/>
          <a:lstStyle/>
          <a:p>
            <a:pPr marL="0" indent="0">
              <a:buNone/>
            </a:pPr>
            <a:r>
              <a:rPr lang="en-US" sz="1200" dirty="0">
                <a:solidFill>
                  <a:srgbClr val="66727C"/>
                </a:solidFill>
              </a:rPr>
              <a:t>인허가 개 · 폐업 기록 · 생존분석</a:t>
            </a:r>
            <a:endParaRPr lang="en-US" sz="1200" dirty="0"/>
          </a:p>
        </p:txBody>
      </p:sp>
      <p:sp>
        <p:nvSpPr>
          <p:cNvPr id="33" name="매출 모델"/>
          <p:cNvSpPr/>
          <p:nvPr/>
        </p:nvSpPr>
        <p:spPr>
          <a:xfrm>
            <a:off x="7882128" y="3371088"/>
            <a:ext cx="3776472" cy="1188720"/>
          </a:xfrm>
          <a:prstGeom prst="roundRect">
            <a:avLst>
              <a:gd name="adj" fmla="val 10769"/>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4" name="Shape 30"/>
          <p:cNvSpPr/>
          <p:nvPr/>
        </p:nvSpPr>
        <p:spPr>
          <a:xfrm>
            <a:off x="8110728" y="3526536"/>
            <a:ext cx="365760" cy="365760"/>
          </a:xfrm>
          <a:prstGeom prst="ellipse">
            <a:avLst/>
          </a:prstGeom>
          <a:solidFill>
            <a:srgbClr val="E8902E"/>
          </a:solidFill>
          <a:ln/>
        </p:spPr>
        <p:txBody>
          <a:bodyPr/>
          <a:lstStyle/>
          <a:p>
            <a:endParaRPr lang="ko-KR" altLang="en-US"/>
          </a:p>
        </p:txBody>
      </p:sp>
      <p:sp>
        <p:nvSpPr>
          <p:cNvPr id="35" name="Text 31"/>
          <p:cNvSpPr txBox="1"/>
          <p:nvPr/>
        </p:nvSpPr>
        <p:spPr>
          <a:xfrm>
            <a:off x="8110728" y="35265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36" name="Text 32"/>
          <p:cNvSpPr txBox="1"/>
          <p:nvPr/>
        </p:nvSpPr>
        <p:spPr>
          <a:xfrm>
            <a:off x="8613648" y="3499104"/>
            <a:ext cx="2926080" cy="411480"/>
          </a:xfrm>
          <a:prstGeom prst="rect">
            <a:avLst/>
          </a:prstGeom>
          <a:noFill/>
          <a:ln/>
        </p:spPr>
        <p:txBody>
          <a:bodyPr wrap="square" lIns="0" tIns="0" rIns="0" bIns="0" rtlCol="0" anchor="ctr"/>
          <a:lstStyle/>
          <a:p>
            <a:pPr marL="0" indent="0">
              <a:buNone/>
            </a:pPr>
            <a:r>
              <a:rPr lang="en-US" sz="1800" b="1" dirty="0">
                <a:solidFill>
                  <a:srgbClr val="2B5C8A"/>
                </a:solidFill>
              </a:rPr>
              <a:t>매출 모델</a:t>
            </a:r>
            <a:endParaRPr lang="en-US" sz="1800" dirty="0"/>
          </a:p>
        </p:txBody>
      </p:sp>
      <p:sp>
        <p:nvSpPr>
          <p:cNvPr id="37" name="Text 33"/>
          <p:cNvSpPr txBox="1"/>
          <p:nvPr/>
        </p:nvSpPr>
        <p:spPr>
          <a:xfrm>
            <a:off x="8110728" y="3938016"/>
            <a:ext cx="3383280" cy="320040"/>
          </a:xfrm>
          <a:prstGeom prst="rect">
            <a:avLst/>
          </a:prstGeom>
          <a:noFill/>
          <a:ln/>
        </p:spPr>
        <p:txBody>
          <a:bodyPr wrap="square" lIns="0" tIns="0" rIns="0" bIns="0" rtlCol="0" anchor="t"/>
          <a:lstStyle/>
          <a:p>
            <a:pPr marL="0" indent="0">
              <a:buNone/>
            </a:pPr>
            <a:r>
              <a:rPr lang="en-US" sz="1500" b="1" dirty="0">
                <a:solidFill>
                  <a:schemeClr val="tx1"/>
                </a:solidFill>
              </a:rPr>
              <a:t>예상 월매출 + 80% 범위</a:t>
            </a:r>
            <a:endParaRPr lang="en-US" sz="1500" dirty="0"/>
          </a:p>
        </p:txBody>
      </p:sp>
      <p:sp>
        <p:nvSpPr>
          <p:cNvPr id="38" name="Text 34"/>
          <p:cNvSpPr txBox="1"/>
          <p:nvPr/>
        </p:nvSpPr>
        <p:spPr>
          <a:xfrm>
            <a:off x="8110728" y="4239768"/>
            <a:ext cx="3383280" cy="274320"/>
          </a:xfrm>
          <a:prstGeom prst="rect">
            <a:avLst/>
          </a:prstGeom>
          <a:noFill/>
          <a:ln/>
        </p:spPr>
        <p:txBody>
          <a:bodyPr wrap="square" lIns="0" tIns="0" rIns="0" bIns="0" rtlCol="0" anchor="t"/>
          <a:lstStyle/>
          <a:p>
            <a:pPr marL="0" indent="0">
              <a:buNone/>
            </a:pPr>
            <a:r>
              <a:rPr lang="en-US" sz="1200" dirty="0">
                <a:solidFill>
                  <a:srgbClr val="66727C"/>
                </a:solidFill>
              </a:rPr>
              <a:t>XGBoost 분위수 회귀</a:t>
            </a:r>
            <a:endParaRPr lang="en-US" sz="1200" dirty="0"/>
          </a:p>
        </p:txBody>
      </p:sp>
      <p:sp>
        <p:nvSpPr>
          <p:cNvPr id="39" name="성장세"/>
          <p:cNvSpPr/>
          <p:nvPr/>
        </p:nvSpPr>
        <p:spPr>
          <a:xfrm>
            <a:off x="7882128" y="4834128"/>
            <a:ext cx="3776472" cy="1188720"/>
          </a:xfrm>
          <a:prstGeom prst="roundRect">
            <a:avLst>
              <a:gd name="adj" fmla="val 10769"/>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0" name="Shape 36"/>
          <p:cNvSpPr/>
          <p:nvPr/>
        </p:nvSpPr>
        <p:spPr>
          <a:xfrm>
            <a:off x="8110728" y="4989576"/>
            <a:ext cx="365760" cy="365760"/>
          </a:xfrm>
          <a:prstGeom prst="ellipse">
            <a:avLst/>
          </a:prstGeom>
          <a:solidFill>
            <a:srgbClr val="E8902E"/>
          </a:solidFill>
          <a:ln/>
        </p:spPr>
        <p:txBody>
          <a:bodyPr/>
          <a:lstStyle/>
          <a:p>
            <a:endParaRPr lang="ko-KR" altLang="en-US"/>
          </a:p>
        </p:txBody>
      </p:sp>
      <p:sp>
        <p:nvSpPr>
          <p:cNvPr id="41" name="Text 37"/>
          <p:cNvSpPr txBox="1"/>
          <p:nvPr/>
        </p:nvSpPr>
        <p:spPr>
          <a:xfrm>
            <a:off x="8110728" y="49895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42" name="Text 38"/>
          <p:cNvSpPr txBox="1"/>
          <p:nvPr/>
        </p:nvSpPr>
        <p:spPr>
          <a:xfrm>
            <a:off x="8613648" y="4962144"/>
            <a:ext cx="2926080" cy="411480"/>
          </a:xfrm>
          <a:prstGeom prst="rect">
            <a:avLst/>
          </a:prstGeom>
          <a:noFill/>
          <a:ln/>
        </p:spPr>
        <p:txBody>
          <a:bodyPr wrap="square" lIns="0" tIns="0" rIns="0" bIns="0" rtlCol="0" anchor="ctr"/>
          <a:lstStyle/>
          <a:p>
            <a:pPr marL="0" indent="0">
              <a:buNone/>
            </a:pPr>
            <a:r>
              <a:rPr lang="en-US" sz="1800" b="1" dirty="0">
                <a:solidFill>
                  <a:srgbClr val="2B5C8A"/>
                </a:solidFill>
              </a:rPr>
              <a:t>성장세</a:t>
            </a:r>
            <a:endParaRPr lang="en-US" sz="1800" dirty="0"/>
          </a:p>
        </p:txBody>
      </p:sp>
      <p:sp>
        <p:nvSpPr>
          <p:cNvPr id="43" name="Text 39"/>
          <p:cNvSpPr txBox="1"/>
          <p:nvPr/>
        </p:nvSpPr>
        <p:spPr>
          <a:xfrm>
            <a:off x="8110728" y="5401056"/>
            <a:ext cx="3383280" cy="320040"/>
          </a:xfrm>
          <a:prstGeom prst="rect">
            <a:avLst/>
          </a:prstGeom>
          <a:noFill/>
          <a:ln/>
        </p:spPr>
        <p:txBody>
          <a:bodyPr wrap="square" lIns="0" tIns="0" rIns="0" bIns="0" rtlCol="0" anchor="t"/>
          <a:lstStyle/>
          <a:p>
            <a:pPr marL="0" indent="0">
              <a:buNone/>
            </a:pPr>
            <a:r>
              <a:rPr lang="en-US" sz="1500" b="1" dirty="0">
                <a:solidFill>
                  <a:schemeClr val="tx1"/>
                </a:solidFill>
              </a:rPr>
              <a:t>최근 1년 매출 변화</a:t>
            </a:r>
            <a:endParaRPr lang="en-US" sz="1500" dirty="0"/>
          </a:p>
        </p:txBody>
      </p:sp>
      <p:sp>
        <p:nvSpPr>
          <p:cNvPr id="44" name="Text 40"/>
          <p:cNvSpPr txBox="1"/>
          <p:nvPr/>
        </p:nvSpPr>
        <p:spPr>
          <a:xfrm>
            <a:off x="8110728" y="5702808"/>
            <a:ext cx="3383280" cy="274320"/>
          </a:xfrm>
          <a:prstGeom prst="rect">
            <a:avLst/>
          </a:prstGeom>
          <a:noFill/>
          <a:ln/>
        </p:spPr>
        <p:txBody>
          <a:bodyPr wrap="square" lIns="0" tIns="0" rIns="0" bIns="0" rtlCol="0" anchor="t"/>
          <a:lstStyle/>
          <a:p>
            <a:pPr marL="0" indent="0">
              <a:buNone/>
            </a:pPr>
            <a:r>
              <a:rPr lang="en-US" sz="1200" dirty="0">
                <a:solidFill>
                  <a:srgbClr val="66727C"/>
                </a:solidFill>
              </a:rPr>
              <a:t>직전 1년 대비 계산</a:t>
            </a:r>
            <a:endParaRPr lang="en-US" sz="1200" dirty="0"/>
          </a:p>
        </p:txBody>
      </p:sp>
      <p:sp>
        <p:nvSpPr>
          <p:cNvPr id="45" name="Text 41"/>
          <p:cNvSpPr txBox="1"/>
          <p:nvPr/>
        </p:nvSpPr>
        <p:spPr>
          <a:xfrm>
            <a:off x="7882128" y="6178296"/>
            <a:ext cx="3776472" cy="256032"/>
          </a:xfrm>
          <a:prstGeom prst="rect">
            <a:avLst/>
          </a:prstGeom>
          <a:noFill/>
          <a:ln/>
        </p:spPr>
        <p:txBody>
          <a:bodyPr wrap="square" lIns="0" tIns="0" rIns="0" bIns="0" rtlCol="0" anchor="t"/>
          <a:lstStyle/>
          <a:p>
            <a:pPr marL="0" indent="0" algn="r">
              <a:buNone/>
            </a:pPr>
            <a:r>
              <a:rPr lang="en-US" sz="1100" dirty="0">
                <a:solidFill>
                  <a:srgbClr val="66727C"/>
                </a:solidFill>
              </a:rPr>
              <a:t>성능 수치는 최종 발표에서 공개</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검증 계획"/>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F2B544"/>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D5DEE2"/>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이성진</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이렇게 </a:t>
            </a:r>
            <a:r>
              <a:rPr lang="en-US" sz="2600" b="1" dirty="0">
                <a:solidFill>
                  <a:srgbClr val="2B5C8A"/>
                </a:solidFill>
              </a:rPr>
              <a:t>검증</a:t>
            </a:r>
            <a:r>
              <a:rPr lang="en-US" sz="2600" b="1" dirty="0">
                <a:solidFill>
                  <a:srgbClr val="22303A"/>
                </a:solidFill>
              </a:rPr>
              <a:t>할 예정입니다</a:t>
            </a:r>
            <a:endParaRPr lang="en-US" sz="2600" dirty="0"/>
          </a:p>
        </p:txBody>
      </p:sp>
      <p:sp>
        <p:nvSpPr>
          <p:cNvPr id="10" name="시간 순서로 평가"/>
          <p:cNvSpPr/>
          <p:nvPr/>
        </p:nvSpPr>
        <p:spPr>
          <a:xfrm>
            <a:off x="548640" y="1783080"/>
            <a:ext cx="3529584" cy="3383280"/>
          </a:xfrm>
          <a:prstGeom prst="roundRect">
            <a:avLst>
              <a:gd name="adj" fmla="val 378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1" name="Text 8"/>
          <p:cNvSpPr txBox="1"/>
          <p:nvPr/>
        </p:nvSpPr>
        <p:spPr>
          <a:xfrm>
            <a:off x="822960" y="2011680"/>
            <a:ext cx="914400" cy="502920"/>
          </a:xfrm>
          <a:prstGeom prst="rect">
            <a:avLst/>
          </a:prstGeom>
          <a:noFill/>
          <a:ln/>
        </p:spPr>
        <p:txBody>
          <a:bodyPr wrap="square" lIns="0" tIns="0" rIns="0" bIns="0" rtlCol="0" anchor="t"/>
          <a:lstStyle/>
          <a:p>
            <a:pPr marL="0" indent="0">
              <a:buNone/>
            </a:pPr>
            <a:r>
              <a:rPr lang="en-US" sz="2800" b="1" dirty="0">
                <a:solidFill>
                  <a:srgbClr val="C9DAEA"/>
                </a:solidFill>
              </a:rPr>
              <a:t>01</a:t>
            </a:r>
            <a:endParaRPr lang="en-US" sz="2800" dirty="0"/>
          </a:p>
        </p:txBody>
      </p:sp>
      <p:sp>
        <p:nvSpPr>
          <p:cNvPr id="12" name="Shape 9"/>
          <p:cNvSpPr/>
          <p:nvPr/>
        </p:nvSpPr>
        <p:spPr>
          <a:xfrm>
            <a:off x="3163824" y="2011680"/>
            <a:ext cx="640080" cy="640080"/>
          </a:xfrm>
          <a:prstGeom prst="ellipse">
            <a:avLst/>
          </a:prstGeom>
          <a:solidFill>
            <a:srgbClr val="E4EDF5"/>
          </a:solidFill>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3323844" y="2171700"/>
            <a:ext cx="320040" cy="320040"/>
          </a:xfrm>
          <a:prstGeom prst="rect">
            <a:avLst/>
          </a:prstGeom>
        </p:spPr>
      </p:pic>
      <p:sp>
        <p:nvSpPr>
          <p:cNvPr id="14" name="Text 10"/>
          <p:cNvSpPr txBox="1"/>
          <p:nvPr/>
        </p:nvSpPr>
        <p:spPr>
          <a:xfrm>
            <a:off x="822960" y="2743200"/>
            <a:ext cx="2980944" cy="411480"/>
          </a:xfrm>
          <a:prstGeom prst="rect">
            <a:avLst/>
          </a:prstGeom>
          <a:noFill/>
          <a:ln/>
        </p:spPr>
        <p:txBody>
          <a:bodyPr wrap="square" lIns="0" tIns="0" rIns="0" bIns="0" rtlCol="0" anchor="t"/>
          <a:lstStyle/>
          <a:p>
            <a:pPr marL="0" indent="0">
              <a:buNone/>
            </a:pPr>
            <a:r>
              <a:rPr lang="en-US" sz="1900" b="1" dirty="0">
                <a:solidFill>
                  <a:schemeClr val="tx1"/>
                </a:solidFill>
              </a:rPr>
              <a:t>시간 순서로 평가</a:t>
            </a:r>
            <a:endParaRPr lang="en-US" sz="1900" dirty="0"/>
          </a:p>
        </p:txBody>
      </p:sp>
      <p:sp>
        <p:nvSpPr>
          <p:cNvPr id="15" name="Text 11"/>
          <p:cNvSpPr txBox="1"/>
          <p:nvPr/>
        </p:nvSpPr>
        <p:spPr>
          <a:xfrm>
            <a:off x="822960" y="3200400"/>
            <a:ext cx="2980944" cy="914400"/>
          </a:xfrm>
          <a:prstGeom prst="rect">
            <a:avLst/>
          </a:prstGeom>
          <a:noFill/>
          <a:ln/>
        </p:spPr>
        <p:txBody>
          <a:bodyPr wrap="square" lIns="0" tIns="0" rIns="0" bIns="0" rtlCol="0" anchor="t"/>
          <a:lstStyle/>
          <a:p>
            <a:pPr marL="0" indent="0">
              <a:buNone/>
            </a:pPr>
            <a:r>
              <a:rPr lang="en-US" sz="1600" dirty="0">
                <a:solidFill>
                  <a:srgbClr val="4A5568"/>
                </a:solidFill>
              </a:rPr>
              <a:t>과거로 학습 →</a:t>
            </a:r>
            <a:endParaRPr lang="en-US" sz="1600" dirty="0"/>
          </a:p>
          <a:p>
            <a:pPr marL="0" indent="0">
              <a:buNone/>
            </a:pPr>
            <a:r>
              <a:rPr lang="en-US" sz="1600" dirty="0">
                <a:solidFill>
                  <a:srgbClr val="4A5568"/>
                </a:solidFill>
              </a:rPr>
              <a:t>최근 분기로 시험</a:t>
            </a:r>
            <a:endParaRPr lang="en-US" sz="1600" dirty="0"/>
          </a:p>
        </p:txBody>
      </p:sp>
      <p:sp>
        <p:nvSpPr>
          <p:cNvPr id="16" name="Shape 12"/>
          <p:cNvSpPr/>
          <p:nvPr/>
        </p:nvSpPr>
        <p:spPr>
          <a:xfrm>
            <a:off x="822960" y="4297680"/>
            <a:ext cx="265176" cy="274320"/>
          </a:xfrm>
          <a:prstGeom prst="rect">
            <a:avLst/>
          </a:prstGeom>
          <a:solidFill>
            <a:srgbClr val="2B5C8A"/>
          </a:solidFill>
          <a:ln/>
        </p:spPr>
        <p:txBody>
          <a:bodyPr/>
          <a:lstStyle/>
          <a:p>
            <a:endParaRPr lang="ko-KR" altLang="en-US"/>
          </a:p>
        </p:txBody>
      </p:sp>
      <p:sp>
        <p:nvSpPr>
          <p:cNvPr id="17" name="Shape 13"/>
          <p:cNvSpPr/>
          <p:nvPr/>
        </p:nvSpPr>
        <p:spPr>
          <a:xfrm>
            <a:off x="1124712" y="4297680"/>
            <a:ext cx="265176" cy="274320"/>
          </a:xfrm>
          <a:prstGeom prst="rect">
            <a:avLst/>
          </a:prstGeom>
          <a:solidFill>
            <a:srgbClr val="2B5C8A"/>
          </a:solidFill>
          <a:ln/>
        </p:spPr>
        <p:txBody>
          <a:bodyPr/>
          <a:lstStyle/>
          <a:p>
            <a:endParaRPr lang="ko-KR" altLang="en-US"/>
          </a:p>
        </p:txBody>
      </p:sp>
      <p:sp>
        <p:nvSpPr>
          <p:cNvPr id="18" name="Shape 14"/>
          <p:cNvSpPr/>
          <p:nvPr/>
        </p:nvSpPr>
        <p:spPr>
          <a:xfrm>
            <a:off x="1426464" y="4297680"/>
            <a:ext cx="265176" cy="274320"/>
          </a:xfrm>
          <a:prstGeom prst="rect">
            <a:avLst/>
          </a:prstGeom>
          <a:solidFill>
            <a:srgbClr val="2B5C8A"/>
          </a:solidFill>
          <a:ln/>
        </p:spPr>
        <p:txBody>
          <a:bodyPr/>
          <a:lstStyle/>
          <a:p>
            <a:endParaRPr lang="ko-KR" altLang="en-US"/>
          </a:p>
        </p:txBody>
      </p:sp>
      <p:sp>
        <p:nvSpPr>
          <p:cNvPr id="19" name="Shape 15"/>
          <p:cNvSpPr/>
          <p:nvPr/>
        </p:nvSpPr>
        <p:spPr>
          <a:xfrm>
            <a:off x="1728216" y="4297680"/>
            <a:ext cx="265176" cy="274320"/>
          </a:xfrm>
          <a:prstGeom prst="rect">
            <a:avLst/>
          </a:prstGeom>
          <a:solidFill>
            <a:srgbClr val="2B5C8A"/>
          </a:solidFill>
          <a:ln/>
        </p:spPr>
        <p:txBody>
          <a:bodyPr/>
          <a:lstStyle/>
          <a:p>
            <a:endParaRPr lang="ko-KR" altLang="en-US"/>
          </a:p>
        </p:txBody>
      </p:sp>
      <p:sp>
        <p:nvSpPr>
          <p:cNvPr id="20" name="Shape 16"/>
          <p:cNvSpPr/>
          <p:nvPr/>
        </p:nvSpPr>
        <p:spPr>
          <a:xfrm>
            <a:off x="2029968" y="4297680"/>
            <a:ext cx="265176" cy="274320"/>
          </a:xfrm>
          <a:prstGeom prst="rect">
            <a:avLst/>
          </a:prstGeom>
          <a:solidFill>
            <a:srgbClr val="2B5C8A"/>
          </a:solidFill>
          <a:ln/>
        </p:spPr>
        <p:txBody>
          <a:bodyPr/>
          <a:lstStyle/>
          <a:p>
            <a:endParaRPr lang="ko-KR" altLang="en-US"/>
          </a:p>
        </p:txBody>
      </p:sp>
      <p:sp>
        <p:nvSpPr>
          <p:cNvPr id="21" name="Shape 17"/>
          <p:cNvSpPr/>
          <p:nvPr/>
        </p:nvSpPr>
        <p:spPr>
          <a:xfrm>
            <a:off x="2331720" y="4297680"/>
            <a:ext cx="265176" cy="274320"/>
          </a:xfrm>
          <a:prstGeom prst="rect">
            <a:avLst/>
          </a:prstGeom>
          <a:solidFill>
            <a:srgbClr val="2B5C8A"/>
          </a:solidFill>
          <a:ln/>
        </p:spPr>
        <p:txBody>
          <a:bodyPr/>
          <a:lstStyle/>
          <a:p>
            <a:endParaRPr lang="ko-KR" altLang="en-US"/>
          </a:p>
        </p:txBody>
      </p:sp>
      <p:sp>
        <p:nvSpPr>
          <p:cNvPr id="22" name="Text 18"/>
          <p:cNvSpPr txBox="1"/>
          <p:nvPr/>
        </p:nvSpPr>
        <p:spPr>
          <a:xfrm>
            <a:off x="822960" y="4626864"/>
            <a:ext cx="1773936" cy="256032"/>
          </a:xfrm>
          <a:prstGeom prst="rect">
            <a:avLst/>
          </a:prstGeom>
          <a:noFill/>
          <a:ln/>
        </p:spPr>
        <p:txBody>
          <a:bodyPr wrap="square" lIns="0" tIns="0" rIns="0" bIns="0" rtlCol="0" anchor="t"/>
          <a:lstStyle/>
          <a:p>
            <a:pPr marL="0" indent="0" algn="ctr">
              <a:buNone/>
            </a:pPr>
            <a:r>
              <a:rPr lang="en-US" sz="1050" dirty="0">
                <a:solidFill>
                  <a:srgbClr val="66727C"/>
                </a:solidFill>
              </a:rPr>
              <a:t>학습</a:t>
            </a:r>
            <a:endParaRPr lang="en-US" sz="1050" dirty="0"/>
          </a:p>
        </p:txBody>
      </p:sp>
      <p:sp>
        <p:nvSpPr>
          <p:cNvPr id="23" name="Shape 19"/>
          <p:cNvSpPr/>
          <p:nvPr/>
        </p:nvSpPr>
        <p:spPr>
          <a:xfrm>
            <a:off x="2633472" y="4297680"/>
            <a:ext cx="265176" cy="274320"/>
          </a:xfrm>
          <a:prstGeom prst="rect">
            <a:avLst/>
          </a:prstGeom>
          <a:solidFill>
            <a:srgbClr val="9DBAF5"/>
          </a:solidFill>
          <a:ln/>
        </p:spPr>
        <p:txBody>
          <a:bodyPr/>
          <a:lstStyle/>
          <a:p>
            <a:endParaRPr lang="ko-KR" altLang="en-US"/>
          </a:p>
        </p:txBody>
      </p:sp>
      <p:sp>
        <p:nvSpPr>
          <p:cNvPr id="24" name="Shape 20"/>
          <p:cNvSpPr/>
          <p:nvPr/>
        </p:nvSpPr>
        <p:spPr>
          <a:xfrm>
            <a:off x="2935224" y="4297680"/>
            <a:ext cx="265176" cy="274320"/>
          </a:xfrm>
          <a:prstGeom prst="rect">
            <a:avLst/>
          </a:prstGeom>
          <a:solidFill>
            <a:srgbClr val="9DBAF5"/>
          </a:solidFill>
          <a:ln/>
        </p:spPr>
        <p:txBody>
          <a:bodyPr/>
          <a:lstStyle/>
          <a:p>
            <a:endParaRPr lang="ko-KR" altLang="en-US"/>
          </a:p>
        </p:txBody>
      </p:sp>
      <p:sp>
        <p:nvSpPr>
          <p:cNvPr id="25" name="Text 21"/>
          <p:cNvSpPr txBox="1"/>
          <p:nvPr/>
        </p:nvSpPr>
        <p:spPr>
          <a:xfrm>
            <a:off x="2633472" y="4626864"/>
            <a:ext cx="566928" cy="256032"/>
          </a:xfrm>
          <a:prstGeom prst="rect">
            <a:avLst/>
          </a:prstGeom>
          <a:noFill/>
          <a:ln/>
        </p:spPr>
        <p:txBody>
          <a:bodyPr wrap="square" lIns="0" tIns="0" rIns="0" bIns="0" rtlCol="0" anchor="t"/>
          <a:lstStyle/>
          <a:p>
            <a:pPr marL="0" indent="0" algn="ctr">
              <a:buNone/>
            </a:pPr>
            <a:r>
              <a:rPr lang="en-US" sz="1050" dirty="0">
                <a:solidFill>
                  <a:srgbClr val="66727C"/>
                </a:solidFill>
              </a:rPr>
              <a:t>검증</a:t>
            </a:r>
            <a:endParaRPr lang="en-US" sz="1050" dirty="0"/>
          </a:p>
        </p:txBody>
      </p:sp>
      <p:sp>
        <p:nvSpPr>
          <p:cNvPr id="26" name="Shape 22"/>
          <p:cNvSpPr/>
          <p:nvPr/>
        </p:nvSpPr>
        <p:spPr>
          <a:xfrm>
            <a:off x="3236976" y="4297680"/>
            <a:ext cx="265176" cy="274320"/>
          </a:xfrm>
          <a:prstGeom prst="rect">
            <a:avLst/>
          </a:prstGeom>
          <a:solidFill>
            <a:srgbClr val="E8902E"/>
          </a:solidFill>
          <a:ln/>
        </p:spPr>
        <p:txBody>
          <a:bodyPr/>
          <a:lstStyle/>
          <a:p>
            <a:endParaRPr lang="ko-KR" altLang="en-US"/>
          </a:p>
        </p:txBody>
      </p:sp>
      <p:sp>
        <p:nvSpPr>
          <p:cNvPr id="27" name="Shape 23"/>
          <p:cNvSpPr/>
          <p:nvPr/>
        </p:nvSpPr>
        <p:spPr>
          <a:xfrm>
            <a:off x="3538728" y="4297680"/>
            <a:ext cx="265176" cy="274320"/>
          </a:xfrm>
          <a:prstGeom prst="rect">
            <a:avLst/>
          </a:prstGeom>
          <a:solidFill>
            <a:srgbClr val="E8902E"/>
          </a:solidFill>
          <a:ln/>
        </p:spPr>
        <p:txBody>
          <a:bodyPr/>
          <a:lstStyle/>
          <a:p>
            <a:endParaRPr lang="ko-KR" altLang="en-US"/>
          </a:p>
        </p:txBody>
      </p:sp>
      <p:sp>
        <p:nvSpPr>
          <p:cNvPr id="28" name="Text 24"/>
          <p:cNvSpPr txBox="1"/>
          <p:nvPr/>
        </p:nvSpPr>
        <p:spPr>
          <a:xfrm>
            <a:off x="3236976" y="4626864"/>
            <a:ext cx="566928" cy="256032"/>
          </a:xfrm>
          <a:prstGeom prst="rect">
            <a:avLst/>
          </a:prstGeom>
          <a:noFill/>
          <a:ln/>
        </p:spPr>
        <p:txBody>
          <a:bodyPr wrap="square" lIns="0" tIns="0" rIns="0" bIns="0" rtlCol="0" anchor="t"/>
          <a:lstStyle/>
          <a:p>
            <a:pPr marL="0" indent="0" algn="ctr">
              <a:buNone/>
            </a:pPr>
            <a:r>
              <a:rPr lang="en-US" sz="1050" dirty="0">
                <a:solidFill>
                  <a:srgbClr val="66727C"/>
                </a:solidFill>
              </a:rPr>
              <a:t>시험</a:t>
            </a:r>
            <a:endParaRPr lang="en-US" sz="1050" dirty="0"/>
          </a:p>
        </p:txBody>
      </p:sp>
      <p:sp>
        <p:nvSpPr>
          <p:cNvPr id="29" name="Text 25"/>
          <p:cNvSpPr txBox="1"/>
          <p:nvPr/>
        </p:nvSpPr>
        <p:spPr>
          <a:xfrm>
            <a:off x="3026664" y="4023360"/>
            <a:ext cx="960120" cy="228600"/>
          </a:xfrm>
          <a:prstGeom prst="rect">
            <a:avLst/>
          </a:prstGeom>
          <a:noFill/>
          <a:ln/>
        </p:spPr>
        <p:txBody>
          <a:bodyPr wrap="square" lIns="0" tIns="0" rIns="0" bIns="0" rtlCol="0" anchor="t"/>
          <a:lstStyle/>
          <a:p>
            <a:pPr marL="0" indent="0" algn="r">
              <a:buNone/>
            </a:pPr>
            <a:r>
              <a:rPr lang="en-US" sz="950" dirty="0">
                <a:solidFill>
                  <a:srgbClr val="98A4AC"/>
                </a:solidFill>
              </a:rPr>
              <a:t>시간 →</a:t>
            </a:r>
            <a:endParaRPr lang="en-US" sz="950" dirty="0"/>
          </a:p>
        </p:txBody>
      </p:sp>
      <p:sp>
        <p:nvSpPr>
          <p:cNvPr id="30" name="단순 기준보다 나은가"/>
          <p:cNvSpPr/>
          <p:nvPr/>
        </p:nvSpPr>
        <p:spPr>
          <a:xfrm>
            <a:off x="4325112" y="1783080"/>
            <a:ext cx="3529584" cy="3383280"/>
          </a:xfrm>
          <a:prstGeom prst="roundRect">
            <a:avLst>
              <a:gd name="adj" fmla="val 378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1" name="Text 27"/>
          <p:cNvSpPr txBox="1"/>
          <p:nvPr/>
        </p:nvSpPr>
        <p:spPr>
          <a:xfrm>
            <a:off x="4599432" y="2011680"/>
            <a:ext cx="914400" cy="502920"/>
          </a:xfrm>
          <a:prstGeom prst="rect">
            <a:avLst/>
          </a:prstGeom>
          <a:noFill/>
          <a:ln/>
        </p:spPr>
        <p:txBody>
          <a:bodyPr wrap="square" lIns="0" tIns="0" rIns="0" bIns="0" rtlCol="0" anchor="t"/>
          <a:lstStyle/>
          <a:p>
            <a:pPr marL="0" indent="0">
              <a:buNone/>
            </a:pPr>
            <a:r>
              <a:rPr lang="en-US" sz="2800" b="1" dirty="0">
                <a:solidFill>
                  <a:srgbClr val="C9DAEA"/>
                </a:solidFill>
              </a:rPr>
              <a:t>02</a:t>
            </a:r>
            <a:endParaRPr lang="en-US" sz="2800" dirty="0"/>
          </a:p>
        </p:txBody>
      </p:sp>
      <p:sp>
        <p:nvSpPr>
          <p:cNvPr id="32" name="Shape 28"/>
          <p:cNvSpPr/>
          <p:nvPr/>
        </p:nvSpPr>
        <p:spPr>
          <a:xfrm>
            <a:off x="6940296" y="2011680"/>
            <a:ext cx="640080" cy="640080"/>
          </a:xfrm>
          <a:prstGeom prst="ellipse">
            <a:avLst/>
          </a:prstGeom>
          <a:solidFill>
            <a:srgbClr val="E4EDF5"/>
          </a:solidFill>
          <a:ln/>
        </p:spPr>
        <p:txBody>
          <a:bodyPr/>
          <a:lstStyle/>
          <a:p>
            <a:endParaRPr lang="ko-KR" altLang="en-US"/>
          </a:p>
        </p:txBody>
      </p:sp>
      <p:pic>
        <p:nvPicPr>
          <p:cNvPr id="33" name="Image 2" descr="preencoded.png"/>
          <p:cNvPicPr>
            <a:picLocks noChangeAspect="1"/>
          </p:cNvPicPr>
          <p:nvPr/>
        </p:nvPicPr>
        <p:blipFill>
          <a:blip r:embed="rId5"/>
          <a:stretch>
            <a:fillRect/>
          </a:stretch>
        </p:blipFill>
        <p:spPr>
          <a:xfrm>
            <a:off x="7100316" y="2171700"/>
            <a:ext cx="320040" cy="320040"/>
          </a:xfrm>
          <a:prstGeom prst="rect">
            <a:avLst/>
          </a:prstGeom>
        </p:spPr>
      </p:pic>
      <p:sp>
        <p:nvSpPr>
          <p:cNvPr id="34" name="Text 29"/>
          <p:cNvSpPr txBox="1"/>
          <p:nvPr/>
        </p:nvSpPr>
        <p:spPr>
          <a:xfrm>
            <a:off x="4599432" y="2743200"/>
            <a:ext cx="2980944" cy="411480"/>
          </a:xfrm>
          <a:prstGeom prst="rect">
            <a:avLst/>
          </a:prstGeom>
          <a:noFill/>
          <a:ln/>
        </p:spPr>
        <p:txBody>
          <a:bodyPr wrap="square" lIns="0" tIns="0" rIns="0" bIns="0" rtlCol="0" anchor="t"/>
          <a:lstStyle/>
          <a:p>
            <a:pPr marL="0" indent="0">
              <a:buNone/>
            </a:pPr>
            <a:r>
              <a:rPr lang="en-US" sz="1900" b="1" dirty="0">
                <a:solidFill>
                  <a:schemeClr val="tx1"/>
                </a:solidFill>
              </a:rPr>
              <a:t>단순 기준보다 나은가</a:t>
            </a:r>
            <a:endParaRPr lang="en-US" sz="1900" dirty="0"/>
          </a:p>
        </p:txBody>
      </p:sp>
      <p:sp>
        <p:nvSpPr>
          <p:cNvPr id="35" name="Text 30"/>
          <p:cNvSpPr txBox="1"/>
          <p:nvPr/>
        </p:nvSpPr>
        <p:spPr>
          <a:xfrm>
            <a:off x="4599432" y="3200400"/>
            <a:ext cx="2980944" cy="914400"/>
          </a:xfrm>
          <a:prstGeom prst="rect">
            <a:avLst/>
          </a:prstGeom>
          <a:noFill/>
          <a:ln/>
        </p:spPr>
        <p:txBody>
          <a:bodyPr wrap="square" lIns="0" tIns="0" rIns="0" bIns="0" rtlCol="0" anchor="t"/>
          <a:lstStyle/>
          <a:p>
            <a:pPr marL="0" indent="0">
              <a:buNone/>
            </a:pPr>
            <a:r>
              <a:rPr lang="en-US" sz="1600" dirty="0">
                <a:solidFill>
                  <a:srgbClr val="4A5568"/>
                </a:solidFill>
              </a:rPr>
              <a:t>직전 분기 그대로(naive)</a:t>
            </a:r>
            <a:endParaRPr lang="en-US" sz="1600" dirty="0"/>
          </a:p>
          <a:p>
            <a:pPr marL="0" indent="0">
              <a:buNone/>
            </a:pPr>
            <a:r>
              <a:rPr lang="en-US" sz="1600" dirty="0">
                <a:solidFill>
                  <a:srgbClr val="4A5568"/>
                </a:solidFill>
              </a:rPr>
              <a:t>보다 나은가</a:t>
            </a:r>
            <a:endParaRPr lang="en-US" sz="1600" dirty="0"/>
          </a:p>
        </p:txBody>
      </p:sp>
      <p:sp>
        <p:nvSpPr>
          <p:cNvPr id="36" name="Shape 31"/>
          <p:cNvSpPr/>
          <p:nvPr/>
        </p:nvSpPr>
        <p:spPr>
          <a:xfrm>
            <a:off x="4599432" y="4297680"/>
            <a:ext cx="1234440" cy="384048"/>
          </a:xfrm>
          <a:prstGeom prst="roundRect">
            <a:avLst>
              <a:gd name="adj" fmla="val 50000"/>
            </a:avLst>
          </a:prstGeom>
          <a:solidFill>
            <a:srgbClr val="EEF2F3"/>
          </a:solidFill>
          <a:ln/>
        </p:spPr>
        <p:txBody>
          <a:bodyPr/>
          <a:lstStyle/>
          <a:p>
            <a:endParaRPr lang="ko-KR" altLang="en-US"/>
          </a:p>
        </p:txBody>
      </p:sp>
      <p:sp>
        <p:nvSpPr>
          <p:cNvPr id="37" name="Text 32"/>
          <p:cNvSpPr txBox="1"/>
          <p:nvPr/>
        </p:nvSpPr>
        <p:spPr>
          <a:xfrm>
            <a:off x="4599432" y="4297680"/>
            <a:ext cx="1234440" cy="384048"/>
          </a:xfrm>
          <a:prstGeom prst="rect">
            <a:avLst/>
          </a:prstGeom>
          <a:noFill/>
          <a:ln/>
        </p:spPr>
        <p:txBody>
          <a:bodyPr wrap="square" lIns="0" tIns="0" rIns="0" bIns="0" rtlCol="0" anchor="ctr"/>
          <a:lstStyle/>
          <a:p>
            <a:pPr marL="0" indent="0" algn="ctr">
              <a:buNone/>
            </a:pPr>
            <a:r>
              <a:rPr lang="en-US" sz="1300" b="1" dirty="0">
                <a:solidFill>
                  <a:srgbClr val="4A5568"/>
                </a:solidFill>
              </a:rPr>
              <a:t>naive</a:t>
            </a:r>
            <a:endParaRPr lang="en-US" sz="1300" dirty="0"/>
          </a:p>
        </p:txBody>
      </p:sp>
      <p:sp>
        <p:nvSpPr>
          <p:cNvPr id="38" name="Text 33"/>
          <p:cNvSpPr txBox="1"/>
          <p:nvPr/>
        </p:nvSpPr>
        <p:spPr>
          <a:xfrm>
            <a:off x="5879592" y="4297680"/>
            <a:ext cx="411480" cy="384048"/>
          </a:xfrm>
          <a:prstGeom prst="rect">
            <a:avLst/>
          </a:prstGeom>
          <a:noFill/>
          <a:ln/>
        </p:spPr>
        <p:txBody>
          <a:bodyPr wrap="square" lIns="0" tIns="0" rIns="0" bIns="0" rtlCol="0" anchor="ctr"/>
          <a:lstStyle/>
          <a:p>
            <a:pPr marL="0" indent="0" algn="ctr">
              <a:buNone/>
            </a:pPr>
            <a:r>
              <a:rPr lang="en-US" sz="1300" b="1" dirty="0">
                <a:solidFill>
                  <a:srgbClr val="98A4AC"/>
                </a:solidFill>
              </a:rPr>
              <a:t>vs</a:t>
            </a:r>
            <a:endParaRPr lang="en-US" sz="1300" dirty="0"/>
          </a:p>
        </p:txBody>
      </p:sp>
      <p:sp>
        <p:nvSpPr>
          <p:cNvPr id="39" name="Shape 34"/>
          <p:cNvSpPr/>
          <p:nvPr/>
        </p:nvSpPr>
        <p:spPr>
          <a:xfrm>
            <a:off x="6336792" y="4297680"/>
            <a:ext cx="1234440" cy="384048"/>
          </a:xfrm>
          <a:prstGeom prst="roundRect">
            <a:avLst>
              <a:gd name="adj" fmla="val 50000"/>
            </a:avLst>
          </a:prstGeom>
          <a:solidFill>
            <a:srgbClr val="2B5C8A"/>
          </a:solidFill>
          <a:ln/>
        </p:spPr>
        <p:txBody>
          <a:bodyPr/>
          <a:lstStyle/>
          <a:p>
            <a:endParaRPr lang="ko-KR" altLang="en-US"/>
          </a:p>
        </p:txBody>
      </p:sp>
      <p:sp>
        <p:nvSpPr>
          <p:cNvPr id="40" name="Text 35"/>
          <p:cNvSpPr txBox="1"/>
          <p:nvPr/>
        </p:nvSpPr>
        <p:spPr>
          <a:xfrm>
            <a:off x="6336792" y="4297680"/>
            <a:ext cx="1234440" cy="384048"/>
          </a:xfrm>
          <a:prstGeom prst="rect">
            <a:avLst/>
          </a:prstGeom>
          <a:noFill/>
          <a:ln/>
        </p:spPr>
        <p:txBody>
          <a:bodyPr wrap="square" lIns="0" tIns="0" rIns="0" bIns="0" rtlCol="0" anchor="ctr"/>
          <a:lstStyle/>
          <a:p>
            <a:pPr marL="0" indent="0" algn="ctr">
              <a:buNone/>
            </a:pPr>
            <a:r>
              <a:rPr lang="en-US" sz="1300" b="1" dirty="0">
                <a:solidFill>
                  <a:srgbClr val="FFFFFF"/>
                </a:solidFill>
              </a:rPr>
              <a:t>모델</a:t>
            </a:r>
            <a:endParaRPr lang="en-US" sz="1300" dirty="0"/>
          </a:p>
        </p:txBody>
      </p:sp>
      <p:sp>
        <p:nvSpPr>
          <p:cNvPr id="41" name="백테스트"/>
          <p:cNvSpPr/>
          <p:nvPr/>
        </p:nvSpPr>
        <p:spPr>
          <a:xfrm>
            <a:off x="8101584" y="1783080"/>
            <a:ext cx="3529584" cy="3383280"/>
          </a:xfrm>
          <a:prstGeom prst="roundRect">
            <a:avLst>
              <a:gd name="adj" fmla="val 3784"/>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42" name="Text 37"/>
          <p:cNvSpPr txBox="1"/>
          <p:nvPr/>
        </p:nvSpPr>
        <p:spPr>
          <a:xfrm>
            <a:off x="8375904" y="2011680"/>
            <a:ext cx="914400" cy="502920"/>
          </a:xfrm>
          <a:prstGeom prst="rect">
            <a:avLst/>
          </a:prstGeom>
          <a:noFill/>
          <a:ln/>
        </p:spPr>
        <p:txBody>
          <a:bodyPr wrap="square" lIns="0" tIns="0" rIns="0" bIns="0" rtlCol="0" anchor="t"/>
          <a:lstStyle/>
          <a:p>
            <a:pPr marL="0" indent="0">
              <a:buNone/>
            </a:pPr>
            <a:r>
              <a:rPr lang="en-US" sz="2800" b="1" dirty="0">
                <a:solidFill>
                  <a:srgbClr val="C9DAEA"/>
                </a:solidFill>
              </a:rPr>
              <a:t>03</a:t>
            </a:r>
            <a:endParaRPr lang="en-US" sz="2800" dirty="0"/>
          </a:p>
        </p:txBody>
      </p:sp>
      <p:sp>
        <p:nvSpPr>
          <p:cNvPr id="43" name="Shape 38"/>
          <p:cNvSpPr/>
          <p:nvPr/>
        </p:nvSpPr>
        <p:spPr>
          <a:xfrm>
            <a:off x="10716768" y="2011680"/>
            <a:ext cx="640080" cy="640080"/>
          </a:xfrm>
          <a:prstGeom prst="ellipse">
            <a:avLst/>
          </a:prstGeom>
          <a:solidFill>
            <a:srgbClr val="E4EDF5"/>
          </a:solidFill>
          <a:ln/>
        </p:spPr>
        <p:txBody>
          <a:bodyPr/>
          <a:lstStyle/>
          <a:p>
            <a:endParaRPr lang="ko-KR" altLang="en-US"/>
          </a:p>
        </p:txBody>
      </p:sp>
      <p:pic>
        <p:nvPicPr>
          <p:cNvPr id="44" name="Image 3" descr="preencoded.png"/>
          <p:cNvPicPr>
            <a:picLocks noChangeAspect="1"/>
          </p:cNvPicPr>
          <p:nvPr/>
        </p:nvPicPr>
        <p:blipFill>
          <a:blip r:embed="rId6"/>
          <a:stretch>
            <a:fillRect/>
          </a:stretch>
        </p:blipFill>
        <p:spPr>
          <a:xfrm>
            <a:off x="10876788" y="2171700"/>
            <a:ext cx="320040" cy="320040"/>
          </a:xfrm>
          <a:prstGeom prst="rect">
            <a:avLst/>
          </a:prstGeom>
        </p:spPr>
      </p:pic>
      <p:sp>
        <p:nvSpPr>
          <p:cNvPr id="45" name="Text 39"/>
          <p:cNvSpPr txBox="1"/>
          <p:nvPr/>
        </p:nvSpPr>
        <p:spPr>
          <a:xfrm>
            <a:off x="8375904" y="2743200"/>
            <a:ext cx="2980944" cy="411480"/>
          </a:xfrm>
          <a:prstGeom prst="rect">
            <a:avLst/>
          </a:prstGeom>
          <a:noFill/>
          <a:ln/>
        </p:spPr>
        <p:txBody>
          <a:bodyPr wrap="square" lIns="0" tIns="0" rIns="0" bIns="0" rtlCol="0" anchor="t"/>
          <a:lstStyle/>
          <a:p>
            <a:pPr marL="0" indent="0">
              <a:buNone/>
            </a:pPr>
            <a:r>
              <a:rPr lang="en-US" sz="1900" b="1" dirty="0">
                <a:solidFill>
                  <a:schemeClr val="tx1"/>
                </a:solidFill>
              </a:rPr>
              <a:t>백테스트</a:t>
            </a:r>
            <a:endParaRPr lang="en-US" sz="1900" dirty="0"/>
          </a:p>
        </p:txBody>
      </p:sp>
      <p:sp>
        <p:nvSpPr>
          <p:cNvPr id="46" name="Text 40"/>
          <p:cNvSpPr txBox="1"/>
          <p:nvPr/>
        </p:nvSpPr>
        <p:spPr>
          <a:xfrm>
            <a:off x="8375904" y="3200400"/>
            <a:ext cx="2980944" cy="914400"/>
          </a:xfrm>
          <a:prstGeom prst="rect">
            <a:avLst/>
          </a:prstGeom>
          <a:noFill/>
          <a:ln/>
        </p:spPr>
        <p:txBody>
          <a:bodyPr wrap="square" lIns="0" tIns="0" rIns="0" bIns="0" rtlCol="0" anchor="t"/>
          <a:lstStyle/>
          <a:p>
            <a:pPr marL="0" indent="0">
              <a:buNone/>
            </a:pPr>
            <a:r>
              <a:rPr lang="en-US" sz="1600" dirty="0">
                <a:solidFill>
                  <a:srgbClr val="4A5568"/>
                </a:solidFill>
              </a:rPr>
              <a:t>과거에 추천한 동네가</a:t>
            </a:r>
            <a:endParaRPr lang="en-US" sz="1600" dirty="0"/>
          </a:p>
          <a:p>
            <a:pPr marL="0" indent="0">
              <a:buNone/>
            </a:pPr>
            <a:r>
              <a:rPr lang="en-US" sz="1600" dirty="0">
                <a:solidFill>
                  <a:srgbClr val="4A5568"/>
                </a:solidFill>
              </a:rPr>
              <a:t>실제로 잘됐나</a:t>
            </a:r>
            <a:endParaRPr lang="en-US" sz="1600" dirty="0"/>
          </a:p>
        </p:txBody>
      </p:sp>
      <p:sp>
        <p:nvSpPr>
          <p:cNvPr id="47" name="Shape 41"/>
          <p:cNvSpPr/>
          <p:nvPr/>
        </p:nvSpPr>
        <p:spPr>
          <a:xfrm>
            <a:off x="8375904" y="4297680"/>
            <a:ext cx="1325880" cy="384048"/>
          </a:xfrm>
          <a:prstGeom prst="roundRect">
            <a:avLst>
              <a:gd name="adj" fmla="val 50000"/>
            </a:avLst>
          </a:prstGeom>
          <a:solidFill>
            <a:srgbClr val="E4EDF5"/>
          </a:solidFill>
          <a:ln/>
        </p:spPr>
        <p:txBody>
          <a:bodyPr/>
          <a:lstStyle/>
          <a:p>
            <a:endParaRPr lang="ko-KR" altLang="en-US"/>
          </a:p>
        </p:txBody>
      </p:sp>
      <p:sp>
        <p:nvSpPr>
          <p:cNvPr id="48" name="Text 42"/>
          <p:cNvSpPr txBox="1"/>
          <p:nvPr/>
        </p:nvSpPr>
        <p:spPr>
          <a:xfrm>
            <a:off x="8375904" y="4297680"/>
            <a:ext cx="1325880" cy="384048"/>
          </a:xfrm>
          <a:prstGeom prst="rect">
            <a:avLst/>
          </a:prstGeom>
          <a:noFill/>
          <a:ln/>
        </p:spPr>
        <p:txBody>
          <a:bodyPr wrap="square" lIns="0" tIns="0" rIns="0" bIns="0" rtlCol="0" anchor="ctr"/>
          <a:lstStyle/>
          <a:p>
            <a:pPr marL="0" indent="0" algn="ctr">
              <a:buNone/>
            </a:pPr>
            <a:r>
              <a:rPr lang="en-US" sz="1200" b="1" dirty="0">
                <a:solidFill>
                  <a:srgbClr val="1F3F5E"/>
                </a:solidFill>
              </a:rPr>
              <a:t>과거 T 추천</a:t>
            </a:r>
            <a:endParaRPr lang="en-US" sz="1200" dirty="0"/>
          </a:p>
        </p:txBody>
      </p:sp>
      <p:sp>
        <p:nvSpPr>
          <p:cNvPr id="49" name="Shape 43"/>
          <p:cNvSpPr/>
          <p:nvPr/>
        </p:nvSpPr>
        <p:spPr>
          <a:xfrm>
            <a:off x="9747504" y="4489704"/>
            <a:ext cx="228600" cy="0"/>
          </a:xfrm>
          <a:prstGeom prst="line">
            <a:avLst/>
          </a:prstGeom>
          <a:noFill/>
          <a:ln w="25400">
            <a:solidFill>
              <a:srgbClr val="2B5C8A"/>
            </a:solidFill>
            <a:prstDash val="solid"/>
            <a:tailEnd type="triangle"/>
          </a:ln>
        </p:spPr>
        <p:txBody>
          <a:bodyPr/>
          <a:lstStyle/>
          <a:p>
            <a:endParaRPr lang="ko-KR" altLang="en-US"/>
          </a:p>
        </p:txBody>
      </p:sp>
      <p:sp>
        <p:nvSpPr>
          <p:cNvPr id="50" name="Shape 44"/>
          <p:cNvSpPr/>
          <p:nvPr/>
        </p:nvSpPr>
        <p:spPr>
          <a:xfrm>
            <a:off x="10021824" y="4297680"/>
            <a:ext cx="1325880" cy="384048"/>
          </a:xfrm>
          <a:prstGeom prst="roundRect">
            <a:avLst>
              <a:gd name="adj" fmla="val 50000"/>
            </a:avLst>
          </a:prstGeom>
          <a:solidFill>
            <a:srgbClr val="E4EDF5"/>
          </a:solidFill>
          <a:ln/>
        </p:spPr>
        <p:txBody>
          <a:bodyPr/>
          <a:lstStyle/>
          <a:p>
            <a:endParaRPr lang="ko-KR" altLang="en-US"/>
          </a:p>
        </p:txBody>
      </p:sp>
      <p:sp>
        <p:nvSpPr>
          <p:cNvPr id="51" name="Text 45"/>
          <p:cNvSpPr txBox="1"/>
          <p:nvPr/>
        </p:nvSpPr>
        <p:spPr>
          <a:xfrm>
            <a:off x="10021824" y="4297680"/>
            <a:ext cx="1325880" cy="384048"/>
          </a:xfrm>
          <a:prstGeom prst="rect">
            <a:avLst/>
          </a:prstGeom>
          <a:noFill/>
          <a:ln/>
        </p:spPr>
        <p:txBody>
          <a:bodyPr wrap="square" lIns="0" tIns="0" rIns="0" bIns="0" rtlCol="0" anchor="ctr"/>
          <a:lstStyle/>
          <a:p>
            <a:pPr marL="0" indent="0" algn="ctr">
              <a:buNone/>
            </a:pPr>
            <a:r>
              <a:rPr lang="en-US" sz="1200" b="1" dirty="0">
                <a:solidFill>
                  <a:srgbClr val="1F3F5E"/>
                </a:solidFill>
              </a:rPr>
              <a:t>이후 실제 성과</a:t>
            </a:r>
            <a:endParaRPr lang="en-US" sz="1200" dirty="0"/>
          </a:p>
        </p:txBody>
      </p:sp>
      <p:sp>
        <p:nvSpPr>
          <p:cNvPr id="52" name="Shape 46"/>
          <p:cNvSpPr/>
          <p:nvPr/>
        </p:nvSpPr>
        <p:spPr>
          <a:xfrm>
            <a:off x="1984248" y="5468112"/>
            <a:ext cx="8229600" cy="603504"/>
          </a:xfrm>
          <a:prstGeom prst="roundRect">
            <a:avLst>
              <a:gd name="adj" fmla="val 50000"/>
            </a:avLst>
          </a:prstGeom>
          <a:solidFill>
            <a:srgbClr val="1F3F5E"/>
          </a:solidFill>
          <a:ln/>
        </p:spPr>
        <p:txBody>
          <a:bodyPr/>
          <a:lstStyle/>
          <a:p>
            <a:endParaRPr lang="ko-KR" altLang="en-US"/>
          </a:p>
        </p:txBody>
      </p:sp>
      <p:sp>
        <p:nvSpPr>
          <p:cNvPr id="53" name="Text 47"/>
          <p:cNvSpPr txBox="1"/>
          <p:nvPr/>
        </p:nvSpPr>
        <p:spPr>
          <a:xfrm>
            <a:off x="1984248" y="5468112"/>
            <a:ext cx="8229600" cy="603504"/>
          </a:xfrm>
          <a:prstGeom prst="rect">
            <a:avLst/>
          </a:prstGeom>
          <a:noFill/>
          <a:ln/>
        </p:spPr>
        <p:txBody>
          <a:bodyPr wrap="square" lIns="0" tIns="0" rIns="0" bIns="0" rtlCol="0" anchor="ctr"/>
          <a:lstStyle/>
          <a:p>
            <a:pPr marL="0" indent="0" algn="ctr">
              <a:buNone/>
            </a:pPr>
            <a:r>
              <a:rPr lang="en-US" sz="1600" b="1" dirty="0">
                <a:solidFill>
                  <a:srgbClr val="FFFFFF"/>
                </a:solidFill>
              </a:rPr>
              <a:t>지금 시연은 더미 데이터  ·  실데이터 검증 결과는 </a:t>
            </a:r>
            <a:r>
              <a:rPr lang="en-US" sz="1600" b="1" dirty="0" err="1">
                <a:solidFill>
                  <a:srgbClr val="FFFFFF"/>
                </a:solidFill>
              </a:rPr>
              <a:t>최종</a:t>
            </a:r>
            <a:r>
              <a:rPr lang="en-US" sz="1600" b="1" dirty="0">
                <a:solidFill>
                  <a:srgbClr val="FFFFFF"/>
                </a:solidFill>
              </a:rPr>
              <a:t> </a:t>
            </a:r>
            <a:r>
              <a:rPr lang="en-US" sz="1600" b="1" dirty="0" err="1">
                <a:solidFill>
                  <a:srgbClr val="FFFFFF"/>
                </a:solidFill>
              </a:rPr>
              <a:t>발표에서</a:t>
            </a:r>
            <a:r>
              <a:rPr lang="en-US" sz="1600" b="1" dirty="0">
                <a:solidFill>
                  <a:srgbClr val="FFFFFF"/>
                </a:solidFill>
              </a:rPr>
              <a:t> 공개합니다</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지원사업 데이터"/>
          <p:cNvPicPr>
            <a:picLocks noChangeAspect="1"/>
          </p:cNvPicPr>
          <p:nvPr/>
        </p:nvPicPr>
        <p:blipFill>
          <a:blip r:embed="rId3"/>
          <a:stretch>
            <a:fillRect/>
          </a:stretch>
        </p:blipFill>
        <p:spPr>
          <a:xfrm>
            <a:off x="5195164" y="292608"/>
            <a:ext cx="1801368"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F2B544"/>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F2B544"/>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노현석</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공고문을 </a:t>
            </a:r>
            <a:r>
              <a:rPr lang="en-US" sz="2600" b="1" dirty="0">
                <a:solidFill>
                  <a:srgbClr val="2B5C8A"/>
                </a:solidFill>
              </a:rPr>
              <a:t>계산할 수 있는 조건</a:t>
            </a:r>
            <a:r>
              <a:rPr lang="en-US" sz="2600" b="1" dirty="0">
                <a:solidFill>
                  <a:srgbClr val="22303A"/>
                </a:solidFill>
              </a:rPr>
              <a:t>으로 바꿉니다</a:t>
            </a:r>
            <a:endParaRPr lang="en-US" sz="2600" dirty="0"/>
          </a:p>
        </p:txBody>
      </p:sp>
      <p:sp>
        <p:nvSpPr>
          <p:cNvPr id="10" name="수집"/>
          <p:cNvSpPr/>
          <p:nvPr/>
        </p:nvSpPr>
        <p:spPr>
          <a:xfrm>
            <a:off x="548640" y="1737360"/>
            <a:ext cx="2514600" cy="2286000"/>
          </a:xfrm>
          <a:prstGeom prst="roundRect">
            <a:avLst>
              <a:gd name="adj" fmla="val 560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1" name="Shape 8"/>
          <p:cNvSpPr/>
          <p:nvPr/>
        </p:nvSpPr>
        <p:spPr>
          <a:xfrm>
            <a:off x="1440180" y="1938528"/>
            <a:ext cx="731520" cy="731520"/>
          </a:xfrm>
          <a:prstGeom prst="ellipse">
            <a:avLst/>
          </a:prstGeom>
          <a:solidFill>
            <a:srgbClr val="E4EDF5"/>
          </a:solidFill>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1623060" y="2121408"/>
            <a:ext cx="365760" cy="365760"/>
          </a:xfrm>
          <a:prstGeom prst="rect">
            <a:avLst/>
          </a:prstGeom>
        </p:spPr>
      </p:pic>
      <p:sp>
        <p:nvSpPr>
          <p:cNvPr id="13" name="Text 9"/>
          <p:cNvSpPr txBox="1"/>
          <p:nvPr/>
        </p:nvSpPr>
        <p:spPr>
          <a:xfrm>
            <a:off x="548640" y="2743200"/>
            <a:ext cx="2514600" cy="365760"/>
          </a:xfrm>
          <a:prstGeom prst="rect">
            <a:avLst/>
          </a:prstGeom>
          <a:noFill/>
          <a:ln/>
        </p:spPr>
        <p:txBody>
          <a:bodyPr wrap="square" lIns="0" tIns="0" rIns="0" bIns="0" rtlCol="0" anchor="t"/>
          <a:lstStyle/>
          <a:p>
            <a:pPr marL="0" indent="0" algn="ctr">
              <a:buNone/>
            </a:pPr>
            <a:r>
              <a:rPr lang="en-US" sz="1700" b="1" dirty="0">
                <a:solidFill>
                  <a:schemeClr val="tx1"/>
                </a:solidFill>
              </a:rPr>
              <a:t>수집</a:t>
            </a:r>
            <a:endParaRPr lang="en-US" sz="1700" dirty="0"/>
          </a:p>
        </p:txBody>
      </p:sp>
      <p:sp>
        <p:nvSpPr>
          <p:cNvPr id="14" name="Text 10"/>
          <p:cNvSpPr txBox="1"/>
          <p:nvPr/>
        </p:nvSpPr>
        <p:spPr>
          <a:xfrm>
            <a:off x="685800" y="3108960"/>
            <a:ext cx="2240280" cy="502920"/>
          </a:xfrm>
          <a:prstGeom prst="rect">
            <a:avLst/>
          </a:prstGeom>
          <a:noFill/>
          <a:ln/>
        </p:spPr>
        <p:txBody>
          <a:bodyPr wrap="square" lIns="0" tIns="0" rIns="0" bIns="0" rtlCol="0" anchor="t"/>
          <a:lstStyle/>
          <a:p>
            <a:pPr marL="0" indent="0" algn="ctr">
              <a:buNone/>
            </a:pPr>
            <a:r>
              <a:rPr lang="en-US" sz="1400" dirty="0">
                <a:solidFill>
                  <a:srgbClr val="4A5568"/>
                </a:solidFill>
              </a:rPr>
              <a:t>기업마당 API · 구청 공고</a:t>
            </a:r>
            <a:endParaRPr lang="en-US" sz="1400" dirty="0"/>
          </a:p>
        </p:txBody>
      </p:sp>
      <p:sp>
        <p:nvSpPr>
          <p:cNvPr id="15" name="Shape 11"/>
          <p:cNvSpPr/>
          <p:nvPr/>
        </p:nvSpPr>
        <p:spPr>
          <a:xfrm>
            <a:off x="1211580" y="3611880"/>
            <a:ext cx="1188720" cy="292608"/>
          </a:xfrm>
          <a:prstGeom prst="roundRect">
            <a:avLst>
              <a:gd name="adj" fmla="val 50000"/>
            </a:avLst>
          </a:prstGeom>
          <a:solidFill>
            <a:srgbClr val="1F9D74"/>
          </a:solidFill>
          <a:ln/>
        </p:spPr>
        <p:txBody>
          <a:bodyPr/>
          <a:lstStyle/>
          <a:p>
            <a:endParaRPr lang="ko-KR" altLang="en-US"/>
          </a:p>
        </p:txBody>
      </p:sp>
      <p:sp>
        <p:nvSpPr>
          <p:cNvPr id="16" name="Text 12"/>
          <p:cNvSpPr txBox="1"/>
          <p:nvPr/>
        </p:nvSpPr>
        <p:spPr>
          <a:xfrm>
            <a:off x="1211580" y="3611880"/>
            <a:ext cx="1188720" cy="292608"/>
          </a:xfrm>
          <a:prstGeom prst="rect">
            <a:avLst/>
          </a:prstGeom>
          <a:noFill/>
          <a:ln/>
        </p:spPr>
        <p:txBody>
          <a:bodyPr wrap="square" lIns="0" tIns="0" rIns="0" bIns="0" rtlCol="0" anchor="ctr"/>
          <a:lstStyle/>
          <a:p>
            <a:pPr marL="0" indent="0" algn="ctr">
              <a:buNone/>
            </a:pPr>
            <a:r>
              <a:rPr lang="en-US" sz="1050" b="1" dirty="0">
                <a:solidFill>
                  <a:srgbClr val="FFFFFF"/>
                </a:solidFill>
              </a:rPr>
              <a:t>수집기 완료</a:t>
            </a:r>
            <a:endParaRPr lang="en-US" sz="1050" dirty="0"/>
          </a:p>
        </p:txBody>
      </p:sp>
      <p:sp>
        <p:nvSpPr>
          <p:cNvPr id="17" name="Shape 13"/>
          <p:cNvSpPr/>
          <p:nvPr/>
        </p:nvSpPr>
        <p:spPr>
          <a:xfrm>
            <a:off x="3108960" y="2880360"/>
            <a:ext cx="253289" cy="0"/>
          </a:xfrm>
          <a:prstGeom prst="line">
            <a:avLst/>
          </a:prstGeom>
          <a:noFill/>
          <a:ln w="31750">
            <a:solidFill>
              <a:srgbClr val="2B5C8A"/>
            </a:solidFill>
            <a:prstDash val="solid"/>
            <a:tailEnd type="triangle"/>
          </a:ln>
        </p:spPr>
        <p:txBody>
          <a:bodyPr/>
          <a:lstStyle/>
          <a:p>
            <a:endParaRPr lang="ko-KR" altLang="en-US"/>
          </a:p>
        </p:txBody>
      </p:sp>
      <p:sp>
        <p:nvSpPr>
          <p:cNvPr id="18" name="LLM 구조화"/>
          <p:cNvSpPr/>
          <p:nvPr/>
        </p:nvSpPr>
        <p:spPr>
          <a:xfrm>
            <a:off x="3407969" y="1737360"/>
            <a:ext cx="2514600" cy="2286000"/>
          </a:xfrm>
          <a:prstGeom prst="roundRect">
            <a:avLst>
              <a:gd name="adj" fmla="val 560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19" name="Shape 15"/>
          <p:cNvSpPr/>
          <p:nvPr/>
        </p:nvSpPr>
        <p:spPr>
          <a:xfrm>
            <a:off x="4299509" y="1938528"/>
            <a:ext cx="731520" cy="731520"/>
          </a:xfrm>
          <a:prstGeom prst="ellipse">
            <a:avLst/>
          </a:prstGeom>
          <a:solidFill>
            <a:srgbClr val="E4EDF5"/>
          </a:solidFill>
          <a:ln/>
        </p:spPr>
        <p:txBody>
          <a:bodyPr/>
          <a:lstStyle/>
          <a:p>
            <a:endParaRPr lang="ko-KR" altLang="en-US"/>
          </a:p>
        </p:txBody>
      </p:sp>
      <p:pic>
        <p:nvPicPr>
          <p:cNvPr id="20" name="Image 2" descr="preencoded.png"/>
          <p:cNvPicPr>
            <a:picLocks noChangeAspect="1"/>
          </p:cNvPicPr>
          <p:nvPr/>
        </p:nvPicPr>
        <p:blipFill>
          <a:blip r:embed="rId5"/>
          <a:stretch>
            <a:fillRect/>
          </a:stretch>
        </p:blipFill>
        <p:spPr>
          <a:xfrm>
            <a:off x="4482389" y="2121408"/>
            <a:ext cx="365760" cy="365760"/>
          </a:xfrm>
          <a:prstGeom prst="rect">
            <a:avLst/>
          </a:prstGeom>
        </p:spPr>
      </p:pic>
      <p:sp>
        <p:nvSpPr>
          <p:cNvPr id="21" name="Text 16"/>
          <p:cNvSpPr txBox="1"/>
          <p:nvPr/>
        </p:nvSpPr>
        <p:spPr>
          <a:xfrm>
            <a:off x="3407969" y="2743200"/>
            <a:ext cx="2514600" cy="365760"/>
          </a:xfrm>
          <a:prstGeom prst="rect">
            <a:avLst/>
          </a:prstGeom>
          <a:noFill/>
          <a:ln/>
        </p:spPr>
        <p:txBody>
          <a:bodyPr wrap="square" lIns="0" tIns="0" rIns="0" bIns="0" rtlCol="0" anchor="t"/>
          <a:lstStyle/>
          <a:p>
            <a:pPr marL="0" indent="0" algn="ctr">
              <a:buNone/>
            </a:pPr>
            <a:r>
              <a:rPr lang="en-US" sz="1700" b="1" dirty="0">
                <a:solidFill>
                  <a:schemeClr val="tx1"/>
                </a:solidFill>
              </a:rPr>
              <a:t>LLM 구조화</a:t>
            </a:r>
            <a:endParaRPr lang="en-US" sz="1700" dirty="0"/>
          </a:p>
        </p:txBody>
      </p:sp>
      <p:sp>
        <p:nvSpPr>
          <p:cNvPr id="22" name="Text 17"/>
          <p:cNvSpPr txBox="1"/>
          <p:nvPr/>
        </p:nvSpPr>
        <p:spPr>
          <a:xfrm>
            <a:off x="3545129" y="3108960"/>
            <a:ext cx="2240280" cy="502920"/>
          </a:xfrm>
          <a:prstGeom prst="rect">
            <a:avLst/>
          </a:prstGeom>
          <a:noFill/>
          <a:ln/>
        </p:spPr>
        <p:txBody>
          <a:bodyPr wrap="square" lIns="0" tIns="0" rIns="0" bIns="0" rtlCol="0" anchor="t"/>
          <a:lstStyle/>
          <a:p>
            <a:pPr marL="0" indent="0" algn="ctr">
              <a:buNone/>
            </a:pPr>
            <a:r>
              <a:rPr lang="en-US" sz="1400" dirty="0">
                <a:solidFill>
                  <a:srgbClr val="4A5568"/>
                </a:solidFill>
              </a:rPr>
              <a:t>금액 · 자치구 · 자격 조건</a:t>
            </a:r>
            <a:endParaRPr lang="en-US" sz="1400" dirty="0"/>
          </a:p>
        </p:txBody>
      </p:sp>
      <p:sp>
        <p:nvSpPr>
          <p:cNvPr id="23" name="Shape 18"/>
          <p:cNvSpPr/>
          <p:nvPr/>
        </p:nvSpPr>
        <p:spPr>
          <a:xfrm>
            <a:off x="4070909" y="3611880"/>
            <a:ext cx="1188720" cy="292608"/>
          </a:xfrm>
          <a:prstGeom prst="roundRect">
            <a:avLst>
              <a:gd name="adj" fmla="val 50000"/>
            </a:avLst>
          </a:prstGeom>
          <a:solidFill>
            <a:srgbClr val="E8902E"/>
          </a:solidFill>
          <a:ln/>
        </p:spPr>
        <p:txBody>
          <a:bodyPr/>
          <a:lstStyle/>
          <a:p>
            <a:endParaRPr lang="ko-KR" altLang="en-US"/>
          </a:p>
        </p:txBody>
      </p:sp>
      <p:sp>
        <p:nvSpPr>
          <p:cNvPr id="24" name="Text 19"/>
          <p:cNvSpPr txBox="1"/>
          <p:nvPr/>
        </p:nvSpPr>
        <p:spPr>
          <a:xfrm>
            <a:off x="4070909" y="3611880"/>
            <a:ext cx="1188720" cy="292608"/>
          </a:xfrm>
          <a:prstGeom prst="rect">
            <a:avLst/>
          </a:prstGeom>
          <a:noFill/>
          <a:ln/>
        </p:spPr>
        <p:txBody>
          <a:bodyPr wrap="square" lIns="0" tIns="0" rIns="0" bIns="0" rtlCol="0" anchor="ctr"/>
          <a:lstStyle/>
          <a:p>
            <a:pPr marL="0" indent="0" algn="ctr">
              <a:buNone/>
            </a:pPr>
            <a:r>
              <a:rPr lang="en-US" sz="1050" b="1" dirty="0">
                <a:solidFill>
                  <a:srgbClr val="FFFFFF"/>
                </a:solidFill>
              </a:rPr>
              <a:t>예정</a:t>
            </a:r>
            <a:endParaRPr lang="en-US" sz="1050" dirty="0"/>
          </a:p>
        </p:txBody>
      </p:sp>
      <p:sp>
        <p:nvSpPr>
          <p:cNvPr id="25" name="Shape 20"/>
          <p:cNvSpPr/>
          <p:nvPr/>
        </p:nvSpPr>
        <p:spPr>
          <a:xfrm>
            <a:off x="5968289" y="2880360"/>
            <a:ext cx="253289" cy="0"/>
          </a:xfrm>
          <a:prstGeom prst="line">
            <a:avLst/>
          </a:prstGeom>
          <a:noFill/>
          <a:ln w="31750">
            <a:solidFill>
              <a:srgbClr val="2B5C8A"/>
            </a:solidFill>
            <a:prstDash val="solid"/>
            <a:tailEnd type="triangle"/>
          </a:ln>
        </p:spPr>
        <p:txBody>
          <a:bodyPr/>
          <a:lstStyle/>
          <a:p>
            <a:endParaRPr lang="ko-KR" altLang="en-US"/>
          </a:p>
        </p:txBody>
      </p:sp>
      <p:sp>
        <p:nvSpPr>
          <p:cNvPr id="26" name="사람 검수"/>
          <p:cNvSpPr/>
          <p:nvPr/>
        </p:nvSpPr>
        <p:spPr>
          <a:xfrm>
            <a:off x="6267298" y="1737360"/>
            <a:ext cx="2514600" cy="2286000"/>
          </a:xfrm>
          <a:prstGeom prst="roundRect">
            <a:avLst>
              <a:gd name="adj" fmla="val 560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7" name="Shape 22"/>
          <p:cNvSpPr/>
          <p:nvPr/>
        </p:nvSpPr>
        <p:spPr>
          <a:xfrm>
            <a:off x="7158838" y="1938528"/>
            <a:ext cx="731520" cy="731520"/>
          </a:xfrm>
          <a:prstGeom prst="ellipse">
            <a:avLst/>
          </a:prstGeom>
          <a:solidFill>
            <a:srgbClr val="E4EDF5"/>
          </a:solidFill>
          <a:ln/>
        </p:spPr>
        <p:txBody>
          <a:bodyPr/>
          <a:lstStyle/>
          <a:p>
            <a:endParaRPr lang="ko-KR" altLang="en-US"/>
          </a:p>
        </p:txBody>
      </p:sp>
      <p:pic>
        <p:nvPicPr>
          <p:cNvPr id="28" name="Image 3" descr="preencoded.png"/>
          <p:cNvPicPr>
            <a:picLocks noChangeAspect="1"/>
          </p:cNvPicPr>
          <p:nvPr/>
        </p:nvPicPr>
        <p:blipFill>
          <a:blip r:embed="rId6"/>
          <a:stretch>
            <a:fillRect/>
          </a:stretch>
        </p:blipFill>
        <p:spPr>
          <a:xfrm>
            <a:off x="7341718" y="2121408"/>
            <a:ext cx="365760" cy="365760"/>
          </a:xfrm>
          <a:prstGeom prst="rect">
            <a:avLst/>
          </a:prstGeom>
        </p:spPr>
      </p:pic>
      <p:sp>
        <p:nvSpPr>
          <p:cNvPr id="29" name="Text 23"/>
          <p:cNvSpPr txBox="1"/>
          <p:nvPr/>
        </p:nvSpPr>
        <p:spPr>
          <a:xfrm>
            <a:off x="6267298" y="2743200"/>
            <a:ext cx="2514600" cy="365760"/>
          </a:xfrm>
          <a:prstGeom prst="rect">
            <a:avLst/>
          </a:prstGeom>
          <a:noFill/>
          <a:ln/>
        </p:spPr>
        <p:txBody>
          <a:bodyPr wrap="square" lIns="0" tIns="0" rIns="0" bIns="0" rtlCol="0" anchor="t"/>
          <a:lstStyle/>
          <a:p>
            <a:pPr marL="0" indent="0" algn="ctr">
              <a:buNone/>
            </a:pPr>
            <a:r>
              <a:rPr lang="en-US" sz="1700" b="1" dirty="0">
                <a:solidFill>
                  <a:schemeClr val="tx1"/>
                </a:solidFill>
              </a:rPr>
              <a:t>사람 검수</a:t>
            </a:r>
            <a:endParaRPr lang="en-US" sz="1700" dirty="0"/>
          </a:p>
        </p:txBody>
      </p:sp>
      <p:sp>
        <p:nvSpPr>
          <p:cNvPr id="30" name="Text 24"/>
          <p:cNvSpPr txBox="1"/>
          <p:nvPr/>
        </p:nvSpPr>
        <p:spPr>
          <a:xfrm>
            <a:off x="6404458" y="3108960"/>
            <a:ext cx="2240280" cy="502920"/>
          </a:xfrm>
          <a:prstGeom prst="rect">
            <a:avLst/>
          </a:prstGeom>
          <a:noFill/>
          <a:ln/>
        </p:spPr>
        <p:txBody>
          <a:bodyPr wrap="square" lIns="0" tIns="0" rIns="0" bIns="0" rtlCol="0" anchor="t"/>
          <a:lstStyle/>
          <a:p>
            <a:pPr marL="0" indent="0" algn="ctr">
              <a:buNone/>
            </a:pPr>
            <a:r>
              <a:rPr lang="en-US" sz="1400" dirty="0">
                <a:solidFill>
                  <a:srgbClr val="4A5568"/>
                </a:solidFill>
              </a:rPr>
              <a:t>검수된 공고만 사용</a:t>
            </a:r>
            <a:endParaRPr lang="en-US" sz="1400" dirty="0"/>
          </a:p>
        </p:txBody>
      </p:sp>
      <p:sp>
        <p:nvSpPr>
          <p:cNvPr id="31" name="Shape 25"/>
          <p:cNvSpPr/>
          <p:nvPr/>
        </p:nvSpPr>
        <p:spPr>
          <a:xfrm>
            <a:off x="6930238" y="3611880"/>
            <a:ext cx="1188720" cy="292608"/>
          </a:xfrm>
          <a:prstGeom prst="roundRect">
            <a:avLst>
              <a:gd name="adj" fmla="val 50000"/>
            </a:avLst>
          </a:prstGeom>
          <a:solidFill>
            <a:srgbClr val="E8902E"/>
          </a:solidFill>
          <a:ln/>
        </p:spPr>
        <p:txBody>
          <a:bodyPr/>
          <a:lstStyle/>
          <a:p>
            <a:endParaRPr lang="ko-KR" altLang="en-US"/>
          </a:p>
        </p:txBody>
      </p:sp>
      <p:sp>
        <p:nvSpPr>
          <p:cNvPr id="32" name="Text 26"/>
          <p:cNvSpPr txBox="1"/>
          <p:nvPr/>
        </p:nvSpPr>
        <p:spPr>
          <a:xfrm>
            <a:off x="6930238" y="3611880"/>
            <a:ext cx="1188720" cy="292608"/>
          </a:xfrm>
          <a:prstGeom prst="rect">
            <a:avLst/>
          </a:prstGeom>
          <a:noFill/>
          <a:ln/>
        </p:spPr>
        <p:txBody>
          <a:bodyPr wrap="square" lIns="0" tIns="0" rIns="0" bIns="0" rtlCol="0" anchor="ctr"/>
          <a:lstStyle/>
          <a:p>
            <a:pPr marL="0" indent="0" algn="ctr">
              <a:buNone/>
            </a:pPr>
            <a:r>
              <a:rPr lang="en-US" sz="1050" b="1" dirty="0">
                <a:solidFill>
                  <a:srgbClr val="FFFFFF"/>
                </a:solidFill>
              </a:rPr>
              <a:t>예정</a:t>
            </a:r>
            <a:endParaRPr lang="en-US" sz="1050" dirty="0"/>
          </a:p>
        </p:txBody>
      </p:sp>
      <p:sp>
        <p:nvSpPr>
          <p:cNvPr id="33" name="Shape 27"/>
          <p:cNvSpPr/>
          <p:nvPr/>
        </p:nvSpPr>
        <p:spPr>
          <a:xfrm>
            <a:off x="8827618" y="2880360"/>
            <a:ext cx="253289" cy="0"/>
          </a:xfrm>
          <a:prstGeom prst="line">
            <a:avLst/>
          </a:prstGeom>
          <a:noFill/>
          <a:ln w="31750">
            <a:solidFill>
              <a:srgbClr val="2B5C8A"/>
            </a:solidFill>
            <a:prstDash val="solid"/>
            <a:tailEnd type="triangle"/>
          </a:ln>
        </p:spPr>
        <p:txBody>
          <a:bodyPr/>
          <a:lstStyle/>
          <a:p>
            <a:endParaRPr lang="ko-KR" altLang="en-US"/>
          </a:p>
        </p:txBody>
      </p:sp>
      <p:sp>
        <p:nvSpPr>
          <p:cNvPr id="34" name="매칭 · 계산"/>
          <p:cNvSpPr/>
          <p:nvPr/>
        </p:nvSpPr>
        <p:spPr>
          <a:xfrm>
            <a:off x="9126626" y="1737360"/>
            <a:ext cx="2514600" cy="2286000"/>
          </a:xfrm>
          <a:prstGeom prst="roundRect">
            <a:avLst>
              <a:gd name="adj" fmla="val 5600"/>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35" name="Shape 29"/>
          <p:cNvSpPr/>
          <p:nvPr/>
        </p:nvSpPr>
        <p:spPr>
          <a:xfrm>
            <a:off x="10018166" y="1938528"/>
            <a:ext cx="731520" cy="731520"/>
          </a:xfrm>
          <a:prstGeom prst="ellipse">
            <a:avLst/>
          </a:prstGeom>
          <a:solidFill>
            <a:srgbClr val="E4EDF5"/>
          </a:solidFill>
          <a:ln/>
        </p:spPr>
        <p:txBody>
          <a:bodyPr/>
          <a:lstStyle/>
          <a:p>
            <a:endParaRPr lang="ko-KR" altLang="en-US"/>
          </a:p>
        </p:txBody>
      </p:sp>
      <p:pic>
        <p:nvPicPr>
          <p:cNvPr id="36" name="Image 4" descr="preencoded.png"/>
          <p:cNvPicPr>
            <a:picLocks noChangeAspect="1"/>
          </p:cNvPicPr>
          <p:nvPr/>
        </p:nvPicPr>
        <p:blipFill>
          <a:blip r:embed="rId7"/>
          <a:stretch>
            <a:fillRect/>
          </a:stretch>
        </p:blipFill>
        <p:spPr>
          <a:xfrm>
            <a:off x="10201046" y="2121408"/>
            <a:ext cx="365760" cy="365760"/>
          </a:xfrm>
          <a:prstGeom prst="rect">
            <a:avLst/>
          </a:prstGeom>
        </p:spPr>
      </p:pic>
      <p:sp>
        <p:nvSpPr>
          <p:cNvPr id="37" name="Text 30"/>
          <p:cNvSpPr txBox="1"/>
          <p:nvPr/>
        </p:nvSpPr>
        <p:spPr>
          <a:xfrm>
            <a:off x="9126626" y="2743200"/>
            <a:ext cx="2514600" cy="365760"/>
          </a:xfrm>
          <a:prstGeom prst="rect">
            <a:avLst/>
          </a:prstGeom>
          <a:noFill/>
          <a:ln/>
        </p:spPr>
        <p:txBody>
          <a:bodyPr wrap="square" lIns="0" tIns="0" rIns="0" bIns="0" rtlCol="0" anchor="t"/>
          <a:lstStyle/>
          <a:p>
            <a:pPr marL="0" indent="0" algn="ctr">
              <a:buNone/>
            </a:pPr>
            <a:r>
              <a:rPr lang="en-US" sz="1700" b="1" dirty="0">
                <a:solidFill>
                  <a:schemeClr val="tx1"/>
                </a:solidFill>
              </a:rPr>
              <a:t>매칭 · 계산</a:t>
            </a:r>
            <a:endParaRPr lang="en-US" sz="1700" dirty="0"/>
          </a:p>
        </p:txBody>
      </p:sp>
      <p:sp>
        <p:nvSpPr>
          <p:cNvPr id="38" name="Text 31"/>
          <p:cNvSpPr txBox="1"/>
          <p:nvPr/>
        </p:nvSpPr>
        <p:spPr>
          <a:xfrm>
            <a:off x="9263786" y="3108960"/>
            <a:ext cx="2240280" cy="502920"/>
          </a:xfrm>
          <a:prstGeom prst="rect">
            <a:avLst/>
          </a:prstGeom>
          <a:noFill/>
          <a:ln/>
        </p:spPr>
        <p:txBody>
          <a:bodyPr wrap="square" lIns="0" tIns="0" rIns="0" bIns="0" rtlCol="0" anchor="t"/>
          <a:lstStyle/>
          <a:p>
            <a:pPr marL="0" indent="0" algn="ctr">
              <a:buNone/>
            </a:pPr>
            <a:r>
              <a:rPr lang="en-US" sz="1400" dirty="0">
                <a:solidFill>
                  <a:srgbClr val="4A5568"/>
                </a:solidFill>
              </a:rPr>
              <a:t>구별 가용 예산</a:t>
            </a:r>
            <a:endParaRPr lang="en-US" sz="1400" dirty="0"/>
          </a:p>
        </p:txBody>
      </p:sp>
      <p:sp>
        <p:nvSpPr>
          <p:cNvPr id="39" name="Shape 32"/>
          <p:cNvSpPr/>
          <p:nvPr/>
        </p:nvSpPr>
        <p:spPr>
          <a:xfrm>
            <a:off x="9789566" y="3611880"/>
            <a:ext cx="1188720" cy="292608"/>
          </a:xfrm>
          <a:prstGeom prst="roundRect">
            <a:avLst>
              <a:gd name="adj" fmla="val 50000"/>
            </a:avLst>
          </a:prstGeom>
          <a:solidFill>
            <a:srgbClr val="1F9D74"/>
          </a:solidFill>
          <a:ln/>
        </p:spPr>
        <p:txBody>
          <a:bodyPr/>
          <a:lstStyle/>
          <a:p>
            <a:endParaRPr lang="ko-KR" altLang="en-US"/>
          </a:p>
        </p:txBody>
      </p:sp>
      <p:sp>
        <p:nvSpPr>
          <p:cNvPr id="40" name="Text 33"/>
          <p:cNvSpPr txBox="1"/>
          <p:nvPr/>
        </p:nvSpPr>
        <p:spPr>
          <a:xfrm>
            <a:off x="9789566" y="3611880"/>
            <a:ext cx="1188720" cy="292608"/>
          </a:xfrm>
          <a:prstGeom prst="rect">
            <a:avLst/>
          </a:prstGeom>
          <a:noFill/>
          <a:ln/>
        </p:spPr>
        <p:txBody>
          <a:bodyPr wrap="square" lIns="0" tIns="0" rIns="0" bIns="0" rtlCol="0" anchor="ctr"/>
          <a:lstStyle/>
          <a:p>
            <a:pPr marL="0" indent="0" algn="ctr">
              <a:buNone/>
            </a:pPr>
            <a:r>
              <a:rPr lang="en-US" sz="1050" b="1" dirty="0">
                <a:solidFill>
                  <a:srgbClr val="FFFFFF"/>
                </a:solidFill>
              </a:rPr>
              <a:t>완료</a:t>
            </a:r>
            <a:endParaRPr lang="en-US" sz="1050" dirty="0"/>
          </a:p>
        </p:txBody>
      </p:sp>
      <p:sp>
        <p:nvSpPr>
          <p:cNvPr id="41" name="서울 전용 공고"/>
          <p:cNvSpPr/>
          <p:nvPr/>
        </p:nvSpPr>
        <p:spPr>
          <a:xfrm>
            <a:off x="548640" y="4206240"/>
            <a:ext cx="3538728" cy="1188720"/>
          </a:xfrm>
          <a:prstGeom prst="roundRect">
            <a:avLst>
              <a:gd name="adj" fmla="val 10769"/>
            </a:avLst>
          </a:prstGeom>
          <a:solidFill>
            <a:srgbClr val="E4EDF5"/>
          </a:solidFill>
          <a:ln/>
        </p:spPr>
        <p:txBody>
          <a:bodyPr/>
          <a:lstStyle/>
          <a:p>
            <a:endParaRPr lang="ko-KR" altLang="en-US"/>
          </a:p>
        </p:txBody>
      </p:sp>
      <p:sp>
        <p:nvSpPr>
          <p:cNvPr id="42" name="Text 35"/>
          <p:cNvSpPr txBox="1"/>
          <p:nvPr/>
        </p:nvSpPr>
        <p:spPr>
          <a:xfrm>
            <a:off x="777240" y="4206240"/>
            <a:ext cx="1600200" cy="1188720"/>
          </a:xfrm>
          <a:prstGeom prst="rect">
            <a:avLst/>
          </a:prstGeom>
          <a:noFill/>
          <a:ln/>
        </p:spPr>
        <p:txBody>
          <a:bodyPr wrap="square" lIns="0" tIns="0" rIns="0" bIns="0" rtlCol="0" anchor="ctr"/>
          <a:lstStyle/>
          <a:p>
            <a:pPr marL="0" indent="0">
              <a:buNone/>
            </a:pPr>
            <a:r>
              <a:rPr lang="en-US" sz="2800" b="1" dirty="0">
                <a:solidFill>
                  <a:srgbClr val="2B5C8A"/>
                </a:solidFill>
              </a:rPr>
              <a:t>51건</a:t>
            </a:r>
            <a:endParaRPr lang="en-US" sz="2800" dirty="0"/>
          </a:p>
        </p:txBody>
      </p:sp>
      <p:sp>
        <p:nvSpPr>
          <p:cNvPr id="43" name="Text 36"/>
          <p:cNvSpPr txBox="1"/>
          <p:nvPr/>
        </p:nvSpPr>
        <p:spPr>
          <a:xfrm>
            <a:off x="2377440" y="4206240"/>
            <a:ext cx="1645920" cy="1188720"/>
          </a:xfrm>
          <a:prstGeom prst="rect">
            <a:avLst/>
          </a:prstGeom>
          <a:noFill/>
          <a:ln/>
        </p:spPr>
        <p:txBody>
          <a:bodyPr wrap="square" lIns="0" tIns="0" rIns="0" bIns="0" rtlCol="0" anchor="ctr"/>
          <a:lstStyle/>
          <a:p>
            <a:pPr marL="0" indent="0">
              <a:buNone/>
            </a:pPr>
            <a:r>
              <a:rPr lang="en-US" sz="1300" b="1" dirty="0">
                <a:solidFill>
                  <a:schemeClr val="tx1"/>
                </a:solidFill>
              </a:rPr>
              <a:t>서울 전용 공고</a:t>
            </a:r>
            <a:endParaRPr lang="en-US" sz="1400" dirty="0"/>
          </a:p>
          <a:p>
            <a:pPr marL="0" indent="0">
              <a:buNone/>
            </a:pPr>
            <a:r>
              <a:rPr lang="en-US" sz="1050" dirty="0">
                <a:solidFill>
                  <a:srgbClr val="66727C"/>
                </a:solidFill>
              </a:rPr>
              <a:t>10/10 조회 기준</a:t>
            </a:r>
            <a:endParaRPr lang="en-US" sz="1400" dirty="0"/>
          </a:p>
        </p:txBody>
      </p:sp>
      <p:sp>
        <p:nvSpPr>
          <p:cNvPr id="44" name="구청 공고 자치구"/>
          <p:cNvSpPr/>
          <p:nvPr/>
        </p:nvSpPr>
        <p:spPr>
          <a:xfrm>
            <a:off x="4325112" y="4206240"/>
            <a:ext cx="3538728" cy="1188720"/>
          </a:xfrm>
          <a:prstGeom prst="roundRect">
            <a:avLst>
              <a:gd name="adj" fmla="val 10769"/>
            </a:avLst>
          </a:prstGeom>
          <a:solidFill>
            <a:srgbClr val="E4EDF5"/>
          </a:solidFill>
          <a:ln/>
        </p:spPr>
        <p:txBody>
          <a:bodyPr/>
          <a:lstStyle/>
          <a:p>
            <a:endParaRPr lang="ko-KR" altLang="en-US"/>
          </a:p>
        </p:txBody>
      </p:sp>
      <p:sp>
        <p:nvSpPr>
          <p:cNvPr id="45" name="Text 38"/>
          <p:cNvSpPr txBox="1"/>
          <p:nvPr/>
        </p:nvSpPr>
        <p:spPr>
          <a:xfrm>
            <a:off x="4553712" y="4206240"/>
            <a:ext cx="1600200" cy="1188720"/>
          </a:xfrm>
          <a:prstGeom prst="rect">
            <a:avLst/>
          </a:prstGeom>
          <a:noFill/>
          <a:ln/>
        </p:spPr>
        <p:txBody>
          <a:bodyPr wrap="square" lIns="0" tIns="0" rIns="0" bIns="0" rtlCol="0" anchor="ctr"/>
          <a:lstStyle/>
          <a:p>
            <a:pPr marL="0" indent="0">
              <a:buNone/>
            </a:pPr>
            <a:r>
              <a:rPr lang="en-US" sz="2800" b="1" dirty="0">
                <a:solidFill>
                  <a:srgbClr val="2B5C8A"/>
                </a:solidFill>
              </a:rPr>
              <a:t>11개 구</a:t>
            </a:r>
            <a:endParaRPr lang="en-US" sz="2800" dirty="0"/>
          </a:p>
        </p:txBody>
      </p:sp>
      <p:sp>
        <p:nvSpPr>
          <p:cNvPr id="46" name="Text 39"/>
          <p:cNvSpPr txBox="1"/>
          <p:nvPr/>
        </p:nvSpPr>
        <p:spPr>
          <a:xfrm>
            <a:off x="6153912" y="4206240"/>
            <a:ext cx="1645920" cy="1188720"/>
          </a:xfrm>
          <a:prstGeom prst="rect">
            <a:avLst/>
          </a:prstGeom>
          <a:noFill/>
          <a:ln/>
        </p:spPr>
        <p:txBody>
          <a:bodyPr wrap="square" lIns="0" tIns="0" rIns="0" bIns="0" rtlCol="0" anchor="ctr"/>
          <a:lstStyle/>
          <a:p>
            <a:pPr marL="0" indent="0">
              <a:buNone/>
            </a:pPr>
            <a:r>
              <a:rPr lang="en-US" sz="1300" b="1" dirty="0">
                <a:solidFill>
                  <a:schemeClr val="tx1"/>
                </a:solidFill>
              </a:rPr>
              <a:t>구청 공고 자치구</a:t>
            </a:r>
            <a:endParaRPr lang="en-US" sz="1400" dirty="0"/>
          </a:p>
          <a:p>
            <a:pPr marL="0" indent="0">
              <a:buNone/>
            </a:pPr>
            <a:r>
              <a:rPr lang="en-US" sz="1050" dirty="0">
                <a:solidFill>
                  <a:srgbClr val="66727C"/>
                </a:solidFill>
              </a:rPr>
              <a:t>10/10 조회 기준</a:t>
            </a:r>
            <a:endParaRPr lang="en-US" sz="1400" dirty="0"/>
          </a:p>
        </p:txBody>
      </p:sp>
      <p:sp>
        <p:nvSpPr>
          <p:cNvPr id="47" name="추출 정확도 목표"/>
          <p:cNvSpPr/>
          <p:nvPr/>
        </p:nvSpPr>
        <p:spPr>
          <a:xfrm>
            <a:off x="8101584" y="4206240"/>
            <a:ext cx="3538728" cy="1188720"/>
          </a:xfrm>
          <a:prstGeom prst="roundRect">
            <a:avLst>
              <a:gd name="adj" fmla="val 10769"/>
            </a:avLst>
          </a:prstGeom>
          <a:solidFill>
            <a:srgbClr val="E4EDF5"/>
          </a:solidFill>
          <a:ln/>
        </p:spPr>
        <p:txBody>
          <a:bodyPr/>
          <a:lstStyle/>
          <a:p>
            <a:endParaRPr lang="ko-KR" altLang="en-US"/>
          </a:p>
        </p:txBody>
      </p:sp>
      <p:sp>
        <p:nvSpPr>
          <p:cNvPr id="48" name="Text 41"/>
          <p:cNvSpPr txBox="1"/>
          <p:nvPr/>
        </p:nvSpPr>
        <p:spPr>
          <a:xfrm>
            <a:off x="8330184" y="4206240"/>
            <a:ext cx="1600200" cy="1188720"/>
          </a:xfrm>
          <a:prstGeom prst="rect">
            <a:avLst/>
          </a:prstGeom>
          <a:noFill/>
          <a:ln/>
        </p:spPr>
        <p:txBody>
          <a:bodyPr wrap="square" lIns="0" tIns="0" rIns="0" bIns="0" rtlCol="0" anchor="ctr"/>
          <a:lstStyle/>
          <a:p>
            <a:pPr marL="0" indent="0">
              <a:buNone/>
            </a:pPr>
            <a:r>
              <a:rPr lang="en-US" sz="2800" b="1" dirty="0">
                <a:solidFill>
                  <a:srgbClr val="2B5C8A"/>
                </a:solidFill>
              </a:rPr>
              <a:t>85%</a:t>
            </a:r>
            <a:endParaRPr lang="en-US" sz="2800" dirty="0"/>
          </a:p>
        </p:txBody>
      </p:sp>
      <p:sp>
        <p:nvSpPr>
          <p:cNvPr id="49" name="Text 42"/>
          <p:cNvSpPr txBox="1"/>
          <p:nvPr/>
        </p:nvSpPr>
        <p:spPr>
          <a:xfrm>
            <a:off x="9930384" y="4206240"/>
            <a:ext cx="1645920" cy="1188720"/>
          </a:xfrm>
          <a:prstGeom prst="rect">
            <a:avLst/>
          </a:prstGeom>
          <a:noFill/>
          <a:ln/>
        </p:spPr>
        <p:txBody>
          <a:bodyPr wrap="square" lIns="0" tIns="0" rIns="0" bIns="0" rtlCol="0" anchor="ctr"/>
          <a:lstStyle/>
          <a:p>
            <a:pPr marL="0" indent="0">
              <a:buNone/>
            </a:pPr>
            <a:r>
              <a:rPr lang="en-US" sz="1300" b="1" dirty="0">
                <a:solidFill>
                  <a:schemeClr val="tx1"/>
                </a:solidFill>
              </a:rPr>
              <a:t>추출 정확도 목표</a:t>
            </a:r>
            <a:endParaRPr lang="en-US" sz="1400" dirty="0"/>
          </a:p>
          <a:p>
            <a:pPr marL="0" indent="0">
              <a:buNone/>
            </a:pPr>
            <a:r>
              <a:rPr lang="en-US" sz="1050" dirty="0">
                <a:solidFill>
                  <a:srgbClr val="66727C"/>
                </a:solidFill>
              </a:rPr>
              <a:t>무작위 30건 측정 예정</a:t>
            </a:r>
            <a:endParaRPr lang="en-US" sz="1400" dirty="0"/>
          </a:p>
        </p:txBody>
      </p:sp>
      <p:sp>
        <p:nvSpPr>
          <p:cNvPr id="50" name="Shape 43"/>
          <p:cNvSpPr/>
          <p:nvPr/>
        </p:nvSpPr>
        <p:spPr>
          <a:xfrm>
            <a:off x="548640" y="5559552"/>
            <a:ext cx="11091672" cy="548640"/>
          </a:xfrm>
          <a:prstGeom prst="roundRect">
            <a:avLst>
              <a:gd name="adj" fmla="val 50000"/>
            </a:avLst>
          </a:prstGeom>
          <a:solidFill>
            <a:srgbClr val="EEF2F3"/>
          </a:solidFill>
          <a:ln/>
        </p:spPr>
        <p:txBody>
          <a:bodyPr/>
          <a:lstStyle/>
          <a:p>
            <a:endParaRPr lang="ko-KR" altLang="en-US"/>
          </a:p>
        </p:txBody>
      </p:sp>
      <p:sp>
        <p:nvSpPr>
          <p:cNvPr id="51" name="Text 44"/>
          <p:cNvSpPr txBox="1"/>
          <p:nvPr/>
        </p:nvSpPr>
        <p:spPr>
          <a:xfrm>
            <a:off x="548640" y="5559552"/>
            <a:ext cx="11091672" cy="548640"/>
          </a:xfrm>
          <a:prstGeom prst="rect">
            <a:avLst/>
          </a:prstGeom>
          <a:noFill/>
          <a:ln/>
        </p:spPr>
        <p:txBody>
          <a:bodyPr wrap="square" lIns="0" tIns="0" rIns="0" bIns="0" rtlCol="0" anchor="ctr"/>
          <a:lstStyle/>
          <a:p>
            <a:pPr marL="0" indent="0" algn="ctr">
              <a:buNone/>
            </a:pPr>
            <a:r>
              <a:rPr lang="en-US" sz="1400" b="1" dirty="0">
                <a:solidFill>
                  <a:srgbClr val="1F3F5E"/>
                </a:solidFill>
              </a:rPr>
              <a:t>금액 기준  </a:t>
            </a:r>
            <a:r>
              <a:rPr lang="en-US" sz="1400" dirty="0">
                <a:solidFill>
                  <a:schemeClr val="tx1"/>
                </a:solidFill>
              </a:rPr>
              <a:t>갚지 않는 현금만 인정 — 융자 · 보증 · 상금 · R&amp;D 제외, 모호한 조건은 매칭에서 제외</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다음 계획"/>
          <p:cNvPicPr>
            <a:picLocks noChangeAspect="1"/>
          </p:cNvPicPr>
          <p:nvPr/>
        </p:nvPicPr>
        <p:blipFill>
          <a:blip r:embed="rId3"/>
          <a:stretch>
            <a:fillRect/>
          </a:stretch>
        </p:blipFill>
        <p:spPr>
          <a:xfrm>
            <a:off x="5154016" y="292608"/>
            <a:ext cx="1883664" cy="524256"/>
          </a:xfrm>
          <a:prstGeom prst="rect">
            <a:avLst/>
          </a:prstGeom>
        </p:spPr>
      </p:pic>
      <p:sp>
        <p:nvSpPr>
          <p:cNvPr id="3" name="Shape 0"/>
          <p:cNvSpPr/>
          <p:nvPr/>
        </p:nvSpPr>
        <p:spPr>
          <a:xfrm>
            <a:off x="10058400" y="530352"/>
            <a:ext cx="82296" cy="91440"/>
          </a:xfrm>
          <a:prstGeom prst="roundRect">
            <a:avLst>
              <a:gd name="adj" fmla="val 22222"/>
            </a:avLst>
          </a:prstGeom>
          <a:solidFill>
            <a:srgbClr val="F2B544"/>
          </a:solidFill>
          <a:ln/>
        </p:spPr>
        <p:txBody>
          <a:bodyPr/>
          <a:lstStyle/>
          <a:p>
            <a:endParaRPr lang="ko-KR" altLang="en-US"/>
          </a:p>
        </p:txBody>
      </p:sp>
      <p:sp>
        <p:nvSpPr>
          <p:cNvPr id="4" name="Shape 1"/>
          <p:cNvSpPr/>
          <p:nvPr/>
        </p:nvSpPr>
        <p:spPr>
          <a:xfrm>
            <a:off x="10177272" y="470916"/>
            <a:ext cx="82296" cy="150876"/>
          </a:xfrm>
          <a:prstGeom prst="roundRect">
            <a:avLst>
              <a:gd name="adj" fmla="val 22222"/>
            </a:avLst>
          </a:prstGeom>
          <a:solidFill>
            <a:srgbClr val="F2B544"/>
          </a:solidFill>
          <a:ln/>
        </p:spPr>
        <p:txBody>
          <a:bodyPr/>
          <a:lstStyle/>
          <a:p>
            <a:endParaRPr lang="ko-KR" altLang="en-US"/>
          </a:p>
        </p:txBody>
      </p:sp>
      <p:sp>
        <p:nvSpPr>
          <p:cNvPr id="5" name="Shape 2"/>
          <p:cNvSpPr/>
          <p:nvPr/>
        </p:nvSpPr>
        <p:spPr>
          <a:xfrm>
            <a:off x="10296144" y="411480"/>
            <a:ext cx="82296" cy="210312"/>
          </a:xfrm>
          <a:prstGeom prst="roundRect">
            <a:avLst>
              <a:gd name="adj" fmla="val 22222"/>
            </a:avLst>
          </a:prstGeom>
          <a:solidFill>
            <a:srgbClr val="F2B544"/>
          </a:solidFill>
          <a:ln/>
        </p:spPr>
        <p:txBody>
          <a:bodyPr/>
          <a:lstStyle/>
          <a:p>
            <a:endParaRPr lang="ko-KR" altLang="en-US"/>
          </a:p>
        </p:txBody>
      </p:sp>
      <p:sp>
        <p:nvSpPr>
          <p:cNvPr id="6" name="Shape 3"/>
          <p:cNvSpPr/>
          <p:nvPr/>
        </p:nvSpPr>
        <p:spPr>
          <a:xfrm>
            <a:off x="10415016" y="352044"/>
            <a:ext cx="82296" cy="269748"/>
          </a:xfrm>
          <a:prstGeom prst="roundRect">
            <a:avLst>
              <a:gd name="adj" fmla="val 22222"/>
            </a:avLst>
          </a:prstGeom>
          <a:solidFill>
            <a:srgbClr val="F2B544"/>
          </a:solidFill>
          <a:ln/>
        </p:spPr>
        <p:txBody>
          <a:bodyPr/>
          <a:lstStyle/>
          <a:p>
            <a:endParaRPr lang="ko-KR" altLang="en-US"/>
          </a:p>
        </p:txBody>
      </p:sp>
      <p:sp>
        <p:nvSpPr>
          <p:cNvPr id="7" name="Shape 4"/>
          <p:cNvSpPr/>
          <p:nvPr/>
        </p:nvSpPr>
        <p:spPr>
          <a:xfrm>
            <a:off x="10533888" y="292608"/>
            <a:ext cx="82296" cy="329184"/>
          </a:xfrm>
          <a:prstGeom prst="roundRect">
            <a:avLst>
              <a:gd name="adj" fmla="val 22222"/>
            </a:avLst>
          </a:prstGeom>
          <a:solidFill>
            <a:srgbClr val="F2B544"/>
          </a:solidFill>
          <a:ln/>
        </p:spPr>
        <p:txBody>
          <a:bodyPr/>
          <a:lstStyle/>
          <a:p>
            <a:endParaRPr lang="ko-KR" altLang="en-US"/>
          </a:p>
        </p:txBody>
      </p:sp>
      <p:sp>
        <p:nvSpPr>
          <p:cNvPr id="8" name="Text 5"/>
          <p:cNvSpPr txBox="1"/>
          <p:nvPr/>
        </p:nvSpPr>
        <p:spPr>
          <a:xfrm>
            <a:off x="10744200" y="274320"/>
            <a:ext cx="914400" cy="365760"/>
          </a:xfrm>
          <a:prstGeom prst="rect">
            <a:avLst/>
          </a:prstGeom>
          <a:noFill/>
          <a:ln/>
        </p:spPr>
        <p:txBody>
          <a:bodyPr wrap="square" lIns="0" tIns="0" rIns="0" bIns="0" rtlCol="0" anchor="b"/>
          <a:lstStyle/>
          <a:p>
            <a:pPr marL="0" indent="0">
              <a:buNone/>
            </a:pPr>
            <a:r>
              <a:rPr lang="en-US" sz="1300" b="1" dirty="0">
                <a:solidFill>
                  <a:srgbClr val="4A5862"/>
                </a:solidFill>
              </a:rPr>
              <a:t>노현석</a:t>
            </a:r>
            <a:endParaRPr lang="en-US" sz="1300" dirty="0"/>
          </a:p>
        </p:txBody>
      </p:sp>
      <p:sp>
        <p:nvSpPr>
          <p:cNvPr id="9" name="Text 6"/>
          <p:cNvSpPr txBox="1"/>
          <p:nvPr/>
        </p:nvSpPr>
        <p:spPr>
          <a:xfrm>
            <a:off x="548640" y="932688"/>
            <a:ext cx="11091672" cy="594360"/>
          </a:xfrm>
          <a:prstGeom prst="rect">
            <a:avLst/>
          </a:prstGeom>
          <a:noFill/>
          <a:ln/>
        </p:spPr>
        <p:txBody>
          <a:bodyPr wrap="square" lIns="0" tIns="0" rIns="0" bIns="0" rtlCol="0" anchor="ctr"/>
          <a:lstStyle/>
          <a:p>
            <a:pPr marL="0" indent="0" algn="ctr">
              <a:buNone/>
            </a:pPr>
            <a:r>
              <a:rPr lang="en-US" sz="2600" b="1" dirty="0">
                <a:solidFill>
                  <a:srgbClr val="22303A"/>
                </a:solidFill>
              </a:rPr>
              <a:t>남은 기간, </a:t>
            </a:r>
            <a:r>
              <a:rPr lang="en-US" sz="2600" b="1" dirty="0">
                <a:solidFill>
                  <a:srgbClr val="2B5C8A"/>
                </a:solidFill>
              </a:rPr>
              <a:t>실데이터</a:t>
            </a:r>
            <a:r>
              <a:rPr lang="en-US" sz="2600" b="1" dirty="0">
                <a:solidFill>
                  <a:srgbClr val="22303A"/>
                </a:solidFill>
              </a:rPr>
              <a:t>로 완성합니다</a:t>
            </a:r>
            <a:endParaRPr lang="en-US" sz="2600" dirty="0"/>
          </a:p>
        </p:txBody>
      </p:sp>
      <p:sp>
        <p:nvSpPr>
          <p:cNvPr id="10" name="Shape 7"/>
          <p:cNvSpPr/>
          <p:nvPr/>
        </p:nvSpPr>
        <p:spPr>
          <a:xfrm>
            <a:off x="2240280" y="2697480"/>
            <a:ext cx="7708392" cy="0"/>
          </a:xfrm>
          <a:prstGeom prst="line">
            <a:avLst/>
          </a:prstGeom>
          <a:noFill/>
          <a:ln w="50800">
            <a:solidFill>
              <a:srgbClr val="C9DAEA"/>
            </a:solidFill>
            <a:prstDash val="solid"/>
          </a:ln>
        </p:spPr>
        <p:txBody>
          <a:bodyPr/>
          <a:lstStyle/>
          <a:p>
            <a:endParaRPr lang="ko-KR" altLang="en-US"/>
          </a:p>
        </p:txBody>
      </p:sp>
      <p:sp>
        <p:nvSpPr>
          <p:cNvPr id="11" name="Text 8"/>
          <p:cNvSpPr txBox="1"/>
          <p:nvPr/>
        </p:nvSpPr>
        <p:spPr>
          <a:xfrm>
            <a:off x="868680" y="1691640"/>
            <a:ext cx="2743200" cy="457200"/>
          </a:xfrm>
          <a:prstGeom prst="rect">
            <a:avLst/>
          </a:prstGeom>
          <a:noFill/>
          <a:ln/>
        </p:spPr>
        <p:txBody>
          <a:bodyPr wrap="square" lIns="0" tIns="0" rIns="0" bIns="0" rtlCol="0" anchor="t"/>
          <a:lstStyle/>
          <a:p>
            <a:pPr marL="0" indent="0" algn="ctr">
              <a:buNone/>
            </a:pPr>
            <a:r>
              <a:rPr lang="en-US" sz="2400" b="1" dirty="0">
                <a:solidFill>
                  <a:srgbClr val="2B5C8A"/>
                </a:solidFill>
              </a:rPr>
              <a:t>10/20</a:t>
            </a:r>
            <a:endParaRPr lang="en-US" sz="2400" dirty="0"/>
          </a:p>
        </p:txBody>
      </p:sp>
      <p:sp>
        <p:nvSpPr>
          <p:cNvPr id="12" name="Shape 9"/>
          <p:cNvSpPr/>
          <p:nvPr/>
        </p:nvSpPr>
        <p:spPr>
          <a:xfrm>
            <a:off x="1965960" y="2423160"/>
            <a:ext cx="548640" cy="548640"/>
          </a:xfrm>
          <a:prstGeom prst="ellipse">
            <a:avLst/>
          </a:prstGeom>
          <a:solidFill>
            <a:srgbClr val="2B5C8A"/>
          </a:solidFill>
          <a:ln w="38100">
            <a:solidFill>
              <a:srgbClr val="2B5C8A"/>
            </a:solidFill>
            <a:prstDash val="solid"/>
          </a:ln>
        </p:spPr>
        <p:txBody>
          <a:bodyPr/>
          <a:lstStyle/>
          <a:p>
            <a:endParaRPr lang="ko-KR" altLang="en-US"/>
          </a:p>
        </p:txBody>
      </p:sp>
      <p:sp>
        <p:nvSpPr>
          <p:cNvPr id="13" name="Shape 10"/>
          <p:cNvSpPr/>
          <p:nvPr/>
        </p:nvSpPr>
        <p:spPr>
          <a:xfrm>
            <a:off x="2651760" y="2514600"/>
            <a:ext cx="731520" cy="347472"/>
          </a:xfrm>
          <a:prstGeom prst="roundRect">
            <a:avLst>
              <a:gd name="adj" fmla="val 50000"/>
            </a:avLst>
          </a:prstGeom>
          <a:solidFill>
            <a:srgbClr val="2B5C8A"/>
          </a:solidFill>
          <a:ln/>
        </p:spPr>
        <p:txBody>
          <a:bodyPr/>
          <a:lstStyle/>
          <a:p>
            <a:endParaRPr lang="ko-KR" altLang="en-US"/>
          </a:p>
        </p:txBody>
      </p:sp>
      <p:sp>
        <p:nvSpPr>
          <p:cNvPr id="14" name="Text 11"/>
          <p:cNvSpPr txBox="1"/>
          <p:nvPr/>
        </p:nvSpPr>
        <p:spPr>
          <a:xfrm>
            <a:off x="2651760" y="2514600"/>
            <a:ext cx="731520" cy="347472"/>
          </a:xfrm>
          <a:prstGeom prst="rect">
            <a:avLst/>
          </a:prstGeom>
          <a:noFill/>
          <a:ln/>
        </p:spPr>
        <p:txBody>
          <a:bodyPr wrap="square" lIns="0" tIns="0" rIns="0" bIns="0" rtlCol="0" anchor="ctr"/>
          <a:lstStyle/>
          <a:p>
            <a:pPr marL="0" indent="0" algn="ctr">
              <a:buNone/>
            </a:pPr>
            <a:r>
              <a:rPr lang="en-US" sz="1100" b="1" dirty="0">
                <a:solidFill>
                  <a:srgbClr val="FFFFFF"/>
                </a:solidFill>
              </a:rPr>
              <a:t>지금</a:t>
            </a:r>
            <a:endParaRPr lang="en-US" sz="1100" dirty="0"/>
          </a:p>
        </p:txBody>
      </p:sp>
      <p:sp>
        <p:nvSpPr>
          <p:cNvPr id="15" name="중간 발표"/>
          <p:cNvSpPr/>
          <p:nvPr/>
        </p:nvSpPr>
        <p:spPr>
          <a:xfrm>
            <a:off x="548640" y="3291840"/>
            <a:ext cx="3383280" cy="2103120"/>
          </a:xfrm>
          <a:prstGeom prst="roundRect">
            <a:avLst>
              <a:gd name="adj" fmla="val 6087"/>
            </a:avLst>
          </a:prstGeom>
          <a:solidFill>
            <a:srgbClr val="E4EDF5"/>
          </a:solidFill>
          <a:ln/>
          <a:effectLst>
            <a:outerShdw blurRad="127000" dist="25400" dir="5400000" algn="bl" rotWithShape="0">
              <a:srgbClr val="22303A">
                <a:alpha val="10000"/>
              </a:srgbClr>
            </a:outerShdw>
          </a:effectLst>
        </p:spPr>
        <p:txBody>
          <a:bodyPr/>
          <a:lstStyle/>
          <a:p>
            <a:endParaRPr lang="ko-KR" altLang="en-US"/>
          </a:p>
        </p:txBody>
      </p:sp>
      <p:sp>
        <p:nvSpPr>
          <p:cNvPr id="16" name="Text 13"/>
          <p:cNvSpPr txBox="1"/>
          <p:nvPr/>
        </p:nvSpPr>
        <p:spPr>
          <a:xfrm>
            <a:off x="822960" y="3474720"/>
            <a:ext cx="2834640" cy="411480"/>
          </a:xfrm>
          <a:prstGeom prst="rect">
            <a:avLst/>
          </a:prstGeom>
          <a:noFill/>
          <a:ln/>
        </p:spPr>
        <p:txBody>
          <a:bodyPr wrap="square" lIns="0" tIns="0" rIns="0" bIns="0" rtlCol="0" anchor="t"/>
          <a:lstStyle/>
          <a:p>
            <a:pPr marL="0" indent="0">
              <a:buNone/>
            </a:pPr>
            <a:r>
              <a:rPr lang="en-US" sz="1800" b="1" dirty="0">
                <a:solidFill>
                  <a:srgbClr val="2B5C8A"/>
                </a:solidFill>
              </a:rPr>
              <a:t>중간 발표</a:t>
            </a:r>
            <a:endParaRPr lang="en-US" sz="1800" dirty="0"/>
          </a:p>
        </p:txBody>
      </p:sp>
      <p:sp>
        <p:nvSpPr>
          <p:cNvPr id="17" name="Text 14"/>
          <p:cNvSpPr txBox="1"/>
          <p:nvPr/>
        </p:nvSpPr>
        <p:spPr>
          <a:xfrm>
            <a:off x="822960" y="4023360"/>
            <a:ext cx="292608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8"/>
                </a:solidFill>
              </a:rPr>
              <a:t>화면 5개 · API 연동</a:t>
            </a:r>
            <a:endParaRPr lang="en-US" sz="1400" dirty="0"/>
          </a:p>
          <a:p>
            <a:pPr marL="342900" indent="-342900">
              <a:spcAft>
                <a:spcPts val="800"/>
              </a:spcAft>
              <a:buSzPct val="100000"/>
              <a:buChar char="•"/>
            </a:pPr>
            <a:r>
              <a:rPr lang="en-US" sz="1400" dirty="0">
                <a:solidFill>
                  <a:srgbClr val="4A5568"/>
                </a:solidFill>
              </a:rPr>
              <a:t>더미 데이터 시연</a:t>
            </a:r>
            <a:endParaRPr lang="en-US" sz="1400" dirty="0"/>
          </a:p>
          <a:p>
            <a:pPr marL="342900" indent="-342900">
              <a:spcAft>
                <a:spcPts val="800"/>
              </a:spcAft>
              <a:buSzPct val="100000"/>
              <a:buChar char="•"/>
            </a:pPr>
            <a:r>
              <a:rPr lang="en-US" sz="1400" dirty="0">
                <a:solidFill>
                  <a:srgbClr val="4A5568"/>
                </a:solidFill>
              </a:rPr>
              <a:t>데이터 · 모델 파이프라인</a:t>
            </a:r>
            <a:endParaRPr lang="en-US" sz="1400" dirty="0"/>
          </a:p>
        </p:txBody>
      </p:sp>
      <p:sp>
        <p:nvSpPr>
          <p:cNvPr id="18" name="Text 15"/>
          <p:cNvSpPr txBox="1"/>
          <p:nvPr/>
        </p:nvSpPr>
        <p:spPr>
          <a:xfrm>
            <a:off x="4727448" y="1691640"/>
            <a:ext cx="2743200" cy="457200"/>
          </a:xfrm>
          <a:prstGeom prst="rect">
            <a:avLst/>
          </a:prstGeom>
          <a:noFill/>
          <a:ln/>
        </p:spPr>
        <p:txBody>
          <a:bodyPr wrap="square" lIns="0" tIns="0" rIns="0" bIns="0" rtlCol="0" anchor="t"/>
          <a:lstStyle/>
          <a:p>
            <a:pPr marL="0" indent="0" algn="ctr">
              <a:buNone/>
            </a:pPr>
            <a:r>
              <a:rPr lang="en-US" sz="2400" b="1" dirty="0">
                <a:solidFill>
                  <a:srgbClr val="1B2433"/>
                </a:solidFill>
              </a:rPr>
              <a:t>11/10</a:t>
            </a:r>
            <a:endParaRPr lang="en-US" sz="2400" dirty="0"/>
          </a:p>
        </p:txBody>
      </p:sp>
      <p:sp>
        <p:nvSpPr>
          <p:cNvPr id="19" name="Shape 16"/>
          <p:cNvSpPr/>
          <p:nvPr/>
        </p:nvSpPr>
        <p:spPr>
          <a:xfrm>
            <a:off x="5824728" y="2423160"/>
            <a:ext cx="548640" cy="548640"/>
          </a:xfrm>
          <a:prstGeom prst="ellipse">
            <a:avLst/>
          </a:prstGeom>
          <a:solidFill>
            <a:srgbClr val="FFFFFF"/>
          </a:solidFill>
          <a:ln w="38100">
            <a:solidFill>
              <a:srgbClr val="2B5C8A"/>
            </a:solidFill>
            <a:prstDash val="solid"/>
          </a:ln>
        </p:spPr>
        <p:txBody>
          <a:bodyPr/>
          <a:lstStyle/>
          <a:p>
            <a:endParaRPr lang="ko-KR" altLang="en-US"/>
          </a:p>
        </p:txBody>
      </p:sp>
      <p:sp>
        <p:nvSpPr>
          <p:cNvPr id="20" name="통합 테스트"/>
          <p:cNvSpPr/>
          <p:nvPr/>
        </p:nvSpPr>
        <p:spPr>
          <a:xfrm>
            <a:off x="4407408" y="3291840"/>
            <a:ext cx="3383280" cy="2103120"/>
          </a:xfrm>
          <a:prstGeom prst="roundRect">
            <a:avLst>
              <a:gd name="adj" fmla="val 6087"/>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1" name="Text 18"/>
          <p:cNvSpPr txBox="1"/>
          <p:nvPr/>
        </p:nvSpPr>
        <p:spPr>
          <a:xfrm>
            <a:off x="4681728" y="3474720"/>
            <a:ext cx="2834640" cy="411480"/>
          </a:xfrm>
          <a:prstGeom prst="rect">
            <a:avLst/>
          </a:prstGeom>
          <a:noFill/>
          <a:ln/>
        </p:spPr>
        <p:txBody>
          <a:bodyPr wrap="square" lIns="0" tIns="0" rIns="0" bIns="0" rtlCol="0" anchor="t"/>
          <a:lstStyle/>
          <a:p>
            <a:pPr marL="0" indent="0">
              <a:buNone/>
            </a:pPr>
            <a:r>
              <a:rPr lang="en-US" sz="1800" b="1" dirty="0">
                <a:solidFill>
                  <a:srgbClr val="1B2433"/>
                </a:solidFill>
              </a:rPr>
              <a:t>통합 테스트</a:t>
            </a:r>
            <a:endParaRPr lang="en-US" sz="1800" dirty="0"/>
          </a:p>
        </p:txBody>
      </p:sp>
      <p:sp>
        <p:nvSpPr>
          <p:cNvPr id="22" name="Text 19"/>
          <p:cNvSpPr txBox="1"/>
          <p:nvPr/>
        </p:nvSpPr>
        <p:spPr>
          <a:xfrm>
            <a:off x="4681728" y="4023360"/>
            <a:ext cx="292608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8"/>
                </a:solidFill>
              </a:rPr>
              <a:t>지원사업 실데이터 · 검수</a:t>
            </a:r>
            <a:endParaRPr lang="en-US" sz="1400" dirty="0"/>
          </a:p>
          <a:p>
            <a:pPr marL="342900" indent="-342900">
              <a:spcAft>
                <a:spcPts val="800"/>
              </a:spcAft>
              <a:buSzPct val="100000"/>
              <a:buChar char="•"/>
            </a:pPr>
            <a:r>
              <a:rPr lang="en-US" sz="1400" dirty="0">
                <a:solidFill>
                  <a:srgbClr val="4A5568"/>
                </a:solidFill>
              </a:rPr>
              <a:t>LLM 구조화 연결</a:t>
            </a:r>
            <a:endParaRPr lang="en-US" sz="1400" dirty="0"/>
          </a:p>
          <a:p>
            <a:pPr marL="342900" indent="-342900">
              <a:spcAft>
                <a:spcPts val="800"/>
              </a:spcAft>
              <a:buSzPct val="100000"/>
              <a:buChar char="•"/>
            </a:pPr>
            <a:r>
              <a:rPr lang="en-US" sz="1400" dirty="0">
                <a:solidFill>
                  <a:srgbClr val="4A5568"/>
                </a:solidFill>
              </a:rPr>
              <a:t>배포 환경 전체 흐름 검증</a:t>
            </a:r>
            <a:endParaRPr lang="en-US" sz="1400" dirty="0"/>
          </a:p>
        </p:txBody>
      </p:sp>
      <p:sp>
        <p:nvSpPr>
          <p:cNvPr id="23" name="Text 20"/>
          <p:cNvSpPr txBox="1"/>
          <p:nvPr/>
        </p:nvSpPr>
        <p:spPr>
          <a:xfrm>
            <a:off x="8577072" y="1691640"/>
            <a:ext cx="2743200" cy="457200"/>
          </a:xfrm>
          <a:prstGeom prst="rect">
            <a:avLst/>
          </a:prstGeom>
          <a:noFill/>
          <a:ln/>
        </p:spPr>
        <p:txBody>
          <a:bodyPr wrap="square" lIns="0" tIns="0" rIns="0" bIns="0" rtlCol="0" anchor="t"/>
          <a:lstStyle/>
          <a:p>
            <a:pPr marL="0" indent="0" algn="ctr">
              <a:buNone/>
            </a:pPr>
            <a:r>
              <a:rPr lang="en-US" sz="2400" b="1" dirty="0">
                <a:solidFill>
                  <a:srgbClr val="1B2433"/>
                </a:solidFill>
              </a:rPr>
              <a:t>12/08</a:t>
            </a:r>
            <a:endParaRPr lang="en-US" sz="2400" dirty="0"/>
          </a:p>
        </p:txBody>
      </p:sp>
      <p:sp>
        <p:nvSpPr>
          <p:cNvPr id="24" name="Shape 21"/>
          <p:cNvSpPr/>
          <p:nvPr/>
        </p:nvSpPr>
        <p:spPr>
          <a:xfrm>
            <a:off x="9674352" y="2423160"/>
            <a:ext cx="548640" cy="548640"/>
          </a:xfrm>
          <a:prstGeom prst="ellipse">
            <a:avLst/>
          </a:prstGeom>
          <a:solidFill>
            <a:srgbClr val="FFFFFF"/>
          </a:solidFill>
          <a:ln w="38100">
            <a:solidFill>
              <a:srgbClr val="2B5C8A"/>
            </a:solidFill>
            <a:prstDash val="solid"/>
          </a:ln>
        </p:spPr>
        <p:txBody>
          <a:bodyPr/>
          <a:lstStyle/>
          <a:p>
            <a:endParaRPr lang="ko-KR" altLang="en-US"/>
          </a:p>
        </p:txBody>
      </p:sp>
      <p:sp>
        <p:nvSpPr>
          <p:cNvPr id="25" name="최종 발표"/>
          <p:cNvSpPr/>
          <p:nvPr/>
        </p:nvSpPr>
        <p:spPr>
          <a:xfrm>
            <a:off x="8257032" y="3291840"/>
            <a:ext cx="3383280" cy="2103120"/>
          </a:xfrm>
          <a:prstGeom prst="roundRect">
            <a:avLst>
              <a:gd name="adj" fmla="val 6087"/>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sp>
        <p:nvSpPr>
          <p:cNvPr id="26" name="Text 23"/>
          <p:cNvSpPr txBox="1"/>
          <p:nvPr/>
        </p:nvSpPr>
        <p:spPr>
          <a:xfrm>
            <a:off x="8531352" y="3474720"/>
            <a:ext cx="2834640" cy="411480"/>
          </a:xfrm>
          <a:prstGeom prst="rect">
            <a:avLst/>
          </a:prstGeom>
          <a:noFill/>
          <a:ln/>
        </p:spPr>
        <p:txBody>
          <a:bodyPr wrap="square" lIns="0" tIns="0" rIns="0" bIns="0" rtlCol="0" anchor="t"/>
          <a:lstStyle/>
          <a:p>
            <a:pPr marL="0" indent="0">
              <a:buNone/>
            </a:pPr>
            <a:r>
              <a:rPr lang="en-US" sz="1800" b="1" dirty="0">
                <a:solidFill>
                  <a:srgbClr val="1B2433"/>
                </a:solidFill>
              </a:rPr>
              <a:t>최종 발표</a:t>
            </a:r>
            <a:endParaRPr lang="en-US" sz="1800" dirty="0"/>
          </a:p>
        </p:txBody>
      </p:sp>
      <p:sp>
        <p:nvSpPr>
          <p:cNvPr id="27" name="Text 24"/>
          <p:cNvSpPr txBox="1"/>
          <p:nvPr/>
        </p:nvSpPr>
        <p:spPr>
          <a:xfrm>
            <a:off x="8531352" y="4023360"/>
            <a:ext cx="292608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8"/>
                </a:solidFill>
              </a:rPr>
              <a:t>실데이터 검증 결과 공개</a:t>
            </a:r>
            <a:endParaRPr lang="en-US" sz="1400" dirty="0"/>
          </a:p>
          <a:p>
            <a:pPr marL="342900" indent="-342900">
              <a:spcAft>
                <a:spcPts val="800"/>
              </a:spcAft>
              <a:buSzPct val="100000"/>
              <a:buChar char="•"/>
            </a:pPr>
            <a:r>
              <a:rPr lang="en-US" sz="1400" dirty="0">
                <a:solidFill>
                  <a:srgbClr val="4A5568"/>
                </a:solidFill>
              </a:rPr>
              <a:t>생존 모델 개선</a:t>
            </a:r>
            <a:endParaRPr lang="en-US" sz="1400" dirty="0"/>
          </a:p>
          <a:p>
            <a:pPr marL="342900" indent="-342900">
              <a:spcAft>
                <a:spcPts val="800"/>
              </a:spcAft>
              <a:buSzPct val="100000"/>
              <a:buChar char="•"/>
            </a:pPr>
            <a:r>
              <a:rPr lang="en-US" sz="1400" dirty="0">
                <a:solidFill>
                  <a:srgbClr val="4A5568"/>
                </a:solidFill>
              </a:rPr>
              <a:t>완성된 서비스 시연</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092952" y="2398776"/>
            <a:ext cx="128016" cy="4413504"/>
          </a:xfrm>
          <a:prstGeom prst="rect">
            <a:avLst/>
          </a:prstGeom>
          <a:solidFill>
            <a:srgbClr val="4E5A63"/>
          </a:solidFill>
          <a:ln/>
        </p:spPr>
        <p:txBody>
          <a:bodyPr/>
          <a:lstStyle/>
          <a:p>
            <a:endParaRPr lang="ko-KR" altLang="en-US"/>
          </a:p>
        </p:txBody>
      </p:sp>
      <p:pic>
        <p:nvPicPr>
          <p:cNvPr id="3" name="Image 0" descr="Q&amp;A"/>
          <p:cNvPicPr>
            <a:picLocks noChangeAspect="1"/>
          </p:cNvPicPr>
          <p:nvPr/>
        </p:nvPicPr>
        <p:blipFill>
          <a:blip r:embed="rId3"/>
          <a:stretch>
            <a:fillRect/>
          </a:stretch>
        </p:blipFill>
        <p:spPr>
          <a:xfrm>
            <a:off x="4892040" y="1143000"/>
            <a:ext cx="2529840" cy="1301496"/>
          </a:xfrm>
          <a:prstGeom prst="rect">
            <a:avLst/>
          </a:prstGeom>
        </p:spPr>
      </p:pic>
      <p:pic>
        <p:nvPicPr>
          <p:cNvPr id="4" name="Image 1" descr="C:\Users\sjsj4\AppData\Local\Temp\claude\C--Users-sjsj4-OneDrive-Desktop------AI-------------\67cc597c-f334-49c7-8021-06f22c670f0f\scratchpad\deck\assets\concept\skyline_cover.png"/>
          <p:cNvPicPr>
            <a:picLocks noChangeAspect="1"/>
          </p:cNvPicPr>
          <p:nvPr/>
        </p:nvPicPr>
        <p:blipFill>
          <a:blip r:embed="rId4"/>
          <a:stretch>
            <a:fillRect/>
          </a:stretch>
        </p:blipFill>
        <p:spPr>
          <a:xfrm>
            <a:off x="0" y="5120640"/>
            <a:ext cx="12191695" cy="1737360"/>
          </a:xfrm>
          <a:prstGeom prst="rect">
            <a:avLst/>
          </a:prstGeom>
        </p:spPr>
      </p:pic>
      <p:sp>
        <p:nvSpPr>
          <p:cNvPr id="5" name="Text 1"/>
          <p:cNvSpPr txBox="1"/>
          <p:nvPr/>
        </p:nvSpPr>
        <p:spPr>
          <a:xfrm>
            <a:off x="822960" y="1371600"/>
            <a:ext cx="3840480" cy="640080"/>
          </a:xfrm>
          <a:prstGeom prst="rect">
            <a:avLst/>
          </a:prstGeom>
          <a:noFill/>
          <a:ln/>
        </p:spPr>
        <p:txBody>
          <a:bodyPr wrap="square" lIns="0" tIns="0" rIns="0" bIns="0" rtlCol="0" anchor="t"/>
          <a:lstStyle/>
          <a:p>
            <a:pPr marL="0" indent="0">
              <a:buNone/>
            </a:pPr>
            <a:r>
              <a:rPr lang="en-US" sz="3200" b="1" dirty="0">
                <a:solidFill>
                  <a:srgbClr val="22303A"/>
                </a:solidFill>
              </a:rPr>
              <a:t>감사합니다</a:t>
            </a:r>
            <a:endParaRPr lang="en-US" sz="3200" dirty="0"/>
          </a:p>
        </p:txBody>
      </p:sp>
      <p:sp>
        <p:nvSpPr>
          <p:cNvPr id="6" name="Text 2"/>
          <p:cNvSpPr txBox="1"/>
          <p:nvPr/>
        </p:nvSpPr>
        <p:spPr>
          <a:xfrm>
            <a:off x="822960" y="2103120"/>
            <a:ext cx="4023360" cy="731520"/>
          </a:xfrm>
          <a:prstGeom prst="rect">
            <a:avLst/>
          </a:prstGeom>
          <a:noFill/>
          <a:ln/>
        </p:spPr>
        <p:txBody>
          <a:bodyPr wrap="square" lIns="0" tIns="0" rIns="0" bIns="0" rtlCol="0" anchor="t"/>
          <a:lstStyle/>
          <a:p>
            <a:pPr marL="0" indent="0">
              <a:spcAft>
                <a:spcPts val="400"/>
              </a:spcAft>
              <a:buNone/>
            </a:pPr>
            <a:r>
              <a:rPr lang="en-US" sz="1400" dirty="0">
                <a:solidFill>
                  <a:srgbClr val="66727C"/>
                </a:solidFill>
              </a:rPr>
              <a:t>홈즈시그널</a:t>
            </a:r>
            <a:endParaRPr lang="en-US" sz="1400" dirty="0"/>
          </a:p>
          <a:p>
            <a:pPr marL="0" indent="0">
              <a:spcAft>
                <a:spcPts val="400"/>
              </a:spcAft>
              <a:buNone/>
            </a:pPr>
            <a:r>
              <a:rPr lang="en-US" sz="1400" dirty="0">
                <a:solidFill>
                  <a:srgbClr val="66727C"/>
                </a:solidFill>
              </a:rPr>
              <a:t>한석희 · 박규민 · 노승민 · 이성진 · 노현석</a:t>
            </a:r>
            <a:endParaRPr lang="en-US" sz="1400" dirty="0"/>
          </a:p>
        </p:txBody>
      </p:sp>
      <p:sp>
        <p:nvSpPr>
          <p:cNvPr id="7" name="사이트 QR"/>
          <p:cNvSpPr/>
          <p:nvPr/>
        </p:nvSpPr>
        <p:spPr>
          <a:xfrm>
            <a:off x="8732520" y="1005840"/>
            <a:ext cx="2514600" cy="3063240"/>
          </a:xfrm>
          <a:prstGeom prst="roundRect">
            <a:avLst>
              <a:gd name="adj" fmla="val 5818"/>
            </a:avLst>
          </a:prstGeom>
          <a:solidFill>
            <a:srgbClr val="FFFFFF"/>
          </a:solidFill>
          <a:ln w="12700">
            <a:solidFill>
              <a:srgbClr val="DDE5E8"/>
            </a:solidFill>
            <a:prstDash val="solid"/>
          </a:ln>
          <a:effectLst>
            <a:outerShdw blurRad="127000" dist="25400" dir="5400000" algn="bl" rotWithShape="0">
              <a:srgbClr val="22303A">
                <a:alpha val="10000"/>
              </a:srgbClr>
            </a:outerShdw>
          </a:effectLst>
        </p:spPr>
        <p:txBody>
          <a:bodyPr/>
          <a:lstStyle/>
          <a:p>
            <a:endParaRPr lang="ko-KR" altLang="en-US"/>
          </a:p>
        </p:txBody>
      </p:sp>
      <p:pic>
        <p:nvPicPr>
          <p:cNvPr id="8" name="Image 2" descr="town-signal.vercel.app QR 코드"/>
          <p:cNvPicPr>
            <a:picLocks noChangeAspect="1"/>
          </p:cNvPicPr>
          <p:nvPr/>
        </p:nvPicPr>
        <p:blipFill>
          <a:blip r:embed="rId5"/>
          <a:stretch>
            <a:fillRect/>
          </a:stretch>
        </p:blipFill>
        <p:spPr>
          <a:xfrm>
            <a:off x="9006840" y="1234440"/>
            <a:ext cx="1965960" cy="1965960"/>
          </a:xfrm>
          <a:prstGeom prst="rect">
            <a:avLst/>
          </a:prstGeom>
        </p:spPr>
      </p:pic>
      <p:sp>
        <p:nvSpPr>
          <p:cNvPr id="9" name="Text 4"/>
          <p:cNvSpPr txBox="1"/>
          <p:nvPr/>
        </p:nvSpPr>
        <p:spPr>
          <a:xfrm>
            <a:off x="8732520" y="3291840"/>
            <a:ext cx="2514600" cy="320040"/>
          </a:xfrm>
          <a:prstGeom prst="rect">
            <a:avLst/>
          </a:prstGeom>
          <a:noFill/>
          <a:ln/>
        </p:spPr>
        <p:txBody>
          <a:bodyPr wrap="square" lIns="0" tIns="0" rIns="0" bIns="0" rtlCol="0" anchor="t"/>
          <a:lstStyle/>
          <a:p>
            <a:pPr marL="0" indent="0" algn="ctr">
              <a:buNone/>
            </a:pPr>
            <a:r>
              <a:rPr lang="en-US" sz="1400" b="1" dirty="0">
                <a:solidFill>
                  <a:srgbClr val="2B5C8A"/>
                </a:solidFill>
              </a:rPr>
              <a:t>직접 써 보세요</a:t>
            </a:r>
            <a:endParaRPr lang="en-US" sz="1400" dirty="0"/>
          </a:p>
        </p:txBody>
      </p:sp>
      <p:sp>
        <p:nvSpPr>
          <p:cNvPr id="10" name="Text 5">
            <a:hlinkClick r:id="rId6"/>
          </p:cNvPr>
          <p:cNvSpPr txBox="1"/>
          <p:nvPr/>
        </p:nvSpPr>
        <p:spPr>
          <a:xfrm>
            <a:off x="8732520" y="3611880"/>
            <a:ext cx="2514600" cy="320040"/>
          </a:xfrm>
          <a:prstGeom prst="rect">
            <a:avLst/>
          </a:prstGeom>
          <a:noFill/>
          <a:ln/>
        </p:spPr>
        <p:txBody>
          <a:bodyPr wrap="square" lIns="0" tIns="0" rIns="0" bIns="0" rtlCol="0" anchor="t"/>
          <a:lstStyle/>
          <a:p>
            <a:pPr marL="0" indent="0" algn="ctr">
              <a:buNone/>
            </a:pPr>
            <a:r>
              <a:rPr lang="en-US" sz="1200" u="sng" dirty="0">
                <a:solidFill>
                  <a:srgbClr val="66727C"/>
                </a:solidFill>
                <a:hlinkClick r:id="rId6">
                  <a:extLst>
                    <a:ext uri="{A12FA001-AC4F-418D-AE19-62706E023703}">
                      <ahyp:hlinkClr xmlns:ahyp="http://schemas.microsoft.com/office/drawing/2018/hyperlinkcolor" val="tx"/>
                    </a:ext>
                  </a:extLst>
                </a:hlinkClick>
              </a:rPr>
              <a:t>town-signal.vercel.app</a:t>
            </a:r>
            <a:endParaRPr lang="en-US" sz="1200" dirty="0"/>
          </a:p>
        </p:txBody>
      </p:sp>
    </p:spTree>
  </p:cSld>
  <p:clrMapOvr>
    <a:masterClrMapping/>
  </p:clrMapOvr>
</p:sld>
</file>

<file path=ppt/theme/theme1.xml><?xml version="1.0" encoding="utf-8"?>
<a:theme xmlns:a="http://schemas.openxmlformats.org/drawingml/2006/main" name="TownSignal">
  <a:themeElements>
    <a:clrScheme name="TownSignal">
      <a:dk1>
        <a:srgbClr val="22303A"/>
      </a:dk1>
      <a:lt1>
        <a:srgbClr val="FFFFFF"/>
      </a:lt1>
      <a:dk2>
        <a:srgbClr val="1F3F5E"/>
      </a:dk2>
      <a:lt2>
        <a:srgbClr val="EEF4F7"/>
      </a:lt2>
      <a:accent1>
        <a:srgbClr val="2B5C8A"/>
      </a:accent1>
      <a:accent2>
        <a:srgbClr val="1F9D74"/>
      </a:accent2>
      <a:accent3>
        <a:srgbClr val="F08C2E"/>
      </a:accent3>
      <a:accent4>
        <a:srgbClr val="6B7688"/>
      </a:accent4>
      <a:accent5>
        <a:srgbClr val="9DBAF5"/>
      </a:accent5>
      <a:accent6>
        <a:srgbClr val="E5484D"/>
      </a:accent6>
      <a:hlink>
        <a:srgbClr val="2B5C8A"/>
      </a:hlink>
      <a:folHlink>
        <a:srgbClr val="1F3F5E"/>
      </a:folHlink>
    </a:clrScheme>
    <a:fontScheme name="TownSignal">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1465</Words>
  <Application>Microsoft Office PowerPoint</Application>
  <PresentationFormat>와이드스크린</PresentationFormat>
  <Paragraphs>247</Paragraphs>
  <Slides>13</Slides>
  <Notes>13</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13</vt:i4>
      </vt:variant>
    </vt:vector>
  </HeadingPairs>
  <TitlesOfParts>
    <vt:vector size="15" baseType="lpstr">
      <vt:lpstr>Arial</vt:lpstr>
      <vt:lpstr>TownSignal</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타운시그널 중간 발표</dc:title>
  <dc:subject>PptxGenJS Presentation</dc:subject>
  <dc:creator>홈즈시그널</dc:creator>
  <cp:lastModifiedBy>성진 이</cp:lastModifiedBy>
  <cp:revision>3</cp:revision>
  <dcterms:created xsi:type="dcterms:W3CDTF">2026-10-17T12:18:19Z</dcterms:created>
  <dcterms:modified xsi:type="dcterms:W3CDTF">2026-10-19T05:01:47Z</dcterms:modified>
</cp:coreProperties>
</file>